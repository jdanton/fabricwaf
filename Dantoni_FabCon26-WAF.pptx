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  <p:sldMasterId id="2147483684" r:id="rId5"/>
    <p:sldMasterId id="2147483724" r:id="rId6"/>
  </p:sldMasterIdLst>
  <p:sldIdLst>
    <p:sldId id="257" r:id="rId7"/>
    <p:sldId id="301" r:id="rId8"/>
    <p:sldId id="263" r:id="rId9"/>
    <p:sldId id="300" r:id="rId10"/>
    <p:sldId id="296" r:id="rId11"/>
    <p:sldId id="271" r:id="rId12"/>
    <p:sldId id="297" r:id="rId13"/>
    <p:sldId id="272" r:id="rId14"/>
    <p:sldId id="273" r:id="rId15"/>
    <p:sldId id="274" r:id="rId16"/>
    <p:sldId id="275" r:id="rId17"/>
    <p:sldId id="276" r:id="rId18"/>
    <p:sldId id="299" r:id="rId19"/>
    <p:sldId id="277" r:id="rId20"/>
    <p:sldId id="278" r:id="rId21"/>
    <p:sldId id="279" r:id="rId22"/>
    <p:sldId id="280" r:id="rId23"/>
    <p:sldId id="281" r:id="rId24"/>
    <p:sldId id="282" r:id="rId25"/>
    <p:sldId id="298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3" r:id="rId36"/>
    <p:sldId id="261" r:id="rId37"/>
    <p:sldId id="294" r:id="rId38"/>
    <p:sldId id="295" r:id="rId39"/>
    <p:sldId id="260" r:id="rId40"/>
    <p:sldId id="269" r:id="rId41"/>
    <p:sldId id="264" r:id="rId42"/>
    <p:sldId id="270" r:id="rId43"/>
    <p:sldId id="265" r:id="rId44"/>
    <p:sldId id="268" r:id="rId45"/>
  </p:sldIdLst>
  <p:sldSz cx="18288000" cy="10287000"/>
  <p:notesSz cx="6858000" cy="9144000"/>
  <p:embeddedFontLst>
    <p:embeddedFont>
      <p:font typeface="Montserrat" pitchFamily="2" charset="77"/>
      <p:regular r:id="rId46"/>
      <p:bold r:id="rId47"/>
      <p:italic r:id="rId48"/>
      <p:boldItalic r:id="rId49"/>
    </p:embeddedFont>
    <p:embeddedFont>
      <p:font typeface="Montserrat Bold" pitchFamily="2" charset="77"/>
      <p:regular r:id="rId50"/>
      <p:bold r:id="rId51"/>
    </p:embeddedFont>
    <p:embeddedFont>
      <p:font typeface="Segoe UI Semibold" panose="020B0702040204020203" pitchFamily="34" charset="0"/>
      <p:regular r:id="rId52"/>
      <p:bold r:id="rId53"/>
      <p:italic r:id="rId54"/>
      <p:boldItalic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ECDD"/>
    <a:srgbClr val="EBF3FB"/>
    <a:srgbClr val="1D6050"/>
    <a:srgbClr val="2AAC94"/>
    <a:srgbClr val="111135"/>
    <a:srgbClr val="12103A"/>
    <a:srgbClr val="130F40"/>
    <a:srgbClr val="140E41"/>
    <a:srgbClr val="001132"/>
    <a:srgbClr val="0019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06"/>
  </p:normalViewPr>
  <p:slideViewPr>
    <p:cSldViewPr snapToGrid="0">
      <p:cViewPr varScale="1">
        <p:scale>
          <a:sx n="69" d="100"/>
          <a:sy n="69" d="100"/>
        </p:scale>
        <p:origin x="256" y="5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font" Target="fonts/font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font" Target="fonts/font1.fntdata"/><Relationship Id="rId59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font" Target="fonts/font7.fntdata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4" Type="http://schemas.openxmlformats.org/officeDocument/2006/relationships/image" Target="../media/image3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svg"/><Relationship Id="rId1" Type="http://schemas.openxmlformats.org/officeDocument/2006/relationships/image" Target="../media/image44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svg"/><Relationship Id="rId1" Type="http://schemas.openxmlformats.org/officeDocument/2006/relationships/image" Target="../media/image44.svg"/><Relationship Id="rId4" Type="http://schemas.openxmlformats.org/officeDocument/2006/relationships/image" Target="../media/image5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4" Type="http://schemas.openxmlformats.org/officeDocument/2006/relationships/image" Target="../media/image3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svg"/><Relationship Id="rId1" Type="http://schemas.openxmlformats.org/officeDocument/2006/relationships/image" Target="../media/image44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svg"/><Relationship Id="rId1" Type="http://schemas.openxmlformats.org/officeDocument/2006/relationships/image" Target="../media/image44.svg"/><Relationship Id="rId4" Type="http://schemas.openxmlformats.org/officeDocument/2006/relationships/image" Target="../media/image5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FB2F83-FD24-4177-ADE6-15D5286FDA17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547315E-FB42-4F9A-A507-7752B2D683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Azure you segment by subscriptions and resource groups — in Fabric, the </a:t>
          </a:r>
          <a:r>
            <a:rPr lang="en-US" b="1"/>
            <a:t>capacity</a:t>
          </a:r>
          <a:r>
            <a:rPr lang="en-US"/>
            <a:t> is your primary unit of isolation</a:t>
          </a:r>
        </a:p>
      </dgm:t>
    </dgm:pt>
    <dgm:pt modelId="{0856CB32-06A9-4388-9AB5-87E33103F8C8}" type="parTrans" cxnId="{2EC38F75-7CC9-487A-B2A8-FC7D31A169C5}">
      <dgm:prSet/>
      <dgm:spPr/>
      <dgm:t>
        <a:bodyPr/>
        <a:lstStyle/>
        <a:p>
          <a:endParaRPr lang="en-US"/>
        </a:p>
      </dgm:t>
    </dgm:pt>
    <dgm:pt modelId="{AC9A24E9-E25F-4E8A-AF6E-95CDFEA23103}" type="sibTrans" cxnId="{2EC38F75-7CC9-487A-B2A8-FC7D31A169C5}">
      <dgm:prSet/>
      <dgm:spPr/>
      <dgm:t>
        <a:bodyPr/>
        <a:lstStyle/>
        <a:p>
          <a:endParaRPr lang="en-US"/>
        </a:p>
      </dgm:t>
    </dgm:pt>
    <dgm:pt modelId="{E16558A7-A44B-4D30-B229-189EC072CE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Capacities should be segmented by </a:t>
          </a:r>
          <a:r>
            <a:rPr lang="en-US" b="1" dirty="0"/>
            <a:t>business unit </a:t>
          </a:r>
          <a:r>
            <a:rPr lang="en-US" b="0" dirty="0"/>
            <a:t>(Sales/Finance),</a:t>
          </a:r>
          <a:r>
            <a:rPr lang="en-US" dirty="0"/>
            <a:t> </a:t>
          </a:r>
          <a:r>
            <a:rPr lang="en-US" b="1" dirty="0"/>
            <a:t>function </a:t>
          </a:r>
          <a:r>
            <a:rPr lang="en-US" b="0" dirty="0"/>
            <a:t>(Warehouse, Lakehouse, Real-Time),</a:t>
          </a:r>
          <a:r>
            <a:rPr lang="en-US" dirty="0"/>
            <a:t> and </a:t>
          </a:r>
          <a:r>
            <a:rPr lang="en-US" b="1" dirty="0"/>
            <a:t>environment</a:t>
          </a:r>
          <a:r>
            <a:rPr lang="en-US" dirty="0"/>
            <a:t> (Dev / Test / Prod)</a:t>
          </a:r>
        </a:p>
      </dgm:t>
    </dgm:pt>
    <dgm:pt modelId="{F54A58EB-4358-461A-A972-1536D36CCB37}" type="parTrans" cxnId="{9801BA61-0BC1-433F-BEA9-131A592897E3}">
      <dgm:prSet/>
      <dgm:spPr/>
      <dgm:t>
        <a:bodyPr/>
        <a:lstStyle/>
        <a:p>
          <a:endParaRPr lang="en-US"/>
        </a:p>
      </dgm:t>
    </dgm:pt>
    <dgm:pt modelId="{2388784B-E779-452E-97E9-3179B8CE0E29}" type="sibTrans" cxnId="{9801BA61-0BC1-433F-BEA9-131A592897E3}">
      <dgm:prSet/>
      <dgm:spPr/>
      <dgm:t>
        <a:bodyPr/>
        <a:lstStyle/>
        <a:p>
          <a:endParaRPr lang="en-US"/>
        </a:p>
      </dgm:t>
    </dgm:pt>
    <dgm:pt modelId="{6B1453C6-1512-42E5-A170-A17156A116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 topology: Sales-Analytics-Prod, Finance-ETL-Dev, Marketing-Reporting-Test</a:t>
          </a:r>
        </a:p>
      </dgm:t>
    </dgm:pt>
    <dgm:pt modelId="{0838363C-20F4-4503-A346-BA2FD4841833}" type="parTrans" cxnId="{BBA49025-39AA-47AB-9043-DE9F0C32F216}">
      <dgm:prSet/>
      <dgm:spPr/>
      <dgm:t>
        <a:bodyPr/>
        <a:lstStyle/>
        <a:p>
          <a:endParaRPr lang="en-US"/>
        </a:p>
      </dgm:t>
    </dgm:pt>
    <dgm:pt modelId="{3B4060A6-4692-48B6-9BFD-E1CB1B487720}" type="sibTrans" cxnId="{BBA49025-39AA-47AB-9043-DE9F0C32F216}">
      <dgm:prSet/>
      <dgm:spPr/>
      <dgm:t>
        <a:bodyPr/>
        <a:lstStyle/>
        <a:p>
          <a:endParaRPr lang="en-US"/>
        </a:p>
      </dgm:t>
    </dgm:pt>
    <dgm:pt modelId="{B8CA86DC-A943-4B57-8FA3-6C93BB74ADE3}" type="pres">
      <dgm:prSet presAssocID="{7FFB2F83-FD24-4177-ADE6-15D5286FDA17}" presName="root" presStyleCnt="0">
        <dgm:presLayoutVars>
          <dgm:dir/>
          <dgm:resizeHandles val="exact"/>
        </dgm:presLayoutVars>
      </dgm:prSet>
      <dgm:spPr/>
    </dgm:pt>
    <dgm:pt modelId="{B3F719B6-3207-493A-9720-AEC409DE9316}" type="pres">
      <dgm:prSet presAssocID="{4547315E-FB42-4F9A-A507-7752B2D6834A}" presName="compNode" presStyleCnt="0"/>
      <dgm:spPr/>
    </dgm:pt>
    <dgm:pt modelId="{8D57A086-8212-483D-B1DD-3B18938160A2}" type="pres">
      <dgm:prSet presAssocID="{4547315E-FB42-4F9A-A507-7752B2D6834A}" presName="bgRect" presStyleLbl="bgShp" presStyleIdx="0" presStyleCnt="3"/>
      <dgm:spPr/>
    </dgm:pt>
    <dgm:pt modelId="{8E1FAACA-516D-4FCF-B33C-4F4D9C858578}" type="pres">
      <dgm:prSet presAssocID="{4547315E-FB42-4F9A-A507-7752B2D6834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ABE7393-7BDA-4BD3-A41B-F5B7A862F6B4}" type="pres">
      <dgm:prSet presAssocID="{4547315E-FB42-4F9A-A507-7752B2D6834A}" presName="spaceRect" presStyleCnt="0"/>
      <dgm:spPr/>
    </dgm:pt>
    <dgm:pt modelId="{48C592F6-EF12-42AD-84EC-7B424351E6ED}" type="pres">
      <dgm:prSet presAssocID="{4547315E-FB42-4F9A-A507-7752B2D6834A}" presName="parTx" presStyleLbl="revTx" presStyleIdx="0" presStyleCnt="3">
        <dgm:presLayoutVars>
          <dgm:chMax val="0"/>
          <dgm:chPref val="0"/>
        </dgm:presLayoutVars>
      </dgm:prSet>
      <dgm:spPr/>
    </dgm:pt>
    <dgm:pt modelId="{AABB14A7-D794-4CCE-A72B-E1124BEF3570}" type="pres">
      <dgm:prSet presAssocID="{AC9A24E9-E25F-4E8A-AF6E-95CDFEA23103}" presName="sibTrans" presStyleCnt="0"/>
      <dgm:spPr/>
    </dgm:pt>
    <dgm:pt modelId="{3D37085A-CD11-41F4-A2E2-07B9FE0C14DC}" type="pres">
      <dgm:prSet presAssocID="{E16558A7-A44B-4D30-B229-189EC072CEE6}" presName="compNode" presStyleCnt="0"/>
      <dgm:spPr/>
    </dgm:pt>
    <dgm:pt modelId="{C9936A4E-6117-430E-BF64-3C9E57A01868}" type="pres">
      <dgm:prSet presAssocID="{E16558A7-A44B-4D30-B229-189EC072CEE6}" presName="bgRect" presStyleLbl="bgShp" presStyleIdx="1" presStyleCnt="3"/>
      <dgm:spPr/>
    </dgm:pt>
    <dgm:pt modelId="{776EF453-CDF5-40E9-9188-11BC6A405731}" type="pres">
      <dgm:prSet presAssocID="{E16558A7-A44B-4D30-B229-189EC072CEE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477F9A2-C2C6-454D-8067-466D93A4BEF1}" type="pres">
      <dgm:prSet presAssocID="{E16558A7-A44B-4D30-B229-189EC072CEE6}" presName="spaceRect" presStyleCnt="0"/>
      <dgm:spPr/>
    </dgm:pt>
    <dgm:pt modelId="{5AC75560-CB34-4893-8EAB-540BFACFD4C3}" type="pres">
      <dgm:prSet presAssocID="{E16558A7-A44B-4D30-B229-189EC072CEE6}" presName="parTx" presStyleLbl="revTx" presStyleIdx="1" presStyleCnt="3">
        <dgm:presLayoutVars>
          <dgm:chMax val="0"/>
          <dgm:chPref val="0"/>
        </dgm:presLayoutVars>
      </dgm:prSet>
      <dgm:spPr/>
    </dgm:pt>
    <dgm:pt modelId="{AE48894B-6CBF-429E-ABFE-29821284DC33}" type="pres">
      <dgm:prSet presAssocID="{2388784B-E779-452E-97E9-3179B8CE0E29}" presName="sibTrans" presStyleCnt="0"/>
      <dgm:spPr/>
    </dgm:pt>
    <dgm:pt modelId="{B62543B1-49E6-421C-B04C-6FA4023E15EB}" type="pres">
      <dgm:prSet presAssocID="{6B1453C6-1512-42E5-A170-A17156A1163F}" presName="compNode" presStyleCnt="0"/>
      <dgm:spPr/>
    </dgm:pt>
    <dgm:pt modelId="{702AED45-1197-4941-B0FF-DB329A07C512}" type="pres">
      <dgm:prSet presAssocID="{6B1453C6-1512-42E5-A170-A17156A1163F}" presName="bgRect" presStyleLbl="bgShp" presStyleIdx="2" presStyleCnt="3"/>
      <dgm:spPr/>
    </dgm:pt>
    <dgm:pt modelId="{3C309AE5-C3D2-445A-AB50-159796ACBA9F}" type="pres">
      <dgm:prSet presAssocID="{6B1453C6-1512-42E5-A170-A17156A1163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3FE15D3-9ACD-48B1-956A-2B606CB79DD0}" type="pres">
      <dgm:prSet presAssocID="{6B1453C6-1512-42E5-A170-A17156A1163F}" presName="spaceRect" presStyleCnt="0"/>
      <dgm:spPr/>
    </dgm:pt>
    <dgm:pt modelId="{9389F59B-8841-41DC-8431-382BC0082629}" type="pres">
      <dgm:prSet presAssocID="{6B1453C6-1512-42E5-A170-A17156A1163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B70BC1D-FBCB-43C7-80AC-9FB2BD0C2834}" type="presOf" srcId="{E16558A7-A44B-4D30-B229-189EC072CEE6}" destId="{5AC75560-CB34-4893-8EAB-540BFACFD4C3}" srcOrd="0" destOrd="0" presId="urn:microsoft.com/office/officeart/2018/2/layout/IconVerticalSolidList"/>
    <dgm:cxn modelId="{BBA49025-39AA-47AB-9043-DE9F0C32F216}" srcId="{7FFB2F83-FD24-4177-ADE6-15D5286FDA17}" destId="{6B1453C6-1512-42E5-A170-A17156A1163F}" srcOrd="2" destOrd="0" parTransId="{0838363C-20F4-4503-A346-BA2FD4841833}" sibTransId="{3B4060A6-4692-48B6-9BFD-E1CB1B487720}"/>
    <dgm:cxn modelId="{9E35513C-AE4D-4CBF-A2FD-1C6E2E8817FD}" type="presOf" srcId="{7FFB2F83-FD24-4177-ADE6-15D5286FDA17}" destId="{B8CA86DC-A943-4B57-8FA3-6C93BB74ADE3}" srcOrd="0" destOrd="0" presId="urn:microsoft.com/office/officeart/2018/2/layout/IconVerticalSolidList"/>
    <dgm:cxn modelId="{9801BA61-0BC1-433F-BEA9-131A592897E3}" srcId="{7FFB2F83-FD24-4177-ADE6-15D5286FDA17}" destId="{E16558A7-A44B-4D30-B229-189EC072CEE6}" srcOrd="1" destOrd="0" parTransId="{F54A58EB-4358-461A-A972-1536D36CCB37}" sibTransId="{2388784B-E779-452E-97E9-3179B8CE0E29}"/>
    <dgm:cxn modelId="{2EC38F75-7CC9-487A-B2A8-FC7D31A169C5}" srcId="{7FFB2F83-FD24-4177-ADE6-15D5286FDA17}" destId="{4547315E-FB42-4F9A-A507-7752B2D6834A}" srcOrd="0" destOrd="0" parTransId="{0856CB32-06A9-4388-9AB5-87E33103F8C8}" sibTransId="{AC9A24E9-E25F-4E8A-AF6E-95CDFEA23103}"/>
    <dgm:cxn modelId="{88A844A4-E13E-4024-86C5-016F2D92A9FA}" type="presOf" srcId="{4547315E-FB42-4F9A-A507-7752B2D6834A}" destId="{48C592F6-EF12-42AD-84EC-7B424351E6ED}" srcOrd="0" destOrd="0" presId="urn:microsoft.com/office/officeart/2018/2/layout/IconVerticalSolidList"/>
    <dgm:cxn modelId="{60688BBA-7C03-494D-A1CF-79A499133989}" type="presOf" srcId="{6B1453C6-1512-42E5-A170-A17156A1163F}" destId="{9389F59B-8841-41DC-8431-382BC0082629}" srcOrd="0" destOrd="0" presId="urn:microsoft.com/office/officeart/2018/2/layout/IconVerticalSolidList"/>
    <dgm:cxn modelId="{B96F745B-5DAF-4E68-8D47-655BB1551225}" type="presParOf" srcId="{B8CA86DC-A943-4B57-8FA3-6C93BB74ADE3}" destId="{B3F719B6-3207-493A-9720-AEC409DE9316}" srcOrd="0" destOrd="0" presId="urn:microsoft.com/office/officeart/2018/2/layout/IconVerticalSolidList"/>
    <dgm:cxn modelId="{51E89CF8-E8AC-4768-83ED-46B0500F37A6}" type="presParOf" srcId="{B3F719B6-3207-493A-9720-AEC409DE9316}" destId="{8D57A086-8212-483D-B1DD-3B18938160A2}" srcOrd="0" destOrd="0" presId="urn:microsoft.com/office/officeart/2018/2/layout/IconVerticalSolidList"/>
    <dgm:cxn modelId="{F6376519-40B4-4198-B125-BA0E05E87703}" type="presParOf" srcId="{B3F719B6-3207-493A-9720-AEC409DE9316}" destId="{8E1FAACA-516D-4FCF-B33C-4F4D9C858578}" srcOrd="1" destOrd="0" presId="urn:microsoft.com/office/officeart/2018/2/layout/IconVerticalSolidList"/>
    <dgm:cxn modelId="{18AC1B03-70D4-42A5-A44C-09B9F0D93762}" type="presParOf" srcId="{B3F719B6-3207-493A-9720-AEC409DE9316}" destId="{1ABE7393-7BDA-4BD3-A41B-F5B7A862F6B4}" srcOrd="2" destOrd="0" presId="urn:microsoft.com/office/officeart/2018/2/layout/IconVerticalSolidList"/>
    <dgm:cxn modelId="{29583399-B253-46EC-BB50-5B6E00AA0889}" type="presParOf" srcId="{B3F719B6-3207-493A-9720-AEC409DE9316}" destId="{48C592F6-EF12-42AD-84EC-7B424351E6ED}" srcOrd="3" destOrd="0" presId="urn:microsoft.com/office/officeart/2018/2/layout/IconVerticalSolidList"/>
    <dgm:cxn modelId="{437BFA79-3A03-4E39-B929-ACB22CAD554C}" type="presParOf" srcId="{B8CA86DC-A943-4B57-8FA3-6C93BB74ADE3}" destId="{AABB14A7-D794-4CCE-A72B-E1124BEF3570}" srcOrd="1" destOrd="0" presId="urn:microsoft.com/office/officeart/2018/2/layout/IconVerticalSolidList"/>
    <dgm:cxn modelId="{E2B719AC-97E7-4B4A-8709-94A4E4099E17}" type="presParOf" srcId="{B8CA86DC-A943-4B57-8FA3-6C93BB74ADE3}" destId="{3D37085A-CD11-41F4-A2E2-07B9FE0C14DC}" srcOrd="2" destOrd="0" presId="urn:microsoft.com/office/officeart/2018/2/layout/IconVerticalSolidList"/>
    <dgm:cxn modelId="{C167E490-595D-4040-81C5-314488173B18}" type="presParOf" srcId="{3D37085A-CD11-41F4-A2E2-07B9FE0C14DC}" destId="{C9936A4E-6117-430E-BF64-3C9E57A01868}" srcOrd="0" destOrd="0" presId="urn:microsoft.com/office/officeart/2018/2/layout/IconVerticalSolidList"/>
    <dgm:cxn modelId="{50B6E2CE-409D-4227-B467-6DD0E493ECF4}" type="presParOf" srcId="{3D37085A-CD11-41F4-A2E2-07B9FE0C14DC}" destId="{776EF453-CDF5-40E9-9188-11BC6A405731}" srcOrd="1" destOrd="0" presId="urn:microsoft.com/office/officeart/2018/2/layout/IconVerticalSolidList"/>
    <dgm:cxn modelId="{F5A1C49C-0380-4C04-BEB6-9582588FDCFF}" type="presParOf" srcId="{3D37085A-CD11-41F4-A2E2-07B9FE0C14DC}" destId="{8477F9A2-C2C6-454D-8067-466D93A4BEF1}" srcOrd="2" destOrd="0" presId="urn:microsoft.com/office/officeart/2018/2/layout/IconVerticalSolidList"/>
    <dgm:cxn modelId="{218732BC-E256-4978-BBC4-F93D244416F7}" type="presParOf" srcId="{3D37085A-CD11-41F4-A2E2-07B9FE0C14DC}" destId="{5AC75560-CB34-4893-8EAB-540BFACFD4C3}" srcOrd="3" destOrd="0" presId="urn:microsoft.com/office/officeart/2018/2/layout/IconVerticalSolidList"/>
    <dgm:cxn modelId="{B6FB9ECE-D787-4F8E-AC24-818F467D2AED}" type="presParOf" srcId="{B8CA86DC-A943-4B57-8FA3-6C93BB74ADE3}" destId="{AE48894B-6CBF-429E-ABFE-29821284DC33}" srcOrd="3" destOrd="0" presId="urn:microsoft.com/office/officeart/2018/2/layout/IconVerticalSolidList"/>
    <dgm:cxn modelId="{59462C5C-CF60-4D55-B73A-96B62A28DBC0}" type="presParOf" srcId="{B8CA86DC-A943-4B57-8FA3-6C93BB74ADE3}" destId="{B62543B1-49E6-421C-B04C-6FA4023E15EB}" srcOrd="4" destOrd="0" presId="urn:microsoft.com/office/officeart/2018/2/layout/IconVerticalSolidList"/>
    <dgm:cxn modelId="{4235F254-785B-47A9-9479-94FD5EB8F86A}" type="presParOf" srcId="{B62543B1-49E6-421C-B04C-6FA4023E15EB}" destId="{702AED45-1197-4941-B0FF-DB329A07C512}" srcOrd="0" destOrd="0" presId="urn:microsoft.com/office/officeart/2018/2/layout/IconVerticalSolidList"/>
    <dgm:cxn modelId="{78591853-915B-46DA-9C72-382BCE23D668}" type="presParOf" srcId="{B62543B1-49E6-421C-B04C-6FA4023E15EB}" destId="{3C309AE5-C3D2-445A-AB50-159796ACBA9F}" srcOrd="1" destOrd="0" presId="urn:microsoft.com/office/officeart/2018/2/layout/IconVerticalSolidList"/>
    <dgm:cxn modelId="{DE855865-A370-497E-9A96-3D8EB382E6CE}" type="presParOf" srcId="{B62543B1-49E6-421C-B04C-6FA4023E15EB}" destId="{83FE15D3-9ACD-48B1-956A-2B606CB79DD0}" srcOrd="2" destOrd="0" presId="urn:microsoft.com/office/officeart/2018/2/layout/IconVerticalSolidList"/>
    <dgm:cxn modelId="{58C3A707-FFB0-4064-BE51-47603227C9E0}" type="presParOf" srcId="{B62543B1-49E6-421C-B04C-6FA4023E15EB}" destId="{9389F59B-8841-41DC-8431-382BC008262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A0E8DC-D933-41AD-B8C9-58D60DF268B3}" type="doc">
      <dgm:prSet loTypeId="urn:microsoft.com/office/officeart/2016/7/layout/BasicProcessNew" loCatId="process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D031490-B9A5-458D-A353-BF9200408CF0}">
      <dgm:prSet/>
      <dgm:spPr/>
      <dgm:t>
        <a:bodyPr/>
        <a:lstStyle/>
        <a:p>
          <a:r>
            <a:rPr lang="en-US" dirty="0"/>
            <a:t>Establish a standard early: {BU}-{Function}-{Env}-{Region} (e.g., fin-</a:t>
          </a:r>
          <a:r>
            <a:rPr lang="en-US" dirty="0" err="1"/>
            <a:t>dw</a:t>
          </a:r>
          <a:r>
            <a:rPr lang="en-US" dirty="0"/>
            <a:t>-prod-</a:t>
          </a:r>
          <a:r>
            <a:rPr lang="en-US" dirty="0" err="1"/>
            <a:t>eus</a:t>
          </a:r>
          <a:r>
            <a:rPr lang="en-US" dirty="0"/>
            <a:t>)</a:t>
          </a:r>
        </a:p>
      </dgm:t>
    </dgm:pt>
    <dgm:pt modelId="{AC3D81FB-15D0-44D4-B8E1-45BAA89D4957}" type="parTrans" cxnId="{50A7654C-59FC-4687-B24A-D35148BF1F7F}">
      <dgm:prSet/>
      <dgm:spPr/>
      <dgm:t>
        <a:bodyPr/>
        <a:lstStyle/>
        <a:p>
          <a:endParaRPr lang="en-US"/>
        </a:p>
      </dgm:t>
    </dgm:pt>
    <dgm:pt modelId="{18689423-2E1A-43E6-AF1D-4F45408DA94D}" type="sibTrans" cxnId="{50A7654C-59FC-4687-B24A-D35148BF1F7F}">
      <dgm:prSet/>
      <dgm:spPr/>
      <dgm:t>
        <a:bodyPr/>
        <a:lstStyle/>
        <a:p>
          <a:endParaRPr lang="en-US"/>
        </a:p>
      </dgm:t>
    </dgm:pt>
    <dgm:pt modelId="{80157F65-BCEC-467D-A565-7F0198F853F3}">
      <dgm:prSet/>
      <dgm:spPr/>
      <dgm:t>
        <a:bodyPr/>
        <a:lstStyle/>
        <a:p>
          <a:r>
            <a:rPr lang="en-US" dirty="0"/>
            <a:t>Apply consistently across capacities, workspaces, </a:t>
          </a:r>
          <a:r>
            <a:rPr lang="en-US" dirty="0" err="1"/>
            <a:t>lakehouses</a:t>
          </a:r>
          <a:r>
            <a:rPr lang="en-US" dirty="0"/>
            <a:t>, warehouses, and pipelines</a:t>
          </a:r>
        </a:p>
      </dgm:t>
    </dgm:pt>
    <dgm:pt modelId="{BEC62D13-9832-4846-A898-9F6A65A2D06A}" type="parTrans" cxnId="{70DA8139-9798-4CA5-9721-286775CE83BF}">
      <dgm:prSet/>
      <dgm:spPr/>
      <dgm:t>
        <a:bodyPr/>
        <a:lstStyle/>
        <a:p>
          <a:endParaRPr lang="en-US"/>
        </a:p>
      </dgm:t>
    </dgm:pt>
    <dgm:pt modelId="{2973560A-C015-4403-BC60-054432B4CBBA}" type="sibTrans" cxnId="{70DA8139-9798-4CA5-9721-286775CE83BF}">
      <dgm:prSet/>
      <dgm:spPr/>
      <dgm:t>
        <a:bodyPr/>
        <a:lstStyle/>
        <a:p>
          <a:endParaRPr lang="en-US"/>
        </a:p>
      </dgm:t>
    </dgm:pt>
    <dgm:pt modelId="{A0E6C27A-66D6-4353-91CF-80418DE66A8F}">
      <dgm:prSet/>
      <dgm:spPr/>
      <dgm:t>
        <a:bodyPr/>
        <a:lstStyle/>
        <a:p>
          <a:r>
            <a:rPr lang="en-US" dirty="0"/>
            <a:t>Fabric has </a:t>
          </a:r>
          <a:r>
            <a:rPr lang="en-US" b="1" dirty="0"/>
            <a:t>no policy engine </a:t>
          </a:r>
          <a:r>
            <a:rPr lang="en-US" dirty="0"/>
            <a:t>to enforce naming — discipline and automation are your only tools</a:t>
          </a:r>
        </a:p>
      </dgm:t>
    </dgm:pt>
    <dgm:pt modelId="{0FED8707-F0B4-4424-B309-DB55818A5E97}" type="parTrans" cxnId="{CA1AA667-D737-4596-B5AC-39996C407DD8}">
      <dgm:prSet/>
      <dgm:spPr/>
      <dgm:t>
        <a:bodyPr/>
        <a:lstStyle/>
        <a:p>
          <a:endParaRPr lang="en-US"/>
        </a:p>
      </dgm:t>
    </dgm:pt>
    <dgm:pt modelId="{F20AC966-38B3-41C8-9C85-497481C39F60}" type="sibTrans" cxnId="{CA1AA667-D737-4596-B5AC-39996C407DD8}">
      <dgm:prSet/>
      <dgm:spPr/>
      <dgm:t>
        <a:bodyPr/>
        <a:lstStyle/>
        <a:p>
          <a:endParaRPr lang="en-US"/>
        </a:p>
      </dgm:t>
    </dgm:pt>
    <dgm:pt modelId="{624D4749-3ECC-C947-8234-CAF38306679D}" type="pres">
      <dgm:prSet presAssocID="{E4A0E8DC-D933-41AD-B8C9-58D60DF268B3}" presName="Name0" presStyleCnt="0">
        <dgm:presLayoutVars>
          <dgm:dir/>
          <dgm:resizeHandles val="exact"/>
        </dgm:presLayoutVars>
      </dgm:prSet>
      <dgm:spPr/>
    </dgm:pt>
    <dgm:pt modelId="{0DE5670A-DEA7-2E48-ADB5-E6462B9329A2}" type="pres">
      <dgm:prSet presAssocID="{5D031490-B9A5-458D-A353-BF9200408CF0}" presName="node" presStyleLbl="node1" presStyleIdx="0" presStyleCnt="5">
        <dgm:presLayoutVars>
          <dgm:bulletEnabled val="1"/>
        </dgm:presLayoutVars>
      </dgm:prSet>
      <dgm:spPr/>
    </dgm:pt>
    <dgm:pt modelId="{F0FD10C9-D186-7144-A704-91FAB5BD715B}" type="pres">
      <dgm:prSet presAssocID="{18689423-2E1A-43E6-AF1D-4F45408DA94D}" presName="sibTransSpacerBeforeConnector" presStyleCnt="0"/>
      <dgm:spPr/>
    </dgm:pt>
    <dgm:pt modelId="{F341ED89-82F9-724C-9BF6-17A4844D41FA}" type="pres">
      <dgm:prSet presAssocID="{18689423-2E1A-43E6-AF1D-4F45408DA94D}" presName="sibTrans" presStyleLbl="node1" presStyleIdx="1" presStyleCnt="5"/>
      <dgm:spPr/>
    </dgm:pt>
    <dgm:pt modelId="{8CB0C56D-272A-4F45-A183-D357DF551234}" type="pres">
      <dgm:prSet presAssocID="{18689423-2E1A-43E6-AF1D-4F45408DA94D}" presName="sibTransSpacerAfterConnector" presStyleCnt="0"/>
      <dgm:spPr/>
    </dgm:pt>
    <dgm:pt modelId="{AD4DC01D-6202-5F4F-B1E7-3CCCC7077957}" type="pres">
      <dgm:prSet presAssocID="{80157F65-BCEC-467D-A565-7F0198F853F3}" presName="node" presStyleLbl="node1" presStyleIdx="2" presStyleCnt="5">
        <dgm:presLayoutVars>
          <dgm:bulletEnabled val="1"/>
        </dgm:presLayoutVars>
      </dgm:prSet>
      <dgm:spPr/>
    </dgm:pt>
    <dgm:pt modelId="{DC0D8E41-9EC0-844C-9AC6-D5004910735E}" type="pres">
      <dgm:prSet presAssocID="{2973560A-C015-4403-BC60-054432B4CBBA}" presName="sibTransSpacerBeforeConnector" presStyleCnt="0"/>
      <dgm:spPr/>
    </dgm:pt>
    <dgm:pt modelId="{92713B86-D2D8-1341-9663-185A0DE4A59B}" type="pres">
      <dgm:prSet presAssocID="{2973560A-C015-4403-BC60-054432B4CBBA}" presName="sibTrans" presStyleLbl="node1" presStyleIdx="3" presStyleCnt="5"/>
      <dgm:spPr/>
    </dgm:pt>
    <dgm:pt modelId="{EEA39511-F895-CF49-AC42-BBB9A7C759DE}" type="pres">
      <dgm:prSet presAssocID="{2973560A-C015-4403-BC60-054432B4CBBA}" presName="sibTransSpacerAfterConnector" presStyleCnt="0"/>
      <dgm:spPr/>
    </dgm:pt>
    <dgm:pt modelId="{5EA8F335-A91C-D243-B6D2-3D25BB75F4F0}" type="pres">
      <dgm:prSet presAssocID="{A0E6C27A-66D6-4353-91CF-80418DE66A8F}" presName="node" presStyleLbl="node1" presStyleIdx="4" presStyleCnt="5">
        <dgm:presLayoutVars>
          <dgm:bulletEnabled val="1"/>
        </dgm:presLayoutVars>
      </dgm:prSet>
      <dgm:spPr/>
    </dgm:pt>
  </dgm:ptLst>
  <dgm:cxnLst>
    <dgm:cxn modelId="{FD357B11-F8B6-6948-88A5-154F904FD141}" type="presOf" srcId="{E4A0E8DC-D933-41AD-B8C9-58D60DF268B3}" destId="{624D4749-3ECC-C947-8234-CAF38306679D}" srcOrd="0" destOrd="0" presId="urn:microsoft.com/office/officeart/2016/7/layout/BasicProcessNew"/>
    <dgm:cxn modelId="{70DA8139-9798-4CA5-9721-286775CE83BF}" srcId="{E4A0E8DC-D933-41AD-B8C9-58D60DF268B3}" destId="{80157F65-BCEC-467D-A565-7F0198F853F3}" srcOrd="1" destOrd="0" parTransId="{BEC62D13-9832-4846-A898-9F6A65A2D06A}" sibTransId="{2973560A-C015-4403-BC60-054432B4CBBA}"/>
    <dgm:cxn modelId="{50A7654C-59FC-4687-B24A-D35148BF1F7F}" srcId="{E4A0E8DC-D933-41AD-B8C9-58D60DF268B3}" destId="{5D031490-B9A5-458D-A353-BF9200408CF0}" srcOrd="0" destOrd="0" parTransId="{AC3D81FB-15D0-44D4-B8E1-45BAA89D4957}" sibTransId="{18689423-2E1A-43E6-AF1D-4F45408DA94D}"/>
    <dgm:cxn modelId="{CA1AA667-D737-4596-B5AC-39996C407DD8}" srcId="{E4A0E8DC-D933-41AD-B8C9-58D60DF268B3}" destId="{A0E6C27A-66D6-4353-91CF-80418DE66A8F}" srcOrd="2" destOrd="0" parTransId="{0FED8707-F0B4-4424-B309-DB55818A5E97}" sibTransId="{F20AC966-38B3-41C8-9C85-497481C39F60}"/>
    <dgm:cxn modelId="{CF29709C-EC4E-FA4E-881E-2921D3396732}" type="presOf" srcId="{18689423-2E1A-43E6-AF1D-4F45408DA94D}" destId="{F341ED89-82F9-724C-9BF6-17A4844D41FA}" srcOrd="0" destOrd="0" presId="urn:microsoft.com/office/officeart/2016/7/layout/BasicProcessNew"/>
    <dgm:cxn modelId="{A8E60FBE-B2B1-EA4E-8B27-3894448A81BD}" type="presOf" srcId="{A0E6C27A-66D6-4353-91CF-80418DE66A8F}" destId="{5EA8F335-A91C-D243-B6D2-3D25BB75F4F0}" srcOrd="0" destOrd="0" presId="urn:microsoft.com/office/officeart/2016/7/layout/BasicProcessNew"/>
    <dgm:cxn modelId="{266EEFD1-3BB3-4B48-8546-C07C79B9954A}" type="presOf" srcId="{80157F65-BCEC-467D-A565-7F0198F853F3}" destId="{AD4DC01D-6202-5F4F-B1E7-3CCCC7077957}" srcOrd="0" destOrd="0" presId="urn:microsoft.com/office/officeart/2016/7/layout/BasicProcessNew"/>
    <dgm:cxn modelId="{5102A9E1-DD1B-5545-B993-79A9F4D5759F}" type="presOf" srcId="{5D031490-B9A5-458D-A353-BF9200408CF0}" destId="{0DE5670A-DEA7-2E48-ADB5-E6462B9329A2}" srcOrd="0" destOrd="0" presId="urn:microsoft.com/office/officeart/2016/7/layout/BasicProcessNew"/>
    <dgm:cxn modelId="{05E422F6-D975-3E48-8389-7CA3BD7C3791}" type="presOf" srcId="{2973560A-C015-4403-BC60-054432B4CBBA}" destId="{92713B86-D2D8-1341-9663-185A0DE4A59B}" srcOrd="0" destOrd="0" presId="urn:microsoft.com/office/officeart/2016/7/layout/BasicProcessNew"/>
    <dgm:cxn modelId="{237D4A39-E15F-A84F-8945-7FA3BE141578}" type="presParOf" srcId="{624D4749-3ECC-C947-8234-CAF38306679D}" destId="{0DE5670A-DEA7-2E48-ADB5-E6462B9329A2}" srcOrd="0" destOrd="0" presId="urn:microsoft.com/office/officeart/2016/7/layout/BasicProcessNew"/>
    <dgm:cxn modelId="{D5CB04D1-1062-6E46-B855-8C6835BAD70E}" type="presParOf" srcId="{624D4749-3ECC-C947-8234-CAF38306679D}" destId="{F0FD10C9-D186-7144-A704-91FAB5BD715B}" srcOrd="1" destOrd="0" presId="urn:microsoft.com/office/officeart/2016/7/layout/BasicProcessNew"/>
    <dgm:cxn modelId="{1F06A821-EBBE-8140-AFF0-9E482F8750E2}" type="presParOf" srcId="{624D4749-3ECC-C947-8234-CAF38306679D}" destId="{F341ED89-82F9-724C-9BF6-17A4844D41FA}" srcOrd="2" destOrd="0" presId="urn:microsoft.com/office/officeart/2016/7/layout/BasicProcessNew"/>
    <dgm:cxn modelId="{6DD98E9F-06F3-0D48-909E-ADA2109B9A4F}" type="presParOf" srcId="{624D4749-3ECC-C947-8234-CAF38306679D}" destId="{8CB0C56D-272A-4F45-A183-D357DF551234}" srcOrd="3" destOrd="0" presId="urn:microsoft.com/office/officeart/2016/7/layout/BasicProcessNew"/>
    <dgm:cxn modelId="{249EC586-FF25-4047-921C-07751CC7941A}" type="presParOf" srcId="{624D4749-3ECC-C947-8234-CAF38306679D}" destId="{AD4DC01D-6202-5F4F-B1E7-3CCCC7077957}" srcOrd="4" destOrd="0" presId="urn:microsoft.com/office/officeart/2016/7/layout/BasicProcessNew"/>
    <dgm:cxn modelId="{6AEE59CB-AE37-324B-99D6-9EB537795751}" type="presParOf" srcId="{624D4749-3ECC-C947-8234-CAF38306679D}" destId="{DC0D8E41-9EC0-844C-9AC6-D5004910735E}" srcOrd="5" destOrd="0" presId="urn:microsoft.com/office/officeart/2016/7/layout/BasicProcessNew"/>
    <dgm:cxn modelId="{E29C36A0-E9C6-794D-AF83-47325B3C5A8D}" type="presParOf" srcId="{624D4749-3ECC-C947-8234-CAF38306679D}" destId="{92713B86-D2D8-1341-9663-185A0DE4A59B}" srcOrd="6" destOrd="0" presId="urn:microsoft.com/office/officeart/2016/7/layout/BasicProcessNew"/>
    <dgm:cxn modelId="{6E30DD9E-4DD6-4449-82D1-4582CA9B70E9}" type="presParOf" srcId="{624D4749-3ECC-C947-8234-CAF38306679D}" destId="{EEA39511-F895-CF49-AC42-BBB9A7C759DE}" srcOrd="7" destOrd="0" presId="urn:microsoft.com/office/officeart/2016/7/layout/BasicProcessNew"/>
    <dgm:cxn modelId="{6D69394F-CFE0-0547-B539-1C8724EFA097}" type="presParOf" srcId="{624D4749-3ECC-C947-8234-CAF38306679D}" destId="{5EA8F335-A91C-D243-B6D2-3D25BB75F4F0}" srcOrd="8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AD4127-60EE-495A-A684-FC514AD27580}" type="doc">
      <dgm:prSet loTypeId="urn:microsoft.com/office/officeart/2016/7/layout/LinearBlockProcessNumbered" loCatId="process" qsTypeId="urn:microsoft.com/office/officeart/2005/8/quickstyle/simple2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E0EAACAE-65B0-406C-927A-AEBC71116CF0}">
      <dgm:prSet/>
      <dgm:spPr/>
      <dgm:t>
        <a:bodyPr/>
        <a:lstStyle/>
        <a:p>
          <a:r>
            <a:rPr lang="en-US" dirty="0"/>
            <a:t>Tag capacities and workspaces with: Owner, Cost Center, Environment, Data Classification</a:t>
          </a:r>
        </a:p>
      </dgm:t>
    </dgm:pt>
    <dgm:pt modelId="{C497D95B-A073-4B1D-8AB7-19E59B175759}" type="parTrans" cxnId="{EB88E32E-136C-4644-A6C7-8F81D101A292}">
      <dgm:prSet/>
      <dgm:spPr/>
      <dgm:t>
        <a:bodyPr/>
        <a:lstStyle/>
        <a:p>
          <a:endParaRPr lang="en-US"/>
        </a:p>
      </dgm:t>
    </dgm:pt>
    <dgm:pt modelId="{BAE1E672-F072-42AF-A630-55A6746391E5}" type="sibTrans" cxnId="{EB88E32E-136C-4644-A6C7-8F81D101A292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6B2C801A-1760-4F0F-98A6-DD54D44825FB}">
      <dgm:prSet/>
      <dgm:spPr/>
      <dgm:t>
        <a:bodyPr/>
        <a:lstStyle/>
        <a:p>
          <a:r>
            <a:rPr lang="en-US"/>
            <a:t>Use tags to drive automation (e.g., auto-pause Dev capacities after hours)</a:t>
          </a:r>
        </a:p>
      </dgm:t>
    </dgm:pt>
    <dgm:pt modelId="{691FF827-D428-4D42-B84E-135EDB7792F9}" type="parTrans" cxnId="{CFFC67D4-ACDC-49F5-9694-11045CD7C02B}">
      <dgm:prSet/>
      <dgm:spPr/>
      <dgm:t>
        <a:bodyPr/>
        <a:lstStyle/>
        <a:p>
          <a:endParaRPr lang="en-US"/>
        </a:p>
      </dgm:t>
    </dgm:pt>
    <dgm:pt modelId="{35530E4D-A69B-4586-8143-EDA023BD0205}" type="sibTrans" cxnId="{CFFC67D4-ACDC-49F5-9694-11045CD7C02B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8AD08717-7D2F-48FB-A337-DC82481C11FB}">
      <dgm:prSet/>
      <dgm:spPr/>
      <dgm:t>
        <a:bodyPr/>
        <a:lstStyle/>
        <a:p>
          <a:r>
            <a:rPr lang="en-US"/>
            <a:t>Challenge: tagging support in Fabric is limited compared to Azure Resource Manager — supplement with a CMDB or metadata catalog</a:t>
          </a:r>
        </a:p>
      </dgm:t>
    </dgm:pt>
    <dgm:pt modelId="{6050E7CF-94D6-4FA2-9773-F3E9EF2C527D}" type="parTrans" cxnId="{3EF4B69E-D6D7-4CA1-BE38-80E088C46A37}">
      <dgm:prSet/>
      <dgm:spPr/>
      <dgm:t>
        <a:bodyPr/>
        <a:lstStyle/>
        <a:p>
          <a:endParaRPr lang="en-US"/>
        </a:p>
      </dgm:t>
    </dgm:pt>
    <dgm:pt modelId="{EDA2D71C-032E-4991-9B9B-9F052B85F700}" type="sibTrans" cxnId="{3EF4B69E-D6D7-4CA1-BE38-80E088C46A37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4370E359-179B-B14A-B781-2A93CD964791}" type="pres">
      <dgm:prSet presAssocID="{E1AD4127-60EE-495A-A684-FC514AD27580}" presName="Name0" presStyleCnt="0">
        <dgm:presLayoutVars>
          <dgm:animLvl val="lvl"/>
          <dgm:resizeHandles val="exact"/>
        </dgm:presLayoutVars>
      </dgm:prSet>
      <dgm:spPr/>
    </dgm:pt>
    <dgm:pt modelId="{8AC6D6D7-78FB-4142-862B-7AE47BC653B5}" type="pres">
      <dgm:prSet presAssocID="{E0EAACAE-65B0-406C-927A-AEBC71116CF0}" presName="compositeNode" presStyleCnt="0">
        <dgm:presLayoutVars>
          <dgm:bulletEnabled val="1"/>
        </dgm:presLayoutVars>
      </dgm:prSet>
      <dgm:spPr/>
    </dgm:pt>
    <dgm:pt modelId="{7ACFB667-3948-224C-860C-DE8EB1924788}" type="pres">
      <dgm:prSet presAssocID="{E0EAACAE-65B0-406C-927A-AEBC71116CF0}" presName="bgRect" presStyleLbl="alignNode1" presStyleIdx="0" presStyleCnt="3"/>
      <dgm:spPr/>
    </dgm:pt>
    <dgm:pt modelId="{C13F467B-0706-DA49-A7D0-05603093B272}" type="pres">
      <dgm:prSet presAssocID="{BAE1E672-F072-42AF-A630-55A6746391E5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A0FF900E-339E-5640-B00C-2C963E718DEA}" type="pres">
      <dgm:prSet presAssocID="{E0EAACAE-65B0-406C-927A-AEBC71116CF0}" presName="nodeRect" presStyleLbl="alignNode1" presStyleIdx="0" presStyleCnt="3">
        <dgm:presLayoutVars>
          <dgm:bulletEnabled val="1"/>
        </dgm:presLayoutVars>
      </dgm:prSet>
      <dgm:spPr/>
    </dgm:pt>
    <dgm:pt modelId="{85E3D1ED-0A5F-944B-91B6-B2514DB30D57}" type="pres">
      <dgm:prSet presAssocID="{BAE1E672-F072-42AF-A630-55A6746391E5}" presName="sibTrans" presStyleCnt="0"/>
      <dgm:spPr/>
    </dgm:pt>
    <dgm:pt modelId="{076C4840-198A-9A45-BC23-3A989FE87011}" type="pres">
      <dgm:prSet presAssocID="{6B2C801A-1760-4F0F-98A6-DD54D44825FB}" presName="compositeNode" presStyleCnt="0">
        <dgm:presLayoutVars>
          <dgm:bulletEnabled val="1"/>
        </dgm:presLayoutVars>
      </dgm:prSet>
      <dgm:spPr/>
    </dgm:pt>
    <dgm:pt modelId="{AFACF110-4061-1148-99AD-8EC0A4AA4C73}" type="pres">
      <dgm:prSet presAssocID="{6B2C801A-1760-4F0F-98A6-DD54D44825FB}" presName="bgRect" presStyleLbl="alignNode1" presStyleIdx="1" presStyleCnt="3"/>
      <dgm:spPr/>
    </dgm:pt>
    <dgm:pt modelId="{62CEDCE1-1C12-2A42-89F4-27E3541C1641}" type="pres">
      <dgm:prSet presAssocID="{35530E4D-A69B-4586-8143-EDA023BD0205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FCC36B10-6E8B-DE40-A422-A210596B77C6}" type="pres">
      <dgm:prSet presAssocID="{6B2C801A-1760-4F0F-98A6-DD54D44825FB}" presName="nodeRect" presStyleLbl="alignNode1" presStyleIdx="1" presStyleCnt="3">
        <dgm:presLayoutVars>
          <dgm:bulletEnabled val="1"/>
        </dgm:presLayoutVars>
      </dgm:prSet>
      <dgm:spPr/>
    </dgm:pt>
    <dgm:pt modelId="{CC01460C-357F-E34F-A8C6-AF9A8665885D}" type="pres">
      <dgm:prSet presAssocID="{35530E4D-A69B-4586-8143-EDA023BD0205}" presName="sibTrans" presStyleCnt="0"/>
      <dgm:spPr/>
    </dgm:pt>
    <dgm:pt modelId="{FEB6810C-96D9-AF4B-B95E-3DA3336B5E38}" type="pres">
      <dgm:prSet presAssocID="{8AD08717-7D2F-48FB-A337-DC82481C11FB}" presName="compositeNode" presStyleCnt="0">
        <dgm:presLayoutVars>
          <dgm:bulletEnabled val="1"/>
        </dgm:presLayoutVars>
      </dgm:prSet>
      <dgm:spPr/>
    </dgm:pt>
    <dgm:pt modelId="{53AD60C8-4297-F14F-A1D1-57C9BFFBEF7A}" type="pres">
      <dgm:prSet presAssocID="{8AD08717-7D2F-48FB-A337-DC82481C11FB}" presName="bgRect" presStyleLbl="alignNode1" presStyleIdx="2" presStyleCnt="3"/>
      <dgm:spPr/>
    </dgm:pt>
    <dgm:pt modelId="{6D1BE343-E56B-AB45-BAEE-59A40B69021A}" type="pres">
      <dgm:prSet presAssocID="{EDA2D71C-032E-4991-9B9B-9F052B85F700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7C78D477-1CEC-EE49-830D-5A77877653D2}" type="pres">
      <dgm:prSet presAssocID="{8AD08717-7D2F-48FB-A337-DC82481C11FB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FAEB7626-FCD6-8044-8EB2-1A671ACE8118}" type="presOf" srcId="{E0EAACAE-65B0-406C-927A-AEBC71116CF0}" destId="{7ACFB667-3948-224C-860C-DE8EB1924788}" srcOrd="0" destOrd="0" presId="urn:microsoft.com/office/officeart/2016/7/layout/LinearBlockProcessNumbered"/>
    <dgm:cxn modelId="{EB88E32E-136C-4644-A6C7-8F81D101A292}" srcId="{E1AD4127-60EE-495A-A684-FC514AD27580}" destId="{E0EAACAE-65B0-406C-927A-AEBC71116CF0}" srcOrd="0" destOrd="0" parTransId="{C497D95B-A073-4B1D-8AB7-19E59B175759}" sibTransId="{BAE1E672-F072-42AF-A630-55A6746391E5}"/>
    <dgm:cxn modelId="{BA8F3262-582B-3943-A7A3-A2D1815CB3B8}" type="presOf" srcId="{E0EAACAE-65B0-406C-927A-AEBC71116CF0}" destId="{A0FF900E-339E-5640-B00C-2C963E718DEA}" srcOrd="1" destOrd="0" presId="urn:microsoft.com/office/officeart/2016/7/layout/LinearBlockProcessNumbered"/>
    <dgm:cxn modelId="{140B1C6E-D139-3041-848E-2725C74BA6C5}" type="presOf" srcId="{E1AD4127-60EE-495A-A684-FC514AD27580}" destId="{4370E359-179B-B14A-B781-2A93CD964791}" srcOrd="0" destOrd="0" presId="urn:microsoft.com/office/officeart/2016/7/layout/LinearBlockProcessNumbered"/>
    <dgm:cxn modelId="{89B07972-84F6-8A4C-8BA7-ADDAA19F5A8D}" type="presOf" srcId="{35530E4D-A69B-4586-8143-EDA023BD0205}" destId="{62CEDCE1-1C12-2A42-89F4-27E3541C1641}" srcOrd="0" destOrd="0" presId="urn:microsoft.com/office/officeart/2016/7/layout/LinearBlockProcessNumbered"/>
    <dgm:cxn modelId="{3AAE9E7A-11B1-A846-A3A9-8FF6F69B082D}" type="presOf" srcId="{EDA2D71C-032E-4991-9B9B-9F052B85F700}" destId="{6D1BE343-E56B-AB45-BAEE-59A40B69021A}" srcOrd="0" destOrd="0" presId="urn:microsoft.com/office/officeart/2016/7/layout/LinearBlockProcessNumbered"/>
    <dgm:cxn modelId="{3EF4B69E-D6D7-4CA1-BE38-80E088C46A37}" srcId="{E1AD4127-60EE-495A-A684-FC514AD27580}" destId="{8AD08717-7D2F-48FB-A337-DC82481C11FB}" srcOrd="2" destOrd="0" parTransId="{6050E7CF-94D6-4FA2-9773-F3E9EF2C527D}" sibTransId="{EDA2D71C-032E-4991-9B9B-9F052B85F700}"/>
    <dgm:cxn modelId="{DF59BDA1-3E06-C845-BA61-9BDF78D3B08D}" type="presOf" srcId="{BAE1E672-F072-42AF-A630-55A6746391E5}" destId="{C13F467B-0706-DA49-A7D0-05603093B272}" srcOrd="0" destOrd="0" presId="urn:microsoft.com/office/officeart/2016/7/layout/LinearBlockProcessNumbered"/>
    <dgm:cxn modelId="{B3AA1DCA-A3AA-F64D-BECC-C7521F616E6A}" type="presOf" srcId="{6B2C801A-1760-4F0F-98A6-DD54D44825FB}" destId="{AFACF110-4061-1148-99AD-8EC0A4AA4C73}" srcOrd="0" destOrd="0" presId="urn:microsoft.com/office/officeart/2016/7/layout/LinearBlockProcessNumbered"/>
    <dgm:cxn modelId="{CFFC67D4-ACDC-49F5-9694-11045CD7C02B}" srcId="{E1AD4127-60EE-495A-A684-FC514AD27580}" destId="{6B2C801A-1760-4F0F-98A6-DD54D44825FB}" srcOrd="1" destOrd="0" parTransId="{691FF827-D428-4D42-B84E-135EDB7792F9}" sibTransId="{35530E4D-A69B-4586-8143-EDA023BD0205}"/>
    <dgm:cxn modelId="{1BA551D9-DD49-2E4B-8052-310738A2A354}" type="presOf" srcId="{8AD08717-7D2F-48FB-A337-DC82481C11FB}" destId="{7C78D477-1CEC-EE49-830D-5A77877653D2}" srcOrd="1" destOrd="0" presId="urn:microsoft.com/office/officeart/2016/7/layout/LinearBlockProcessNumbered"/>
    <dgm:cxn modelId="{742D2EE2-C23B-0943-86DC-AC6EBFFF6E71}" type="presOf" srcId="{8AD08717-7D2F-48FB-A337-DC82481C11FB}" destId="{53AD60C8-4297-F14F-A1D1-57C9BFFBEF7A}" srcOrd="0" destOrd="0" presId="urn:microsoft.com/office/officeart/2016/7/layout/LinearBlockProcessNumbered"/>
    <dgm:cxn modelId="{FF03B7F3-D8BC-CD4D-B2A2-195732ECA75D}" type="presOf" srcId="{6B2C801A-1760-4F0F-98A6-DD54D44825FB}" destId="{FCC36B10-6E8B-DE40-A422-A210596B77C6}" srcOrd="1" destOrd="0" presId="urn:microsoft.com/office/officeart/2016/7/layout/LinearBlockProcessNumbered"/>
    <dgm:cxn modelId="{C869B9FA-EB79-FD43-8937-F24EDF9E7A4B}" type="presParOf" srcId="{4370E359-179B-B14A-B781-2A93CD964791}" destId="{8AC6D6D7-78FB-4142-862B-7AE47BC653B5}" srcOrd="0" destOrd="0" presId="urn:microsoft.com/office/officeart/2016/7/layout/LinearBlockProcessNumbered"/>
    <dgm:cxn modelId="{03EE3F84-20DB-0F4D-9712-2D549C7DF5A7}" type="presParOf" srcId="{8AC6D6D7-78FB-4142-862B-7AE47BC653B5}" destId="{7ACFB667-3948-224C-860C-DE8EB1924788}" srcOrd="0" destOrd="0" presId="urn:microsoft.com/office/officeart/2016/7/layout/LinearBlockProcessNumbered"/>
    <dgm:cxn modelId="{7D6DCB58-CBD1-7F47-9551-CED448696BD7}" type="presParOf" srcId="{8AC6D6D7-78FB-4142-862B-7AE47BC653B5}" destId="{C13F467B-0706-DA49-A7D0-05603093B272}" srcOrd="1" destOrd="0" presId="urn:microsoft.com/office/officeart/2016/7/layout/LinearBlockProcessNumbered"/>
    <dgm:cxn modelId="{2726C3CB-CD0C-5140-83FB-D5247078E7B5}" type="presParOf" srcId="{8AC6D6D7-78FB-4142-862B-7AE47BC653B5}" destId="{A0FF900E-339E-5640-B00C-2C963E718DEA}" srcOrd="2" destOrd="0" presId="urn:microsoft.com/office/officeart/2016/7/layout/LinearBlockProcessNumbered"/>
    <dgm:cxn modelId="{B49BAAD7-F000-F249-8E16-820A3B679D0A}" type="presParOf" srcId="{4370E359-179B-B14A-B781-2A93CD964791}" destId="{85E3D1ED-0A5F-944B-91B6-B2514DB30D57}" srcOrd="1" destOrd="0" presId="urn:microsoft.com/office/officeart/2016/7/layout/LinearBlockProcessNumbered"/>
    <dgm:cxn modelId="{680E5E73-8F2C-2048-9A2B-42C5F29D07F3}" type="presParOf" srcId="{4370E359-179B-B14A-B781-2A93CD964791}" destId="{076C4840-198A-9A45-BC23-3A989FE87011}" srcOrd="2" destOrd="0" presId="urn:microsoft.com/office/officeart/2016/7/layout/LinearBlockProcessNumbered"/>
    <dgm:cxn modelId="{D48A16A2-873E-E444-AB02-0CCF793A4D83}" type="presParOf" srcId="{076C4840-198A-9A45-BC23-3A989FE87011}" destId="{AFACF110-4061-1148-99AD-8EC0A4AA4C73}" srcOrd="0" destOrd="0" presId="urn:microsoft.com/office/officeart/2016/7/layout/LinearBlockProcessNumbered"/>
    <dgm:cxn modelId="{E13C485C-23F3-4946-AAB4-DDD036FE3E3F}" type="presParOf" srcId="{076C4840-198A-9A45-BC23-3A989FE87011}" destId="{62CEDCE1-1C12-2A42-89F4-27E3541C1641}" srcOrd="1" destOrd="0" presId="urn:microsoft.com/office/officeart/2016/7/layout/LinearBlockProcessNumbered"/>
    <dgm:cxn modelId="{178E0369-A8C2-A544-8F81-8E432721137A}" type="presParOf" srcId="{076C4840-198A-9A45-BC23-3A989FE87011}" destId="{FCC36B10-6E8B-DE40-A422-A210596B77C6}" srcOrd="2" destOrd="0" presId="urn:microsoft.com/office/officeart/2016/7/layout/LinearBlockProcessNumbered"/>
    <dgm:cxn modelId="{774FA652-1FFC-4A47-8198-FDB7AFF49943}" type="presParOf" srcId="{4370E359-179B-B14A-B781-2A93CD964791}" destId="{CC01460C-357F-E34F-A8C6-AF9A8665885D}" srcOrd="3" destOrd="0" presId="urn:microsoft.com/office/officeart/2016/7/layout/LinearBlockProcessNumbered"/>
    <dgm:cxn modelId="{53EB159B-5587-924C-900D-80962047ED54}" type="presParOf" srcId="{4370E359-179B-B14A-B781-2A93CD964791}" destId="{FEB6810C-96D9-AF4B-B95E-3DA3336B5E38}" srcOrd="4" destOrd="0" presId="urn:microsoft.com/office/officeart/2016/7/layout/LinearBlockProcessNumbered"/>
    <dgm:cxn modelId="{28D7ED81-4B35-E94A-AF2E-D9CD4ED17AA0}" type="presParOf" srcId="{FEB6810C-96D9-AF4B-B95E-3DA3336B5E38}" destId="{53AD60C8-4297-F14F-A1D1-57C9BFFBEF7A}" srcOrd="0" destOrd="0" presId="urn:microsoft.com/office/officeart/2016/7/layout/LinearBlockProcessNumbered"/>
    <dgm:cxn modelId="{74F5F824-0665-574A-BB0C-CB3B6553F7E8}" type="presParOf" srcId="{FEB6810C-96D9-AF4B-B95E-3DA3336B5E38}" destId="{6D1BE343-E56B-AB45-BAEE-59A40B69021A}" srcOrd="1" destOrd="0" presId="urn:microsoft.com/office/officeart/2016/7/layout/LinearBlockProcessNumbered"/>
    <dgm:cxn modelId="{64E29107-D696-124E-8618-ED33AC3EEBC5}" type="presParOf" srcId="{FEB6810C-96D9-AF4B-B95E-3DA3336B5E38}" destId="{7C78D477-1CEC-EE49-830D-5A77877653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D90CB8-A682-DA45-B95E-C689A960E483}" type="doc">
      <dgm:prSet loTypeId="urn:microsoft.com/office/officeart/2008/layout/LinedList" loCatId="icon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5CD8F4C9-04E9-C849-BDD9-5C71C4AA0802}">
      <dgm:prSet/>
      <dgm:spPr/>
      <dgm:t>
        <a:bodyPr/>
        <a:lstStyle/>
        <a:p>
          <a:r>
            <a:rPr lang="en-US"/>
            <a:t>Use Git integration as your single source of truth</a:t>
          </a:r>
        </a:p>
      </dgm:t>
    </dgm:pt>
    <dgm:pt modelId="{ADC8AEA2-1204-5C4D-9FCB-B28204C4DF7D}" type="parTrans" cxnId="{D6445C01-752A-764D-96A6-E6A7C8B45AF5}">
      <dgm:prSet/>
      <dgm:spPr/>
      <dgm:t>
        <a:bodyPr/>
        <a:lstStyle/>
        <a:p>
          <a:endParaRPr lang="en-US"/>
        </a:p>
      </dgm:t>
    </dgm:pt>
    <dgm:pt modelId="{5849E3E8-2A1C-AD4F-A85F-6EA2BB7DF4CE}" type="sibTrans" cxnId="{D6445C01-752A-764D-96A6-E6A7C8B45AF5}">
      <dgm:prSet/>
      <dgm:spPr/>
      <dgm:t>
        <a:bodyPr/>
        <a:lstStyle/>
        <a:p>
          <a:endParaRPr lang="en-US"/>
        </a:p>
      </dgm:t>
    </dgm:pt>
    <dgm:pt modelId="{9478BC40-F08C-6049-9E3E-838044F22904}">
      <dgm:prSet/>
      <dgm:spPr/>
      <dgm:t>
        <a:bodyPr/>
        <a:lstStyle/>
        <a:p>
          <a:r>
            <a:rPr lang="en-US"/>
            <a:t>Deploy through Fabric deployment pipelines, not manual promotion</a:t>
          </a:r>
        </a:p>
      </dgm:t>
    </dgm:pt>
    <dgm:pt modelId="{D8E5D3EA-5D23-9F4A-907B-109E9197B482}" type="parTrans" cxnId="{D2C18F04-3032-1942-B345-3AFB22E6C4AE}">
      <dgm:prSet/>
      <dgm:spPr/>
      <dgm:t>
        <a:bodyPr/>
        <a:lstStyle/>
        <a:p>
          <a:endParaRPr lang="en-US"/>
        </a:p>
      </dgm:t>
    </dgm:pt>
    <dgm:pt modelId="{9167B64D-C2E3-0C41-A515-B23D5A03B535}" type="sibTrans" cxnId="{D2C18F04-3032-1942-B345-3AFB22E6C4AE}">
      <dgm:prSet/>
      <dgm:spPr/>
      <dgm:t>
        <a:bodyPr/>
        <a:lstStyle/>
        <a:p>
          <a:endParaRPr lang="en-US"/>
        </a:p>
      </dgm:t>
    </dgm:pt>
    <dgm:pt modelId="{1E9DDFA3-AAA0-DE48-B5B3-47064864E0E1}">
      <dgm:prSet/>
      <dgm:spPr/>
      <dgm:t>
        <a:bodyPr/>
        <a:lstStyle/>
        <a:p>
          <a:r>
            <a:rPr lang="en-US"/>
            <a:t>Parameterize everything that changes between environments </a:t>
          </a:r>
        </a:p>
      </dgm:t>
    </dgm:pt>
    <dgm:pt modelId="{5BAEB4DD-610A-D942-A33A-6F61DC95A9D5}" type="parTrans" cxnId="{98A3C8A2-8D2B-FD40-8306-D5DAB4921F4C}">
      <dgm:prSet/>
      <dgm:spPr/>
      <dgm:t>
        <a:bodyPr/>
        <a:lstStyle/>
        <a:p>
          <a:endParaRPr lang="en-US"/>
        </a:p>
      </dgm:t>
    </dgm:pt>
    <dgm:pt modelId="{EAA5C90A-78D5-2C42-8FE5-D27D4CF7681C}" type="sibTrans" cxnId="{98A3C8A2-8D2B-FD40-8306-D5DAB4921F4C}">
      <dgm:prSet/>
      <dgm:spPr/>
      <dgm:t>
        <a:bodyPr/>
        <a:lstStyle/>
        <a:p>
          <a:endParaRPr lang="en-US"/>
        </a:p>
      </dgm:t>
    </dgm:pt>
    <dgm:pt modelId="{99304900-D560-6B4C-8A35-C858045C3CB1}">
      <dgm:prSet/>
      <dgm:spPr/>
      <dgm:t>
        <a:bodyPr/>
        <a:lstStyle/>
        <a:p>
          <a:r>
            <a:rPr lang="en-US"/>
            <a:t>Automate with the Fabric REST APIs in your CI/CD pipeline </a:t>
          </a:r>
        </a:p>
      </dgm:t>
    </dgm:pt>
    <dgm:pt modelId="{602CC8E5-71CD-8042-9702-E736441E5136}" type="parTrans" cxnId="{4C7098DA-E0A7-2049-A9B2-1EBE0A2FBE98}">
      <dgm:prSet/>
      <dgm:spPr/>
      <dgm:t>
        <a:bodyPr/>
        <a:lstStyle/>
        <a:p>
          <a:endParaRPr lang="en-US"/>
        </a:p>
      </dgm:t>
    </dgm:pt>
    <dgm:pt modelId="{9673B10A-6D28-0646-B32A-C6DDFB959764}" type="sibTrans" cxnId="{4C7098DA-E0A7-2049-A9B2-1EBE0A2FBE98}">
      <dgm:prSet/>
      <dgm:spPr/>
      <dgm:t>
        <a:bodyPr/>
        <a:lstStyle/>
        <a:p>
          <a:endParaRPr lang="en-US"/>
        </a:p>
      </dgm:t>
    </dgm:pt>
    <dgm:pt modelId="{F469ACEF-FD58-484B-8B1E-887BB75F4895}" type="pres">
      <dgm:prSet presAssocID="{7DD90CB8-A682-DA45-B95E-C689A960E483}" presName="vert0" presStyleCnt="0">
        <dgm:presLayoutVars>
          <dgm:dir/>
          <dgm:animOne val="branch"/>
          <dgm:animLvl val="lvl"/>
        </dgm:presLayoutVars>
      </dgm:prSet>
      <dgm:spPr/>
    </dgm:pt>
    <dgm:pt modelId="{B1E09BF1-E799-6D44-9954-E80457657C45}" type="pres">
      <dgm:prSet presAssocID="{5CD8F4C9-04E9-C849-BDD9-5C71C4AA0802}" presName="thickLine" presStyleLbl="alignNode1" presStyleIdx="0" presStyleCnt="4"/>
      <dgm:spPr/>
    </dgm:pt>
    <dgm:pt modelId="{CDCB9878-7EE4-5144-A87C-6D0CB8D6936D}" type="pres">
      <dgm:prSet presAssocID="{5CD8F4C9-04E9-C849-BDD9-5C71C4AA0802}" presName="horz1" presStyleCnt="0"/>
      <dgm:spPr/>
    </dgm:pt>
    <dgm:pt modelId="{CE302E19-E1F2-D847-A8D5-30DC05C683E9}" type="pres">
      <dgm:prSet presAssocID="{5CD8F4C9-04E9-C849-BDD9-5C71C4AA0802}" presName="tx1" presStyleLbl="revTx" presStyleIdx="0" presStyleCnt="4"/>
      <dgm:spPr/>
    </dgm:pt>
    <dgm:pt modelId="{3D7957EB-3335-9749-9BD1-E22865258AD5}" type="pres">
      <dgm:prSet presAssocID="{5CD8F4C9-04E9-C849-BDD9-5C71C4AA0802}" presName="vert1" presStyleCnt="0"/>
      <dgm:spPr/>
    </dgm:pt>
    <dgm:pt modelId="{4883BD48-6387-4948-A049-B88A0AB22BFF}" type="pres">
      <dgm:prSet presAssocID="{9478BC40-F08C-6049-9E3E-838044F22904}" presName="thickLine" presStyleLbl="alignNode1" presStyleIdx="1" presStyleCnt="4"/>
      <dgm:spPr/>
    </dgm:pt>
    <dgm:pt modelId="{D1B27AA3-0436-7E44-AE9F-F8A8CA7F9AD3}" type="pres">
      <dgm:prSet presAssocID="{9478BC40-F08C-6049-9E3E-838044F22904}" presName="horz1" presStyleCnt="0"/>
      <dgm:spPr/>
    </dgm:pt>
    <dgm:pt modelId="{D3734C65-CFDC-2C4D-A33E-335822D8324F}" type="pres">
      <dgm:prSet presAssocID="{9478BC40-F08C-6049-9E3E-838044F22904}" presName="tx1" presStyleLbl="revTx" presStyleIdx="1" presStyleCnt="4"/>
      <dgm:spPr/>
    </dgm:pt>
    <dgm:pt modelId="{844F807A-99ED-A848-8FE6-E39B6C31380F}" type="pres">
      <dgm:prSet presAssocID="{9478BC40-F08C-6049-9E3E-838044F22904}" presName="vert1" presStyleCnt="0"/>
      <dgm:spPr/>
    </dgm:pt>
    <dgm:pt modelId="{F03596EC-7E28-4A43-8313-423804F3EC30}" type="pres">
      <dgm:prSet presAssocID="{1E9DDFA3-AAA0-DE48-B5B3-47064864E0E1}" presName="thickLine" presStyleLbl="alignNode1" presStyleIdx="2" presStyleCnt="4"/>
      <dgm:spPr/>
    </dgm:pt>
    <dgm:pt modelId="{EBD8B413-7B7B-E84A-B0C9-B80AF5824F2B}" type="pres">
      <dgm:prSet presAssocID="{1E9DDFA3-AAA0-DE48-B5B3-47064864E0E1}" presName="horz1" presStyleCnt="0"/>
      <dgm:spPr/>
    </dgm:pt>
    <dgm:pt modelId="{2B2C8821-7340-3B4D-8548-B328C85B1A0C}" type="pres">
      <dgm:prSet presAssocID="{1E9DDFA3-AAA0-DE48-B5B3-47064864E0E1}" presName="tx1" presStyleLbl="revTx" presStyleIdx="2" presStyleCnt="4"/>
      <dgm:spPr/>
    </dgm:pt>
    <dgm:pt modelId="{D7710AD8-0967-9648-B7F4-5C0C9B22F6FE}" type="pres">
      <dgm:prSet presAssocID="{1E9DDFA3-AAA0-DE48-B5B3-47064864E0E1}" presName="vert1" presStyleCnt="0"/>
      <dgm:spPr/>
    </dgm:pt>
    <dgm:pt modelId="{52108BEF-1078-FB4D-AB97-6475F628090D}" type="pres">
      <dgm:prSet presAssocID="{99304900-D560-6B4C-8A35-C858045C3CB1}" presName="thickLine" presStyleLbl="alignNode1" presStyleIdx="3" presStyleCnt="4"/>
      <dgm:spPr/>
    </dgm:pt>
    <dgm:pt modelId="{2CBB1CE1-1396-2440-8C24-C71EE1FF7D01}" type="pres">
      <dgm:prSet presAssocID="{99304900-D560-6B4C-8A35-C858045C3CB1}" presName="horz1" presStyleCnt="0"/>
      <dgm:spPr/>
    </dgm:pt>
    <dgm:pt modelId="{B29A3382-B908-5244-A994-C88B24E0367C}" type="pres">
      <dgm:prSet presAssocID="{99304900-D560-6B4C-8A35-C858045C3CB1}" presName="tx1" presStyleLbl="revTx" presStyleIdx="3" presStyleCnt="4"/>
      <dgm:spPr/>
    </dgm:pt>
    <dgm:pt modelId="{2B3D9336-E87F-3947-941D-0F318CB58E65}" type="pres">
      <dgm:prSet presAssocID="{99304900-D560-6B4C-8A35-C858045C3CB1}" presName="vert1" presStyleCnt="0"/>
      <dgm:spPr/>
    </dgm:pt>
  </dgm:ptLst>
  <dgm:cxnLst>
    <dgm:cxn modelId="{D6445C01-752A-764D-96A6-E6A7C8B45AF5}" srcId="{7DD90CB8-A682-DA45-B95E-C689A960E483}" destId="{5CD8F4C9-04E9-C849-BDD9-5C71C4AA0802}" srcOrd="0" destOrd="0" parTransId="{ADC8AEA2-1204-5C4D-9FCB-B28204C4DF7D}" sibTransId="{5849E3E8-2A1C-AD4F-A85F-6EA2BB7DF4CE}"/>
    <dgm:cxn modelId="{D2C18F04-3032-1942-B345-3AFB22E6C4AE}" srcId="{7DD90CB8-A682-DA45-B95E-C689A960E483}" destId="{9478BC40-F08C-6049-9E3E-838044F22904}" srcOrd="1" destOrd="0" parTransId="{D8E5D3EA-5D23-9F4A-907B-109E9197B482}" sibTransId="{9167B64D-C2E3-0C41-A515-B23D5A03B535}"/>
    <dgm:cxn modelId="{A2CF6C12-4554-AC49-A77E-07C78C99A25E}" type="presOf" srcId="{1E9DDFA3-AAA0-DE48-B5B3-47064864E0E1}" destId="{2B2C8821-7340-3B4D-8548-B328C85B1A0C}" srcOrd="0" destOrd="0" presId="urn:microsoft.com/office/officeart/2008/layout/LinedList"/>
    <dgm:cxn modelId="{9C6C719D-FA9E-D34A-952E-9AA807696A7D}" type="presOf" srcId="{9478BC40-F08C-6049-9E3E-838044F22904}" destId="{D3734C65-CFDC-2C4D-A33E-335822D8324F}" srcOrd="0" destOrd="0" presId="urn:microsoft.com/office/officeart/2008/layout/LinedList"/>
    <dgm:cxn modelId="{98A3C8A2-8D2B-FD40-8306-D5DAB4921F4C}" srcId="{7DD90CB8-A682-DA45-B95E-C689A960E483}" destId="{1E9DDFA3-AAA0-DE48-B5B3-47064864E0E1}" srcOrd="2" destOrd="0" parTransId="{5BAEB4DD-610A-D942-A33A-6F61DC95A9D5}" sibTransId="{EAA5C90A-78D5-2C42-8FE5-D27D4CF7681C}"/>
    <dgm:cxn modelId="{4E6326B8-943E-204B-97E3-66A494C89A46}" type="presOf" srcId="{7DD90CB8-A682-DA45-B95E-C689A960E483}" destId="{F469ACEF-FD58-484B-8B1E-887BB75F4895}" srcOrd="0" destOrd="0" presId="urn:microsoft.com/office/officeart/2008/layout/LinedList"/>
    <dgm:cxn modelId="{06A288CC-7544-D74C-B377-A09A454A4266}" type="presOf" srcId="{5CD8F4C9-04E9-C849-BDD9-5C71C4AA0802}" destId="{CE302E19-E1F2-D847-A8D5-30DC05C683E9}" srcOrd="0" destOrd="0" presId="urn:microsoft.com/office/officeart/2008/layout/LinedList"/>
    <dgm:cxn modelId="{4C7098DA-E0A7-2049-A9B2-1EBE0A2FBE98}" srcId="{7DD90CB8-A682-DA45-B95E-C689A960E483}" destId="{99304900-D560-6B4C-8A35-C858045C3CB1}" srcOrd="3" destOrd="0" parTransId="{602CC8E5-71CD-8042-9702-E736441E5136}" sibTransId="{9673B10A-6D28-0646-B32A-C6DDFB959764}"/>
    <dgm:cxn modelId="{05BDE1E7-D456-154A-A507-9186C1AC8142}" type="presOf" srcId="{99304900-D560-6B4C-8A35-C858045C3CB1}" destId="{B29A3382-B908-5244-A994-C88B24E0367C}" srcOrd="0" destOrd="0" presId="urn:microsoft.com/office/officeart/2008/layout/LinedList"/>
    <dgm:cxn modelId="{3F5EFFCA-EBE5-7844-B59E-D9895C476C6E}" type="presParOf" srcId="{F469ACEF-FD58-484B-8B1E-887BB75F4895}" destId="{B1E09BF1-E799-6D44-9954-E80457657C45}" srcOrd="0" destOrd="0" presId="urn:microsoft.com/office/officeart/2008/layout/LinedList"/>
    <dgm:cxn modelId="{3CF2CBA1-A3FF-564D-AAA4-59E0B50A2E47}" type="presParOf" srcId="{F469ACEF-FD58-484B-8B1E-887BB75F4895}" destId="{CDCB9878-7EE4-5144-A87C-6D0CB8D6936D}" srcOrd="1" destOrd="0" presId="urn:microsoft.com/office/officeart/2008/layout/LinedList"/>
    <dgm:cxn modelId="{B8465CDD-5CE1-C54C-BD90-391348BB65CA}" type="presParOf" srcId="{CDCB9878-7EE4-5144-A87C-6D0CB8D6936D}" destId="{CE302E19-E1F2-D847-A8D5-30DC05C683E9}" srcOrd="0" destOrd="0" presId="urn:microsoft.com/office/officeart/2008/layout/LinedList"/>
    <dgm:cxn modelId="{820A4F91-0C2A-444E-9D5C-DCD1439B2FC6}" type="presParOf" srcId="{CDCB9878-7EE4-5144-A87C-6D0CB8D6936D}" destId="{3D7957EB-3335-9749-9BD1-E22865258AD5}" srcOrd="1" destOrd="0" presId="urn:microsoft.com/office/officeart/2008/layout/LinedList"/>
    <dgm:cxn modelId="{F53BA285-B64F-794E-8C12-D967FED663C2}" type="presParOf" srcId="{F469ACEF-FD58-484B-8B1E-887BB75F4895}" destId="{4883BD48-6387-4948-A049-B88A0AB22BFF}" srcOrd="2" destOrd="0" presId="urn:microsoft.com/office/officeart/2008/layout/LinedList"/>
    <dgm:cxn modelId="{631E9079-A9E2-CB4A-ABB8-A5065B64369E}" type="presParOf" srcId="{F469ACEF-FD58-484B-8B1E-887BB75F4895}" destId="{D1B27AA3-0436-7E44-AE9F-F8A8CA7F9AD3}" srcOrd="3" destOrd="0" presId="urn:microsoft.com/office/officeart/2008/layout/LinedList"/>
    <dgm:cxn modelId="{2A652480-F847-6149-B988-A953BFEC2F40}" type="presParOf" srcId="{D1B27AA3-0436-7E44-AE9F-F8A8CA7F9AD3}" destId="{D3734C65-CFDC-2C4D-A33E-335822D8324F}" srcOrd="0" destOrd="0" presId="urn:microsoft.com/office/officeart/2008/layout/LinedList"/>
    <dgm:cxn modelId="{05DCCC54-03F7-1147-8CA2-3595268AAF0D}" type="presParOf" srcId="{D1B27AA3-0436-7E44-AE9F-F8A8CA7F9AD3}" destId="{844F807A-99ED-A848-8FE6-E39B6C31380F}" srcOrd="1" destOrd="0" presId="urn:microsoft.com/office/officeart/2008/layout/LinedList"/>
    <dgm:cxn modelId="{ABD75C2B-2BC5-E74E-A3C7-C7A7B7323E12}" type="presParOf" srcId="{F469ACEF-FD58-484B-8B1E-887BB75F4895}" destId="{F03596EC-7E28-4A43-8313-423804F3EC30}" srcOrd="4" destOrd="0" presId="urn:microsoft.com/office/officeart/2008/layout/LinedList"/>
    <dgm:cxn modelId="{9C8CF015-156E-FD47-B026-9BE0F014343A}" type="presParOf" srcId="{F469ACEF-FD58-484B-8B1E-887BB75F4895}" destId="{EBD8B413-7B7B-E84A-B0C9-B80AF5824F2B}" srcOrd="5" destOrd="0" presId="urn:microsoft.com/office/officeart/2008/layout/LinedList"/>
    <dgm:cxn modelId="{E5445D28-59EB-9147-B490-5DCCE6500F1D}" type="presParOf" srcId="{EBD8B413-7B7B-E84A-B0C9-B80AF5824F2B}" destId="{2B2C8821-7340-3B4D-8548-B328C85B1A0C}" srcOrd="0" destOrd="0" presId="urn:microsoft.com/office/officeart/2008/layout/LinedList"/>
    <dgm:cxn modelId="{EBDD7BF0-4CF2-3240-8EE3-4713FA572C94}" type="presParOf" srcId="{EBD8B413-7B7B-E84A-B0C9-B80AF5824F2B}" destId="{D7710AD8-0967-9648-B7F4-5C0C9B22F6FE}" srcOrd="1" destOrd="0" presId="urn:microsoft.com/office/officeart/2008/layout/LinedList"/>
    <dgm:cxn modelId="{E4F23227-1278-1846-8433-1B04E12C3E1E}" type="presParOf" srcId="{F469ACEF-FD58-484B-8B1E-887BB75F4895}" destId="{52108BEF-1078-FB4D-AB97-6475F628090D}" srcOrd="6" destOrd="0" presId="urn:microsoft.com/office/officeart/2008/layout/LinedList"/>
    <dgm:cxn modelId="{68F93C5B-1D9E-3F4E-9EBF-10E9529C5E17}" type="presParOf" srcId="{F469ACEF-FD58-484B-8B1E-887BB75F4895}" destId="{2CBB1CE1-1396-2440-8C24-C71EE1FF7D01}" srcOrd="7" destOrd="0" presId="urn:microsoft.com/office/officeart/2008/layout/LinedList"/>
    <dgm:cxn modelId="{78BE743F-56C3-6744-BF98-9C674E96779F}" type="presParOf" srcId="{2CBB1CE1-1396-2440-8C24-C71EE1FF7D01}" destId="{B29A3382-B908-5244-A994-C88B24E0367C}" srcOrd="0" destOrd="0" presId="urn:microsoft.com/office/officeart/2008/layout/LinedList"/>
    <dgm:cxn modelId="{141EB0BD-F584-814E-96C2-825E922A62FF}" type="presParOf" srcId="{2CBB1CE1-1396-2440-8C24-C71EE1FF7D01}" destId="{2B3D9336-E87F-3947-941D-0F318CB58E6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F86C083-5145-45FE-8E51-7CA137963B7A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E91AECD6-0CBA-4161-A466-AC60EE3F467D}">
      <dgm:prSet/>
      <dgm:spPr/>
      <dgm:t>
        <a:bodyPr/>
        <a:lstStyle/>
        <a:p>
          <a:r>
            <a:rPr lang="en-US" dirty="0"/>
            <a:t>Entra ID (Azure AD) is your identity plane — leverage Conditional Access and PIM, it’s all you’ve got.</a:t>
          </a:r>
        </a:p>
      </dgm:t>
    </dgm:pt>
    <dgm:pt modelId="{BE3BFFCB-CE1D-4459-91F1-25551DA76CF1}" type="parTrans" cxnId="{1046CA49-807B-481D-81FB-72286592B519}">
      <dgm:prSet/>
      <dgm:spPr/>
      <dgm:t>
        <a:bodyPr/>
        <a:lstStyle/>
        <a:p>
          <a:endParaRPr lang="en-US"/>
        </a:p>
      </dgm:t>
    </dgm:pt>
    <dgm:pt modelId="{9BD3BC77-B611-45E8-BB26-09CD6D74728A}" type="sibTrans" cxnId="{1046CA49-807B-481D-81FB-72286592B519}">
      <dgm:prSet/>
      <dgm:spPr/>
      <dgm:t>
        <a:bodyPr/>
        <a:lstStyle/>
        <a:p>
          <a:endParaRPr lang="en-US"/>
        </a:p>
      </dgm:t>
    </dgm:pt>
    <dgm:pt modelId="{8F2E0793-0DB8-421B-B24C-215BD75785A9}">
      <dgm:prSet/>
      <dgm:spPr/>
      <dgm:t>
        <a:bodyPr/>
        <a:lstStyle/>
        <a:p>
          <a:r>
            <a:rPr lang="en-US"/>
            <a:t>Service principals for automation and CI/CD, but be aware of current Fabric SP limitations</a:t>
          </a:r>
        </a:p>
      </dgm:t>
    </dgm:pt>
    <dgm:pt modelId="{C589435F-0F67-40C8-9B34-19188D08EF38}" type="parTrans" cxnId="{D82E272E-5D04-4522-8245-9EC420132FB8}">
      <dgm:prSet/>
      <dgm:spPr/>
      <dgm:t>
        <a:bodyPr/>
        <a:lstStyle/>
        <a:p>
          <a:endParaRPr lang="en-US"/>
        </a:p>
      </dgm:t>
    </dgm:pt>
    <dgm:pt modelId="{FEFDA036-F946-4A11-9011-4C3C2DDA4C42}" type="sibTrans" cxnId="{D82E272E-5D04-4522-8245-9EC420132FB8}">
      <dgm:prSet/>
      <dgm:spPr/>
      <dgm:t>
        <a:bodyPr/>
        <a:lstStyle/>
        <a:p>
          <a:endParaRPr lang="en-US"/>
        </a:p>
      </dgm:t>
    </dgm:pt>
    <dgm:pt modelId="{21D04112-1141-43D7-A951-A9A138B9559F}">
      <dgm:prSet/>
      <dgm:spPr/>
      <dgm:t>
        <a:bodyPr/>
        <a:lstStyle/>
        <a:p>
          <a:r>
            <a:rPr lang="en-US"/>
            <a:t>Minimize personal accounts in production workspaces</a:t>
          </a:r>
        </a:p>
      </dgm:t>
    </dgm:pt>
    <dgm:pt modelId="{F32CD2F3-3CA1-477F-8498-81D0AEA9C457}" type="parTrans" cxnId="{75590EE6-F215-4359-8B74-E553968CBAB0}">
      <dgm:prSet/>
      <dgm:spPr/>
      <dgm:t>
        <a:bodyPr/>
        <a:lstStyle/>
        <a:p>
          <a:endParaRPr lang="en-US"/>
        </a:p>
      </dgm:t>
    </dgm:pt>
    <dgm:pt modelId="{27A1B02B-3EE3-40E8-80C9-3D173562CBC7}" type="sibTrans" cxnId="{75590EE6-F215-4359-8B74-E553968CBAB0}">
      <dgm:prSet/>
      <dgm:spPr/>
      <dgm:t>
        <a:bodyPr/>
        <a:lstStyle/>
        <a:p>
          <a:endParaRPr lang="en-US"/>
        </a:p>
      </dgm:t>
    </dgm:pt>
    <dgm:pt modelId="{77052FD9-F747-A145-8D75-AA029BAA8C43}" type="pres">
      <dgm:prSet presAssocID="{BF86C083-5145-45FE-8E51-7CA137963B7A}" presName="linear" presStyleCnt="0">
        <dgm:presLayoutVars>
          <dgm:animLvl val="lvl"/>
          <dgm:resizeHandles val="exact"/>
        </dgm:presLayoutVars>
      </dgm:prSet>
      <dgm:spPr/>
    </dgm:pt>
    <dgm:pt modelId="{424A792C-4137-D148-A39C-BC90CF1B8F4D}" type="pres">
      <dgm:prSet presAssocID="{E91AECD6-0CBA-4161-A466-AC60EE3F467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1C74DDE-012C-3642-9AA7-A433E25DCFAD}" type="pres">
      <dgm:prSet presAssocID="{9BD3BC77-B611-45E8-BB26-09CD6D74728A}" presName="spacer" presStyleCnt="0"/>
      <dgm:spPr/>
    </dgm:pt>
    <dgm:pt modelId="{9FD4BDE7-39F4-FE41-8FC7-7AAFD4F139F9}" type="pres">
      <dgm:prSet presAssocID="{8F2E0793-0DB8-421B-B24C-215BD75785A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F31B57B-9CE3-0248-B7DF-07F270798FE5}" type="pres">
      <dgm:prSet presAssocID="{FEFDA036-F946-4A11-9011-4C3C2DDA4C42}" presName="spacer" presStyleCnt="0"/>
      <dgm:spPr/>
    </dgm:pt>
    <dgm:pt modelId="{261EAE23-3597-8444-8BC6-81E458DB257B}" type="pres">
      <dgm:prSet presAssocID="{21D04112-1141-43D7-A951-A9A138B9559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8F6C60D-CF3D-794C-BCA3-1A9806696F40}" type="presOf" srcId="{E91AECD6-0CBA-4161-A466-AC60EE3F467D}" destId="{424A792C-4137-D148-A39C-BC90CF1B8F4D}" srcOrd="0" destOrd="0" presId="urn:microsoft.com/office/officeart/2005/8/layout/vList2"/>
    <dgm:cxn modelId="{D82E272E-5D04-4522-8245-9EC420132FB8}" srcId="{BF86C083-5145-45FE-8E51-7CA137963B7A}" destId="{8F2E0793-0DB8-421B-B24C-215BD75785A9}" srcOrd="1" destOrd="0" parTransId="{C589435F-0F67-40C8-9B34-19188D08EF38}" sibTransId="{FEFDA036-F946-4A11-9011-4C3C2DDA4C42}"/>
    <dgm:cxn modelId="{4796DA2E-BBEB-9B4F-B922-9877F16150D0}" type="presOf" srcId="{BF86C083-5145-45FE-8E51-7CA137963B7A}" destId="{77052FD9-F747-A145-8D75-AA029BAA8C43}" srcOrd="0" destOrd="0" presId="urn:microsoft.com/office/officeart/2005/8/layout/vList2"/>
    <dgm:cxn modelId="{1046CA49-807B-481D-81FB-72286592B519}" srcId="{BF86C083-5145-45FE-8E51-7CA137963B7A}" destId="{E91AECD6-0CBA-4161-A466-AC60EE3F467D}" srcOrd="0" destOrd="0" parTransId="{BE3BFFCB-CE1D-4459-91F1-25551DA76CF1}" sibTransId="{9BD3BC77-B611-45E8-BB26-09CD6D74728A}"/>
    <dgm:cxn modelId="{A43F2E88-0184-5448-9FEE-5BB20F6896E8}" type="presOf" srcId="{8F2E0793-0DB8-421B-B24C-215BD75785A9}" destId="{9FD4BDE7-39F4-FE41-8FC7-7AAFD4F139F9}" srcOrd="0" destOrd="0" presId="urn:microsoft.com/office/officeart/2005/8/layout/vList2"/>
    <dgm:cxn modelId="{0347BEE4-5DFC-2F42-8CA7-1B4F590E472B}" type="presOf" srcId="{21D04112-1141-43D7-A951-A9A138B9559F}" destId="{261EAE23-3597-8444-8BC6-81E458DB257B}" srcOrd="0" destOrd="0" presId="urn:microsoft.com/office/officeart/2005/8/layout/vList2"/>
    <dgm:cxn modelId="{75590EE6-F215-4359-8B74-E553968CBAB0}" srcId="{BF86C083-5145-45FE-8E51-7CA137963B7A}" destId="{21D04112-1141-43D7-A951-A9A138B9559F}" srcOrd="2" destOrd="0" parTransId="{F32CD2F3-3CA1-477F-8498-81D0AEA9C457}" sibTransId="{27A1B02B-3EE3-40E8-80C9-3D173562CBC7}"/>
    <dgm:cxn modelId="{D97320D0-7287-1744-B6BF-84262D4BCD13}" type="presParOf" srcId="{77052FD9-F747-A145-8D75-AA029BAA8C43}" destId="{424A792C-4137-D148-A39C-BC90CF1B8F4D}" srcOrd="0" destOrd="0" presId="urn:microsoft.com/office/officeart/2005/8/layout/vList2"/>
    <dgm:cxn modelId="{BCD4035A-0A92-A240-85E5-BACD66C3B2EB}" type="presParOf" srcId="{77052FD9-F747-A145-8D75-AA029BAA8C43}" destId="{11C74DDE-012C-3642-9AA7-A433E25DCFAD}" srcOrd="1" destOrd="0" presId="urn:microsoft.com/office/officeart/2005/8/layout/vList2"/>
    <dgm:cxn modelId="{C5ABC2B9-3BF9-2B46-87F3-5762F12847A1}" type="presParOf" srcId="{77052FD9-F747-A145-8D75-AA029BAA8C43}" destId="{9FD4BDE7-39F4-FE41-8FC7-7AAFD4F139F9}" srcOrd="2" destOrd="0" presId="urn:microsoft.com/office/officeart/2005/8/layout/vList2"/>
    <dgm:cxn modelId="{08FCA060-E863-A346-A035-EB8A129657BD}" type="presParOf" srcId="{77052FD9-F747-A145-8D75-AA029BAA8C43}" destId="{EF31B57B-9CE3-0248-B7DF-07F270798FE5}" srcOrd="3" destOrd="0" presId="urn:microsoft.com/office/officeart/2005/8/layout/vList2"/>
    <dgm:cxn modelId="{1C6E4A5C-89E3-4944-B1F9-BD9CF7B128F2}" type="presParOf" srcId="{77052FD9-F747-A145-8D75-AA029BAA8C43}" destId="{261EAE23-3597-8444-8BC6-81E458DB257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B9D6472-AE47-47DB-AC87-4D20810ED8E8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826EAFC-4FFD-4E2D-82EE-7965B2DE3B0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/>
            <a:t>Fabric supports Managed Private Endpoints and Private Link for inbound connectivity</a:t>
          </a:r>
        </a:p>
      </dgm:t>
    </dgm:pt>
    <dgm:pt modelId="{912C679D-F702-41AA-B311-E0E057EAE7C9}" type="parTrans" cxnId="{93F9A806-4DF4-4DDC-A5B2-2E272035FF25}">
      <dgm:prSet/>
      <dgm:spPr/>
      <dgm:t>
        <a:bodyPr/>
        <a:lstStyle/>
        <a:p>
          <a:endParaRPr lang="en-US"/>
        </a:p>
      </dgm:t>
    </dgm:pt>
    <dgm:pt modelId="{3F10345A-6D54-49CE-9FA2-9B6E2449CA76}" type="sibTrans" cxnId="{93F9A806-4DF4-4DDC-A5B2-2E272035FF25}">
      <dgm:prSet/>
      <dgm:spPr/>
      <dgm:t>
        <a:bodyPr/>
        <a:lstStyle/>
        <a:p>
          <a:endParaRPr lang="en-US"/>
        </a:p>
      </dgm:t>
    </dgm:pt>
    <dgm:pt modelId="{893F8F53-5C2A-4D86-83F6-49B283580B2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dirty="0"/>
            <a:t>Configure </a:t>
          </a:r>
          <a:r>
            <a:rPr lang="en-US" sz="3200" dirty="0" err="1"/>
            <a:t>VNet</a:t>
          </a:r>
          <a:r>
            <a:rPr lang="en-US" sz="3200" dirty="0"/>
            <a:t> data gateways for secure access to on-prem and IaaS data sources</a:t>
          </a:r>
        </a:p>
      </dgm:t>
    </dgm:pt>
    <dgm:pt modelId="{29F22FF8-54A5-4080-BF9D-2889E2FB9314}" type="parTrans" cxnId="{3F002EA4-2920-4555-AC10-17B2EF6E13B4}">
      <dgm:prSet/>
      <dgm:spPr/>
      <dgm:t>
        <a:bodyPr/>
        <a:lstStyle/>
        <a:p>
          <a:endParaRPr lang="en-US"/>
        </a:p>
      </dgm:t>
    </dgm:pt>
    <dgm:pt modelId="{440EEB5E-BAD7-483A-9DE9-413B565950BD}" type="sibTrans" cxnId="{3F002EA4-2920-4555-AC10-17B2EF6E13B4}">
      <dgm:prSet/>
      <dgm:spPr/>
      <dgm:t>
        <a:bodyPr/>
        <a:lstStyle/>
        <a:p>
          <a:endParaRPr lang="en-US"/>
        </a:p>
      </dgm:t>
    </dgm:pt>
    <dgm:pt modelId="{F3ED6970-5F79-4B08-8B60-3DB24E04723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/>
            <a:t>Disable public access to capacities where compliance requires it</a:t>
          </a:r>
        </a:p>
      </dgm:t>
    </dgm:pt>
    <dgm:pt modelId="{FD99BF52-12FE-43A9-A476-480E7B2BDF5D}" type="parTrans" cxnId="{752500D0-7D79-45AB-A889-DB0994A5E5B4}">
      <dgm:prSet/>
      <dgm:spPr/>
      <dgm:t>
        <a:bodyPr/>
        <a:lstStyle/>
        <a:p>
          <a:endParaRPr lang="en-US"/>
        </a:p>
      </dgm:t>
    </dgm:pt>
    <dgm:pt modelId="{7EE7A710-2687-4F5A-BB4D-509D3AF5A04F}" type="sibTrans" cxnId="{752500D0-7D79-45AB-A889-DB0994A5E5B4}">
      <dgm:prSet/>
      <dgm:spPr/>
      <dgm:t>
        <a:bodyPr/>
        <a:lstStyle/>
        <a:p>
          <a:endParaRPr lang="en-US"/>
        </a:p>
      </dgm:t>
    </dgm:pt>
    <dgm:pt modelId="{6FFD55F2-0ED4-4B5C-93BA-57DA3CA7CAF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dirty="0"/>
            <a:t>Challenge: not all Fabric experiences support private networking equally — know the gaps</a:t>
          </a:r>
        </a:p>
      </dgm:t>
    </dgm:pt>
    <dgm:pt modelId="{EE8DDD2A-9B77-4206-B983-B2A595B37115}" type="parTrans" cxnId="{30DEC7C6-65D7-4DA5-A618-0B81A9FE699E}">
      <dgm:prSet/>
      <dgm:spPr/>
      <dgm:t>
        <a:bodyPr/>
        <a:lstStyle/>
        <a:p>
          <a:endParaRPr lang="en-US"/>
        </a:p>
      </dgm:t>
    </dgm:pt>
    <dgm:pt modelId="{1261BDA3-2304-4EAE-A3CA-6C00359D0D78}" type="sibTrans" cxnId="{30DEC7C6-65D7-4DA5-A618-0B81A9FE699E}">
      <dgm:prSet/>
      <dgm:spPr/>
      <dgm:t>
        <a:bodyPr/>
        <a:lstStyle/>
        <a:p>
          <a:endParaRPr lang="en-US"/>
        </a:p>
      </dgm:t>
    </dgm:pt>
    <dgm:pt modelId="{72D92CFC-847D-4204-B9BE-31424F375BB8}" type="pres">
      <dgm:prSet presAssocID="{7B9D6472-AE47-47DB-AC87-4D20810ED8E8}" presName="root" presStyleCnt="0">
        <dgm:presLayoutVars>
          <dgm:dir/>
          <dgm:resizeHandles val="exact"/>
        </dgm:presLayoutVars>
      </dgm:prSet>
      <dgm:spPr/>
    </dgm:pt>
    <dgm:pt modelId="{2BB79AE9-918D-4274-A4A8-E4AE9056BD7A}" type="pres">
      <dgm:prSet presAssocID="{4826EAFC-4FFD-4E2D-82EE-7965B2DE3B0C}" presName="compNode" presStyleCnt="0"/>
      <dgm:spPr/>
    </dgm:pt>
    <dgm:pt modelId="{659CE544-3DC3-4B87-ABAC-24BFFD521885}" type="pres">
      <dgm:prSet presAssocID="{4826EAFC-4FFD-4E2D-82EE-7965B2DE3B0C}" presName="bgRect" presStyleLbl="bgShp" presStyleIdx="0" presStyleCnt="4" custLinFactNeighborY="-64880"/>
      <dgm:spPr/>
    </dgm:pt>
    <dgm:pt modelId="{38DDCD91-C058-4138-B2B5-C1C09DD8F0D6}" type="pres">
      <dgm:prSet presAssocID="{4826EAFC-4FFD-4E2D-82EE-7965B2DE3B0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0B056FE-FD8A-4247-B806-2147BAF84253}" type="pres">
      <dgm:prSet presAssocID="{4826EAFC-4FFD-4E2D-82EE-7965B2DE3B0C}" presName="spaceRect" presStyleCnt="0"/>
      <dgm:spPr/>
    </dgm:pt>
    <dgm:pt modelId="{B13E0B34-BFD4-4F74-B1C8-CEE1D4BA0A6C}" type="pres">
      <dgm:prSet presAssocID="{4826EAFC-4FFD-4E2D-82EE-7965B2DE3B0C}" presName="parTx" presStyleLbl="revTx" presStyleIdx="0" presStyleCnt="4">
        <dgm:presLayoutVars>
          <dgm:chMax val="0"/>
          <dgm:chPref val="0"/>
        </dgm:presLayoutVars>
      </dgm:prSet>
      <dgm:spPr/>
    </dgm:pt>
    <dgm:pt modelId="{32EF215B-715A-472C-AAF4-C69982890077}" type="pres">
      <dgm:prSet presAssocID="{3F10345A-6D54-49CE-9FA2-9B6E2449CA76}" presName="sibTrans" presStyleCnt="0"/>
      <dgm:spPr/>
    </dgm:pt>
    <dgm:pt modelId="{379A61A8-9E8E-407F-8FBA-D19FAC9EE63E}" type="pres">
      <dgm:prSet presAssocID="{893F8F53-5C2A-4D86-83F6-49B283580B21}" presName="compNode" presStyleCnt="0"/>
      <dgm:spPr/>
    </dgm:pt>
    <dgm:pt modelId="{0B098AF6-FFBF-49C3-B10C-861592EED6C4}" type="pres">
      <dgm:prSet presAssocID="{893F8F53-5C2A-4D86-83F6-49B283580B21}" presName="bgRect" presStyleLbl="bgShp" presStyleIdx="1" presStyleCnt="4"/>
      <dgm:spPr/>
    </dgm:pt>
    <dgm:pt modelId="{C682EE32-A4AB-4F30-9644-EDD2D438F3A2}" type="pres">
      <dgm:prSet presAssocID="{893F8F53-5C2A-4D86-83F6-49B283580B2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3561A5A-8613-4148-A7B2-20D75F6C9799}" type="pres">
      <dgm:prSet presAssocID="{893F8F53-5C2A-4D86-83F6-49B283580B21}" presName="spaceRect" presStyleCnt="0"/>
      <dgm:spPr/>
    </dgm:pt>
    <dgm:pt modelId="{8E33D03C-467C-4A5D-A6E2-C14D9059763D}" type="pres">
      <dgm:prSet presAssocID="{893F8F53-5C2A-4D86-83F6-49B283580B21}" presName="parTx" presStyleLbl="revTx" presStyleIdx="1" presStyleCnt="4">
        <dgm:presLayoutVars>
          <dgm:chMax val="0"/>
          <dgm:chPref val="0"/>
        </dgm:presLayoutVars>
      </dgm:prSet>
      <dgm:spPr/>
    </dgm:pt>
    <dgm:pt modelId="{3663354B-03AA-4CA0-8E75-D41E938008F8}" type="pres">
      <dgm:prSet presAssocID="{440EEB5E-BAD7-483A-9DE9-413B565950BD}" presName="sibTrans" presStyleCnt="0"/>
      <dgm:spPr/>
    </dgm:pt>
    <dgm:pt modelId="{8267D711-4944-4939-A411-0A9ED70A76CC}" type="pres">
      <dgm:prSet presAssocID="{F3ED6970-5F79-4B08-8B60-3DB24E047234}" presName="compNode" presStyleCnt="0"/>
      <dgm:spPr/>
    </dgm:pt>
    <dgm:pt modelId="{C184A2E2-947C-468D-9549-00D0BF6E73D9}" type="pres">
      <dgm:prSet presAssocID="{F3ED6970-5F79-4B08-8B60-3DB24E047234}" presName="bgRect" presStyleLbl="bgShp" presStyleIdx="2" presStyleCnt="4"/>
      <dgm:spPr/>
    </dgm:pt>
    <dgm:pt modelId="{0BB7F60A-2DE2-4C19-B73A-0427E8B4C180}" type="pres">
      <dgm:prSet presAssocID="{F3ED6970-5F79-4B08-8B60-3DB24E04723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639475F-9941-4A28-9DF4-EFC2FF30EF0C}" type="pres">
      <dgm:prSet presAssocID="{F3ED6970-5F79-4B08-8B60-3DB24E047234}" presName="spaceRect" presStyleCnt="0"/>
      <dgm:spPr/>
    </dgm:pt>
    <dgm:pt modelId="{49C64CC8-64D1-43A6-9622-D997B0D9EF8B}" type="pres">
      <dgm:prSet presAssocID="{F3ED6970-5F79-4B08-8B60-3DB24E047234}" presName="parTx" presStyleLbl="revTx" presStyleIdx="2" presStyleCnt="4">
        <dgm:presLayoutVars>
          <dgm:chMax val="0"/>
          <dgm:chPref val="0"/>
        </dgm:presLayoutVars>
      </dgm:prSet>
      <dgm:spPr/>
    </dgm:pt>
    <dgm:pt modelId="{71096CEC-7B03-4476-9755-2C5F0833A7CF}" type="pres">
      <dgm:prSet presAssocID="{7EE7A710-2687-4F5A-BB4D-509D3AF5A04F}" presName="sibTrans" presStyleCnt="0"/>
      <dgm:spPr/>
    </dgm:pt>
    <dgm:pt modelId="{45C55B9E-6CD8-45CA-83AF-B63F208191BF}" type="pres">
      <dgm:prSet presAssocID="{6FFD55F2-0ED4-4B5C-93BA-57DA3CA7CAFF}" presName="compNode" presStyleCnt="0"/>
      <dgm:spPr/>
    </dgm:pt>
    <dgm:pt modelId="{08B4A668-2371-4F97-B724-3E812A318087}" type="pres">
      <dgm:prSet presAssocID="{6FFD55F2-0ED4-4B5C-93BA-57DA3CA7CAFF}" presName="bgRect" presStyleLbl="bgShp" presStyleIdx="3" presStyleCnt="4"/>
      <dgm:spPr/>
    </dgm:pt>
    <dgm:pt modelId="{19AE8CF0-6725-4A4E-AE08-1BCAC0028F14}" type="pres">
      <dgm:prSet presAssocID="{6FFD55F2-0ED4-4B5C-93BA-57DA3CA7CAF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FAC4D394-50A4-40A0-9F0A-58DA1C2A1038}" type="pres">
      <dgm:prSet presAssocID="{6FFD55F2-0ED4-4B5C-93BA-57DA3CA7CAFF}" presName="spaceRect" presStyleCnt="0"/>
      <dgm:spPr/>
    </dgm:pt>
    <dgm:pt modelId="{F97DB2F1-992C-4C2D-B84C-37DBE4F171C8}" type="pres">
      <dgm:prSet presAssocID="{6FFD55F2-0ED4-4B5C-93BA-57DA3CA7CAF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3F9A806-4DF4-4DDC-A5B2-2E272035FF25}" srcId="{7B9D6472-AE47-47DB-AC87-4D20810ED8E8}" destId="{4826EAFC-4FFD-4E2D-82EE-7965B2DE3B0C}" srcOrd="0" destOrd="0" parTransId="{912C679D-F702-41AA-B311-E0E057EAE7C9}" sibTransId="{3F10345A-6D54-49CE-9FA2-9B6E2449CA76}"/>
    <dgm:cxn modelId="{6F4E1728-CD7B-4644-8A49-EDBD81A8B011}" type="presOf" srcId="{6FFD55F2-0ED4-4B5C-93BA-57DA3CA7CAFF}" destId="{F97DB2F1-992C-4C2D-B84C-37DBE4F171C8}" srcOrd="0" destOrd="0" presId="urn:microsoft.com/office/officeart/2018/2/layout/IconVerticalSolidList"/>
    <dgm:cxn modelId="{1D1E6E56-827F-4BE5-BED9-DB7B75C81D51}" type="presOf" srcId="{F3ED6970-5F79-4B08-8B60-3DB24E047234}" destId="{49C64CC8-64D1-43A6-9622-D997B0D9EF8B}" srcOrd="0" destOrd="0" presId="urn:microsoft.com/office/officeart/2018/2/layout/IconVerticalSolidList"/>
    <dgm:cxn modelId="{3F002EA4-2920-4555-AC10-17B2EF6E13B4}" srcId="{7B9D6472-AE47-47DB-AC87-4D20810ED8E8}" destId="{893F8F53-5C2A-4D86-83F6-49B283580B21}" srcOrd="1" destOrd="0" parTransId="{29F22FF8-54A5-4080-BF9D-2889E2FB9314}" sibTransId="{440EEB5E-BAD7-483A-9DE9-413B565950BD}"/>
    <dgm:cxn modelId="{B7F436C4-63D3-41D2-8313-756798652AD3}" type="presOf" srcId="{893F8F53-5C2A-4D86-83F6-49B283580B21}" destId="{8E33D03C-467C-4A5D-A6E2-C14D9059763D}" srcOrd="0" destOrd="0" presId="urn:microsoft.com/office/officeart/2018/2/layout/IconVerticalSolidList"/>
    <dgm:cxn modelId="{30DEC7C6-65D7-4DA5-A618-0B81A9FE699E}" srcId="{7B9D6472-AE47-47DB-AC87-4D20810ED8E8}" destId="{6FFD55F2-0ED4-4B5C-93BA-57DA3CA7CAFF}" srcOrd="3" destOrd="0" parTransId="{EE8DDD2A-9B77-4206-B983-B2A595B37115}" sibTransId="{1261BDA3-2304-4EAE-A3CA-6C00359D0D78}"/>
    <dgm:cxn modelId="{752500D0-7D79-45AB-A889-DB0994A5E5B4}" srcId="{7B9D6472-AE47-47DB-AC87-4D20810ED8E8}" destId="{F3ED6970-5F79-4B08-8B60-3DB24E047234}" srcOrd="2" destOrd="0" parTransId="{FD99BF52-12FE-43A9-A476-480E7B2BDF5D}" sibTransId="{7EE7A710-2687-4F5A-BB4D-509D3AF5A04F}"/>
    <dgm:cxn modelId="{334134E2-D179-4371-AA12-41222A1A3BDD}" type="presOf" srcId="{4826EAFC-4FFD-4E2D-82EE-7965B2DE3B0C}" destId="{B13E0B34-BFD4-4F74-B1C8-CEE1D4BA0A6C}" srcOrd="0" destOrd="0" presId="urn:microsoft.com/office/officeart/2018/2/layout/IconVerticalSolidList"/>
    <dgm:cxn modelId="{1BCE05E8-FF36-4E6E-8E0F-50C86D7E908E}" type="presOf" srcId="{7B9D6472-AE47-47DB-AC87-4D20810ED8E8}" destId="{72D92CFC-847D-4204-B9BE-31424F375BB8}" srcOrd="0" destOrd="0" presId="urn:microsoft.com/office/officeart/2018/2/layout/IconVerticalSolidList"/>
    <dgm:cxn modelId="{B6298ADC-575F-44E0-B5D8-97D315656C39}" type="presParOf" srcId="{72D92CFC-847D-4204-B9BE-31424F375BB8}" destId="{2BB79AE9-918D-4274-A4A8-E4AE9056BD7A}" srcOrd="0" destOrd="0" presId="urn:microsoft.com/office/officeart/2018/2/layout/IconVerticalSolidList"/>
    <dgm:cxn modelId="{640BB67B-9B4F-4E04-8467-0189F251ED08}" type="presParOf" srcId="{2BB79AE9-918D-4274-A4A8-E4AE9056BD7A}" destId="{659CE544-3DC3-4B87-ABAC-24BFFD521885}" srcOrd="0" destOrd="0" presId="urn:microsoft.com/office/officeart/2018/2/layout/IconVerticalSolidList"/>
    <dgm:cxn modelId="{0954BB5F-5E70-4B3D-B89F-563A94C86E04}" type="presParOf" srcId="{2BB79AE9-918D-4274-A4A8-E4AE9056BD7A}" destId="{38DDCD91-C058-4138-B2B5-C1C09DD8F0D6}" srcOrd="1" destOrd="0" presId="urn:microsoft.com/office/officeart/2018/2/layout/IconVerticalSolidList"/>
    <dgm:cxn modelId="{BEF52A3F-049C-4CBF-9075-75FE0BCFDCC8}" type="presParOf" srcId="{2BB79AE9-918D-4274-A4A8-E4AE9056BD7A}" destId="{E0B056FE-FD8A-4247-B806-2147BAF84253}" srcOrd="2" destOrd="0" presId="urn:microsoft.com/office/officeart/2018/2/layout/IconVerticalSolidList"/>
    <dgm:cxn modelId="{37A89E14-3651-4696-94D3-80828E0F5BFB}" type="presParOf" srcId="{2BB79AE9-918D-4274-A4A8-E4AE9056BD7A}" destId="{B13E0B34-BFD4-4F74-B1C8-CEE1D4BA0A6C}" srcOrd="3" destOrd="0" presId="urn:microsoft.com/office/officeart/2018/2/layout/IconVerticalSolidList"/>
    <dgm:cxn modelId="{B64DE06F-83F8-4BA8-9375-21AD2DB913F1}" type="presParOf" srcId="{72D92CFC-847D-4204-B9BE-31424F375BB8}" destId="{32EF215B-715A-472C-AAF4-C69982890077}" srcOrd="1" destOrd="0" presId="urn:microsoft.com/office/officeart/2018/2/layout/IconVerticalSolidList"/>
    <dgm:cxn modelId="{CEA54232-CBA2-43E7-AEF6-8F5E6DA1795F}" type="presParOf" srcId="{72D92CFC-847D-4204-B9BE-31424F375BB8}" destId="{379A61A8-9E8E-407F-8FBA-D19FAC9EE63E}" srcOrd="2" destOrd="0" presId="urn:microsoft.com/office/officeart/2018/2/layout/IconVerticalSolidList"/>
    <dgm:cxn modelId="{E6E4141C-206B-43AF-B076-82D4A7A93D73}" type="presParOf" srcId="{379A61A8-9E8E-407F-8FBA-D19FAC9EE63E}" destId="{0B098AF6-FFBF-49C3-B10C-861592EED6C4}" srcOrd="0" destOrd="0" presId="urn:microsoft.com/office/officeart/2018/2/layout/IconVerticalSolidList"/>
    <dgm:cxn modelId="{0CFEB844-7F13-442D-B83D-BD8803D82DA2}" type="presParOf" srcId="{379A61A8-9E8E-407F-8FBA-D19FAC9EE63E}" destId="{C682EE32-A4AB-4F30-9644-EDD2D438F3A2}" srcOrd="1" destOrd="0" presId="urn:microsoft.com/office/officeart/2018/2/layout/IconVerticalSolidList"/>
    <dgm:cxn modelId="{F4C193AC-73DA-4EAB-ABA2-1455216E8E82}" type="presParOf" srcId="{379A61A8-9E8E-407F-8FBA-D19FAC9EE63E}" destId="{33561A5A-8613-4148-A7B2-20D75F6C9799}" srcOrd="2" destOrd="0" presId="urn:microsoft.com/office/officeart/2018/2/layout/IconVerticalSolidList"/>
    <dgm:cxn modelId="{C1EA3AD0-7310-43C0-8767-632B65FE240B}" type="presParOf" srcId="{379A61A8-9E8E-407F-8FBA-D19FAC9EE63E}" destId="{8E33D03C-467C-4A5D-A6E2-C14D9059763D}" srcOrd="3" destOrd="0" presId="urn:microsoft.com/office/officeart/2018/2/layout/IconVerticalSolidList"/>
    <dgm:cxn modelId="{A1B39D13-DEA2-46F7-A3B5-415C43C3BC93}" type="presParOf" srcId="{72D92CFC-847D-4204-B9BE-31424F375BB8}" destId="{3663354B-03AA-4CA0-8E75-D41E938008F8}" srcOrd="3" destOrd="0" presId="urn:microsoft.com/office/officeart/2018/2/layout/IconVerticalSolidList"/>
    <dgm:cxn modelId="{AC3C513E-DC6A-463F-B445-264F771A5A15}" type="presParOf" srcId="{72D92CFC-847D-4204-B9BE-31424F375BB8}" destId="{8267D711-4944-4939-A411-0A9ED70A76CC}" srcOrd="4" destOrd="0" presId="urn:microsoft.com/office/officeart/2018/2/layout/IconVerticalSolidList"/>
    <dgm:cxn modelId="{EE9B6E7F-B16E-4AF3-85A4-4AAA1C17CDDF}" type="presParOf" srcId="{8267D711-4944-4939-A411-0A9ED70A76CC}" destId="{C184A2E2-947C-468D-9549-00D0BF6E73D9}" srcOrd="0" destOrd="0" presId="urn:microsoft.com/office/officeart/2018/2/layout/IconVerticalSolidList"/>
    <dgm:cxn modelId="{3DF31CCB-CE9F-4E07-B792-F2DD3F36FF11}" type="presParOf" srcId="{8267D711-4944-4939-A411-0A9ED70A76CC}" destId="{0BB7F60A-2DE2-4C19-B73A-0427E8B4C180}" srcOrd="1" destOrd="0" presId="urn:microsoft.com/office/officeart/2018/2/layout/IconVerticalSolidList"/>
    <dgm:cxn modelId="{8C0D2254-33AB-4C47-9CFF-359E3DE770F1}" type="presParOf" srcId="{8267D711-4944-4939-A411-0A9ED70A76CC}" destId="{4639475F-9941-4A28-9DF4-EFC2FF30EF0C}" srcOrd="2" destOrd="0" presId="urn:microsoft.com/office/officeart/2018/2/layout/IconVerticalSolidList"/>
    <dgm:cxn modelId="{3260739A-6F1F-4FB3-A5D4-57701E6E217B}" type="presParOf" srcId="{8267D711-4944-4939-A411-0A9ED70A76CC}" destId="{49C64CC8-64D1-43A6-9622-D997B0D9EF8B}" srcOrd="3" destOrd="0" presId="urn:microsoft.com/office/officeart/2018/2/layout/IconVerticalSolidList"/>
    <dgm:cxn modelId="{69FB5FC2-2DBB-4D4B-90EF-6235C6386FBC}" type="presParOf" srcId="{72D92CFC-847D-4204-B9BE-31424F375BB8}" destId="{71096CEC-7B03-4476-9755-2C5F0833A7CF}" srcOrd="5" destOrd="0" presId="urn:microsoft.com/office/officeart/2018/2/layout/IconVerticalSolidList"/>
    <dgm:cxn modelId="{2498235D-0BA4-478E-8990-6FF3D9A41A2D}" type="presParOf" srcId="{72D92CFC-847D-4204-B9BE-31424F375BB8}" destId="{45C55B9E-6CD8-45CA-83AF-B63F208191BF}" srcOrd="6" destOrd="0" presId="urn:microsoft.com/office/officeart/2018/2/layout/IconVerticalSolidList"/>
    <dgm:cxn modelId="{07DABD06-B809-421B-82E1-88CD90319B84}" type="presParOf" srcId="{45C55B9E-6CD8-45CA-83AF-B63F208191BF}" destId="{08B4A668-2371-4F97-B724-3E812A318087}" srcOrd="0" destOrd="0" presId="urn:microsoft.com/office/officeart/2018/2/layout/IconVerticalSolidList"/>
    <dgm:cxn modelId="{3DBEABE1-E6F6-445C-91A9-1A3D37369E29}" type="presParOf" srcId="{45C55B9E-6CD8-45CA-83AF-B63F208191BF}" destId="{19AE8CF0-6725-4A4E-AE08-1BCAC0028F14}" srcOrd="1" destOrd="0" presId="urn:microsoft.com/office/officeart/2018/2/layout/IconVerticalSolidList"/>
    <dgm:cxn modelId="{F9553181-D3BD-4CA0-B2E5-2B5E69CDCF79}" type="presParOf" srcId="{45C55B9E-6CD8-45CA-83AF-B63F208191BF}" destId="{FAC4D394-50A4-40A0-9F0A-58DA1C2A1038}" srcOrd="2" destOrd="0" presId="urn:microsoft.com/office/officeart/2018/2/layout/IconVerticalSolidList"/>
    <dgm:cxn modelId="{EC283125-9810-4E7E-BB69-76642B0EE1C3}" type="presParOf" srcId="{45C55B9E-6CD8-45CA-83AF-B63F208191BF}" destId="{F97DB2F1-992C-4C2D-B84C-37DBE4F171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C59A9B2-C9BC-2740-A130-8A532527271F}" type="doc">
      <dgm:prSet loTypeId="urn:microsoft.com/office/officeart/2008/layout/LinedList" loCatId="icon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00C23A9D-64E1-684B-821D-9E53A79E6181}">
      <dgm:prSet/>
      <dgm:spPr/>
      <dgm:t>
        <a:bodyPr/>
        <a:lstStyle/>
        <a:p>
          <a:r>
            <a:rPr lang="en-US" dirty="0"/>
            <a:t>Azure has Activity Log, Diagnostic Settings, Defender for Cloud — Fabric has the Admin Monitoring workspace and activity log APIs</a:t>
          </a:r>
        </a:p>
      </dgm:t>
    </dgm:pt>
    <dgm:pt modelId="{A2607F42-B991-084A-B2A7-6449D8BBCE33}" type="parTrans" cxnId="{B6D34E42-1A83-9543-8DB3-A9A4EB210EC8}">
      <dgm:prSet/>
      <dgm:spPr/>
      <dgm:t>
        <a:bodyPr/>
        <a:lstStyle/>
        <a:p>
          <a:endParaRPr lang="en-US"/>
        </a:p>
      </dgm:t>
    </dgm:pt>
    <dgm:pt modelId="{1A221D2D-B7B9-504F-B7E4-8994AAD43DB9}" type="sibTrans" cxnId="{B6D34E42-1A83-9543-8DB3-A9A4EB210EC8}">
      <dgm:prSet/>
      <dgm:spPr/>
      <dgm:t>
        <a:bodyPr/>
        <a:lstStyle/>
        <a:p>
          <a:endParaRPr lang="en-US"/>
        </a:p>
      </dgm:t>
    </dgm:pt>
    <dgm:pt modelId="{D223F96F-8769-1245-B06A-FC5BFAB219E8}">
      <dgm:prSet/>
      <dgm:spPr/>
      <dgm:t>
        <a:bodyPr/>
        <a:lstStyle/>
        <a:p>
          <a:r>
            <a:rPr lang="en-US"/>
            <a:t>Audit footprint is narrower: limited event types, no native SIEM integration out of the box</a:t>
          </a:r>
        </a:p>
      </dgm:t>
    </dgm:pt>
    <dgm:pt modelId="{19D05483-FB19-7B45-813B-67DCC0C04B2F}" type="parTrans" cxnId="{6DED6736-BA71-AC4A-A28F-83641F0C9F84}">
      <dgm:prSet/>
      <dgm:spPr/>
      <dgm:t>
        <a:bodyPr/>
        <a:lstStyle/>
        <a:p>
          <a:endParaRPr lang="en-US"/>
        </a:p>
      </dgm:t>
    </dgm:pt>
    <dgm:pt modelId="{9AACC8E8-552D-524B-B220-B5FDF80C1900}" type="sibTrans" cxnId="{6DED6736-BA71-AC4A-A28F-83641F0C9F84}">
      <dgm:prSet/>
      <dgm:spPr/>
      <dgm:t>
        <a:bodyPr/>
        <a:lstStyle/>
        <a:p>
          <a:endParaRPr lang="en-US"/>
        </a:p>
      </dgm:t>
    </dgm:pt>
    <dgm:pt modelId="{897ABE12-D92B-2E4E-ABF0-94449511BA11}">
      <dgm:prSet/>
      <dgm:spPr/>
      <dgm:t>
        <a:bodyPr/>
        <a:lstStyle/>
        <a:p>
          <a:r>
            <a:rPr lang="en-US" b="1"/>
            <a:t>Recommendation: </a:t>
          </a:r>
          <a:r>
            <a:rPr lang="en-US"/>
            <a:t>export Fabric activity logs to Log Analytics or Sentinel and build custom detection rules</a:t>
          </a:r>
        </a:p>
      </dgm:t>
    </dgm:pt>
    <dgm:pt modelId="{825E68CC-41E4-984C-B832-611F71503E53}" type="parTrans" cxnId="{FF18AA43-0621-AC4D-8892-AA24B5F2E5DC}">
      <dgm:prSet/>
      <dgm:spPr/>
      <dgm:t>
        <a:bodyPr/>
        <a:lstStyle/>
        <a:p>
          <a:endParaRPr lang="en-US"/>
        </a:p>
      </dgm:t>
    </dgm:pt>
    <dgm:pt modelId="{B24F972F-EEB5-394F-BCF9-47E3F14DA4B3}" type="sibTrans" cxnId="{FF18AA43-0621-AC4D-8892-AA24B5F2E5DC}">
      <dgm:prSet/>
      <dgm:spPr/>
      <dgm:t>
        <a:bodyPr/>
        <a:lstStyle/>
        <a:p>
          <a:endParaRPr lang="en-US"/>
        </a:p>
      </dgm:t>
    </dgm:pt>
    <dgm:pt modelId="{99E6072C-129A-D44B-B20F-CD634885D6E8}" type="pres">
      <dgm:prSet presAssocID="{2C59A9B2-C9BC-2740-A130-8A532527271F}" presName="vert0" presStyleCnt="0">
        <dgm:presLayoutVars>
          <dgm:dir/>
          <dgm:animOne val="branch"/>
          <dgm:animLvl val="lvl"/>
        </dgm:presLayoutVars>
      </dgm:prSet>
      <dgm:spPr/>
    </dgm:pt>
    <dgm:pt modelId="{B8D2595E-CF6B-5C43-8C35-3272E99349CF}" type="pres">
      <dgm:prSet presAssocID="{00C23A9D-64E1-684B-821D-9E53A79E6181}" presName="thickLine" presStyleLbl="alignNode1" presStyleIdx="0" presStyleCnt="3"/>
      <dgm:spPr/>
    </dgm:pt>
    <dgm:pt modelId="{6FDACFF8-D3C7-2249-8F57-2EBE5D6D3440}" type="pres">
      <dgm:prSet presAssocID="{00C23A9D-64E1-684B-821D-9E53A79E6181}" presName="horz1" presStyleCnt="0"/>
      <dgm:spPr/>
    </dgm:pt>
    <dgm:pt modelId="{0B0A66CC-7649-5246-9934-553F1393C8D4}" type="pres">
      <dgm:prSet presAssocID="{00C23A9D-64E1-684B-821D-9E53A79E6181}" presName="tx1" presStyleLbl="revTx" presStyleIdx="0" presStyleCnt="3"/>
      <dgm:spPr/>
    </dgm:pt>
    <dgm:pt modelId="{99DEA138-EDCD-3140-A5BC-AD28B0C8CCC1}" type="pres">
      <dgm:prSet presAssocID="{00C23A9D-64E1-684B-821D-9E53A79E6181}" presName="vert1" presStyleCnt="0"/>
      <dgm:spPr/>
    </dgm:pt>
    <dgm:pt modelId="{1D17C230-08C4-A04C-A50E-08504740F85A}" type="pres">
      <dgm:prSet presAssocID="{D223F96F-8769-1245-B06A-FC5BFAB219E8}" presName="thickLine" presStyleLbl="alignNode1" presStyleIdx="1" presStyleCnt="3"/>
      <dgm:spPr/>
    </dgm:pt>
    <dgm:pt modelId="{2DB09164-DC18-BC4D-94B9-20BE5A2A3ED8}" type="pres">
      <dgm:prSet presAssocID="{D223F96F-8769-1245-B06A-FC5BFAB219E8}" presName="horz1" presStyleCnt="0"/>
      <dgm:spPr/>
    </dgm:pt>
    <dgm:pt modelId="{A11F861C-D486-604A-9143-EA2F96FEDCC4}" type="pres">
      <dgm:prSet presAssocID="{D223F96F-8769-1245-B06A-FC5BFAB219E8}" presName="tx1" presStyleLbl="revTx" presStyleIdx="1" presStyleCnt="3"/>
      <dgm:spPr/>
    </dgm:pt>
    <dgm:pt modelId="{6913CC15-8545-9A44-A97B-874CFBA55663}" type="pres">
      <dgm:prSet presAssocID="{D223F96F-8769-1245-B06A-FC5BFAB219E8}" presName="vert1" presStyleCnt="0"/>
      <dgm:spPr/>
    </dgm:pt>
    <dgm:pt modelId="{7BC08CB8-2FF6-F448-A259-C09D9C4B24BB}" type="pres">
      <dgm:prSet presAssocID="{897ABE12-D92B-2E4E-ABF0-94449511BA11}" presName="thickLine" presStyleLbl="alignNode1" presStyleIdx="2" presStyleCnt="3"/>
      <dgm:spPr/>
    </dgm:pt>
    <dgm:pt modelId="{36AFDC67-9CBE-6842-A686-C148EB281395}" type="pres">
      <dgm:prSet presAssocID="{897ABE12-D92B-2E4E-ABF0-94449511BA11}" presName="horz1" presStyleCnt="0"/>
      <dgm:spPr/>
    </dgm:pt>
    <dgm:pt modelId="{48FF7534-267A-F74E-85B9-2188BD374B0C}" type="pres">
      <dgm:prSet presAssocID="{897ABE12-D92B-2E4E-ABF0-94449511BA11}" presName="tx1" presStyleLbl="revTx" presStyleIdx="2" presStyleCnt="3"/>
      <dgm:spPr/>
    </dgm:pt>
    <dgm:pt modelId="{12CC11A1-4AF0-B54F-AF79-8BB73D33CB22}" type="pres">
      <dgm:prSet presAssocID="{897ABE12-D92B-2E4E-ABF0-94449511BA11}" presName="vert1" presStyleCnt="0"/>
      <dgm:spPr/>
    </dgm:pt>
  </dgm:ptLst>
  <dgm:cxnLst>
    <dgm:cxn modelId="{27EA8613-3A75-C04F-8EEE-F33BFDA0EC1C}" type="presOf" srcId="{D223F96F-8769-1245-B06A-FC5BFAB219E8}" destId="{A11F861C-D486-604A-9143-EA2F96FEDCC4}" srcOrd="0" destOrd="0" presId="urn:microsoft.com/office/officeart/2008/layout/LinedList"/>
    <dgm:cxn modelId="{6DED6736-BA71-AC4A-A28F-83641F0C9F84}" srcId="{2C59A9B2-C9BC-2740-A130-8A532527271F}" destId="{D223F96F-8769-1245-B06A-FC5BFAB219E8}" srcOrd="1" destOrd="0" parTransId="{19D05483-FB19-7B45-813B-67DCC0C04B2F}" sibTransId="{9AACC8E8-552D-524B-B220-B5FDF80C1900}"/>
    <dgm:cxn modelId="{B6D34E42-1A83-9543-8DB3-A9A4EB210EC8}" srcId="{2C59A9B2-C9BC-2740-A130-8A532527271F}" destId="{00C23A9D-64E1-684B-821D-9E53A79E6181}" srcOrd="0" destOrd="0" parTransId="{A2607F42-B991-084A-B2A7-6449D8BBCE33}" sibTransId="{1A221D2D-B7B9-504F-B7E4-8994AAD43DB9}"/>
    <dgm:cxn modelId="{FF18AA43-0621-AC4D-8892-AA24B5F2E5DC}" srcId="{2C59A9B2-C9BC-2740-A130-8A532527271F}" destId="{897ABE12-D92B-2E4E-ABF0-94449511BA11}" srcOrd="2" destOrd="0" parTransId="{825E68CC-41E4-984C-B832-611F71503E53}" sibTransId="{B24F972F-EEB5-394F-BCF9-47E3F14DA4B3}"/>
    <dgm:cxn modelId="{279EEA4B-4D07-6941-8963-D9F92A7287A2}" type="presOf" srcId="{2C59A9B2-C9BC-2740-A130-8A532527271F}" destId="{99E6072C-129A-D44B-B20F-CD634885D6E8}" srcOrd="0" destOrd="0" presId="urn:microsoft.com/office/officeart/2008/layout/LinedList"/>
    <dgm:cxn modelId="{E62C6B5A-FBDF-0D4E-919C-67CEF6E4C18A}" type="presOf" srcId="{897ABE12-D92B-2E4E-ABF0-94449511BA11}" destId="{48FF7534-267A-F74E-85B9-2188BD374B0C}" srcOrd="0" destOrd="0" presId="urn:microsoft.com/office/officeart/2008/layout/LinedList"/>
    <dgm:cxn modelId="{6A67A98F-57DF-DA44-A6D1-712E685242FF}" type="presOf" srcId="{00C23A9D-64E1-684B-821D-9E53A79E6181}" destId="{0B0A66CC-7649-5246-9934-553F1393C8D4}" srcOrd="0" destOrd="0" presId="urn:microsoft.com/office/officeart/2008/layout/LinedList"/>
    <dgm:cxn modelId="{609D40E6-F095-8348-A5F3-0E702336BA32}" type="presParOf" srcId="{99E6072C-129A-D44B-B20F-CD634885D6E8}" destId="{B8D2595E-CF6B-5C43-8C35-3272E99349CF}" srcOrd="0" destOrd="0" presId="urn:microsoft.com/office/officeart/2008/layout/LinedList"/>
    <dgm:cxn modelId="{13101D10-C9C5-3B4E-B0DA-8D219605025A}" type="presParOf" srcId="{99E6072C-129A-D44B-B20F-CD634885D6E8}" destId="{6FDACFF8-D3C7-2249-8F57-2EBE5D6D3440}" srcOrd="1" destOrd="0" presId="urn:microsoft.com/office/officeart/2008/layout/LinedList"/>
    <dgm:cxn modelId="{A3171227-7BAE-B148-B5D2-51839B05ACDE}" type="presParOf" srcId="{6FDACFF8-D3C7-2249-8F57-2EBE5D6D3440}" destId="{0B0A66CC-7649-5246-9934-553F1393C8D4}" srcOrd="0" destOrd="0" presId="urn:microsoft.com/office/officeart/2008/layout/LinedList"/>
    <dgm:cxn modelId="{8F4ACB4F-388E-2046-807B-A8F242DFEAF7}" type="presParOf" srcId="{6FDACFF8-D3C7-2249-8F57-2EBE5D6D3440}" destId="{99DEA138-EDCD-3140-A5BC-AD28B0C8CCC1}" srcOrd="1" destOrd="0" presId="urn:microsoft.com/office/officeart/2008/layout/LinedList"/>
    <dgm:cxn modelId="{219A246F-704F-5A43-AE99-1D1D09ACA72B}" type="presParOf" srcId="{99E6072C-129A-D44B-B20F-CD634885D6E8}" destId="{1D17C230-08C4-A04C-A50E-08504740F85A}" srcOrd="2" destOrd="0" presId="urn:microsoft.com/office/officeart/2008/layout/LinedList"/>
    <dgm:cxn modelId="{AAA038A5-B2D7-4440-8725-03FAC1411D35}" type="presParOf" srcId="{99E6072C-129A-D44B-B20F-CD634885D6E8}" destId="{2DB09164-DC18-BC4D-94B9-20BE5A2A3ED8}" srcOrd="3" destOrd="0" presId="urn:microsoft.com/office/officeart/2008/layout/LinedList"/>
    <dgm:cxn modelId="{F4219FC6-36CD-D14F-AD64-28A20B18A184}" type="presParOf" srcId="{2DB09164-DC18-BC4D-94B9-20BE5A2A3ED8}" destId="{A11F861C-D486-604A-9143-EA2F96FEDCC4}" srcOrd="0" destOrd="0" presId="urn:microsoft.com/office/officeart/2008/layout/LinedList"/>
    <dgm:cxn modelId="{C2DF3D84-B4D7-8747-9E1B-57020252BF4E}" type="presParOf" srcId="{2DB09164-DC18-BC4D-94B9-20BE5A2A3ED8}" destId="{6913CC15-8545-9A44-A97B-874CFBA55663}" srcOrd="1" destOrd="0" presId="urn:microsoft.com/office/officeart/2008/layout/LinedList"/>
    <dgm:cxn modelId="{0A39230E-CF9F-7949-B5D5-9CF64DAFF426}" type="presParOf" srcId="{99E6072C-129A-D44B-B20F-CD634885D6E8}" destId="{7BC08CB8-2FF6-F448-A259-C09D9C4B24BB}" srcOrd="4" destOrd="0" presId="urn:microsoft.com/office/officeart/2008/layout/LinedList"/>
    <dgm:cxn modelId="{FF50298C-1E2C-4C41-85C5-F45F56703F1F}" type="presParOf" srcId="{99E6072C-129A-D44B-B20F-CD634885D6E8}" destId="{36AFDC67-9CBE-6842-A686-C148EB281395}" srcOrd="5" destOrd="0" presId="urn:microsoft.com/office/officeart/2008/layout/LinedList"/>
    <dgm:cxn modelId="{02377236-EDAE-E04C-A4A3-3D4AB9286D0E}" type="presParOf" srcId="{36AFDC67-9CBE-6842-A686-C148EB281395}" destId="{48FF7534-267A-F74E-85B9-2188BD374B0C}" srcOrd="0" destOrd="0" presId="urn:microsoft.com/office/officeart/2008/layout/LinedList"/>
    <dgm:cxn modelId="{7E66EA59-9B76-C642-B45B-1CBBA62F58D0}" type="presParOf" srcId="{36AFDC67-9CBE-6842-A686-C148EB281395}" destId="{12CC11A1-4AF0-B54F-AF79-8BB73D33CB2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C56E221-385D-42E1-8A04-9F457258D586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474F8F4-B61F-435C-85F6-59E75F17575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 dirty="0"/>
            <a:t>Workspace-per-security-boundary</a:t>
          </a:r>
          <a:r>
            <a:rPr lang="en-US" sz="2400" dirty="0"/>
            <a:t>: Split items that need different access into separate workspaces rather than trying to share one workspace with complex item-level permissions </a:t>
          </a:r>
        </a:p>
      </dgm:t>
    </dgm:pt>
    <dgm:pt modelId="{C007985F-22F2-43B3-A0D3-67FB3270FDED}" type="parTrans" cxnId="{FF7197B9-8718-4173-9C9F-E15C3F17509F}">
      <dgm:prSet/>
      <dgm:spPr/>
      <dgm:t>
        <a:bodyPr/>
        <a:lstStyle/>
        <a:p>
          <a:endParaRPr lang="en-US"/>
        </a:p>
      </dgm:t>
    </dgm:pt>
    <dgm:pt modelId="{6B11B30C-E98D-430D-8F10-A1ADC9BADF1B}" type="sibTrans" cxnId="{FF7197B9-8718-4173-9C9F-E15C3F17509F}">
      <dgm:prSet/>
      <dgm:spPr/>
      <dgm:t>
        <a:bodyPr/>
        <a:lstStyle/>
        <a:p>
          <a:endParaRPr lang="en-US"/>
        </a:p>
      </dgm:t>
    </dgm:pt>
    <dgm:pt modelId="{97024404-6BE6-49AF-A19A-38F5EBC97DB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/>
            <a:t>Security groups over individuals</a:t>
          </a:r>
          <a:r>
            <a:rPr lang="en-US" sz="2400"/>
            <a:t>: Assign Entra security groups to workspace roles, not individual users — easier to audit and rotate </a:t>
          </a:r>
        </a:p>
      </dgm:t>
    </dgm:pt>
    <dgm:pt modelId="{EED8CC88-D8FB-4ACB-B3EC-21EBBBDF178C}" type="parTrans" cxnId="{9EC65AAA-5E1E-434E-A8EC-2EB052C3361F}">
      <dgm:prSet/>
      <dgm:spPr/>
      <dgm:t>
        <a:bodyPr/>
        <a:lstStyle/>
        <a:p>
          <a:endParaRPr lang="en-US"/>
        </a:p>
      </dgm:t>
    </dgm:pt>
    <dgm:pt modelId="{F76A63D2-2107-46CE-A5FD-FA62F9C5CEBE}" type="sibTrans" cxnId="{9EC65AAA-5E1E-434E-A8EC-2EB052C3361F}">
      <dgm:prSet/>
      <dgm:spPr/>
      <dgm:t>
        <a:bodyPr/>
        <a:lstStyle/>
        <a:p>
          <a:endParaRPr lang="en-US"/>
        </a:p>
      </dgm:t>
    </dgm:pt>
    <dgm:pt modelId="{5FC962F7-C482-4352-8E37-EA842A73612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/>
            <a:t>Least privilege by default</a:t>
          </a:r>
          <a:r>
            <a:rPr lang="en-US" sz="2400"/>
            <a:t>: Default to Viewer; elevate to Contributor only for specific needs with documented justification </a:t>
          </a:r>
        </a:p>
      </dgm:t>
    </dgm:pt>
    <dgm:pt modelId="{C5ED95FB-54CA-447E-B25F-5E38B9170692}" type="parTrans" cxnId="{A060975F-819A-4D6E-845A-C1E04C2267D8}">
      <dgm:prSet/>
      <dgm:spPr/>
      <dgm:t>
        <a:bodyPr/>
        <a:lstStyle/>
        <a:p>
          <a:endParaRPr lang="en-US"/>
        </a:p>
      </dgm:t>
    </dgm:pt>
    <dgm:pt modelId="{62BBE8B8-3557-4078-903E-5A9278EA4C97}" type="sibTrans" cxnId="{A060975F-819A-4D6E-845A-C1E04C2267D8}">
      <dgm:prSet/>
      <dgm:spPr/>
      <dgm:t>
        <a:bodyPr/>
        <a:lstStyle/>
        <a:p>
          <a:endParaRPr lang="en-US"/>
        </a:p>
      </dgm:t>
    </dgm:pt>
    <dgm:pt modelId="{124800F5-7C53-499D-A064-BD046522809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/>
            <a:t>Automated audits</a:t>
          </a:r>
          <a:r>
            <a:rPr lang="en-US" sz="2400"/>
            <a:t>: Use the Fabric Admin REST API to scan workspace memberships on a schedule and flag Contributor+ sprawl </a:t>
          </a:r>
        </a:p>
      </dgm:t>
    </dgm:pt>
    <dgm:pt modelId="{9A54C171-77C7-41B1-B0E0-40AF061AF615}" type="parTrans" cxnId="{7EBC8652-4E00-4EE3-98CF-2114E789CA69}">
      <dgm:prSet/>
      <dgm:spPr/>
      <dgm:t>
        <a:bodyPr/>
        <a:lstStyle/>
        <a:p>
          <a:endParaRPr lang="en-US"/>
        </a:p>
      </dgm:t>
    </dgm:pt>
    <dgm:pt modelId="{64B1B6E6-CE59-47A9-A073-08926A79346C}" type="sibTrans" cxnId="{7EBC8652-4E00-4EE3-98CF-2114E789CA69}">
      <dgm:prSet/>
      <dgm:spPr/>
      <dgm:t>
        <a:bodyPr/>
        <a:lstStyle/>
        <a:p>
          <a:endParaRPr lang="en-US"/>
        </a:p>
      </dgm:t>
    </dgm:pt>
    <dgm:pt modelId="{8D824489-721B-4AC2-94FC-B3D587CAF78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/>
            <a:t>Separate prod from dev</a:t>
          </a:r>
          <a:r>
            <a:rPr lang="en-US" sz="2400"/>
            <a:t>: Never give developers Contributor on production workspaces — use deployment pipelines to promote content instead </a:t>
          </a:r>
        </a:p>
      </dgm:t>
    </dgm:pt>
    <dgm:pt modelId="{B0AC7808-EABF-4BF0-A1DD-C7D6AB2BB5AA}" type="parTrans" cxnId="{65DCA6A8-5366-40D7-8D19-3628EF587B4E}">
      <dgm:prSet/>
      <dgm:spPr/>
      <dgm:t>
        <a:bodyPr/>
        <a:lstStyle/>
        <a:p>
          <a:endParaRPr lang="en-US"/>
        </a:p>
      </dgm:t>
    </dgm:pt>
    <dgm:pt modelId="{82C3FC6D-D3C4-48F3-8FF1-FE9EC5AAEFFD}" type="sibTrans" cxnId="{65DCA6A8-5366-40D7-8D19-3628EF587B4E}">
      <dgm:prSet/>
      <dgm:spPr/>
      <dgm:t>
        <a:bodyPr/>
        <a:lstStyle/>
        <a:p>
          <a:endParaRPr lang="en-US"/>
        </a:p>
      </dgm:t>
    </dgm:pt>
    <dgm:pt modelId="{12758140-4A36-479A-BA38-4C64CB2F70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 dirty="0"/>
            <a:t>Document everything</a:t>
          </a:r>
          <a:r>
            <a:rPr lang="en-US" sz="2400" dirty="0"/>
            <a:t>: Since there's no policy engine to encode your rules, write them down and socialize them relentlessly</a:t>
          </a:r>
        </a:p>
      </dgm:t>
    </dgm:pt>
    <dgm:pt modelId="{4A3AD6AC-08CD-4E88-B000-52139836239F}" type="parTrans" cxnId="{C0850624-304F-4DDD-BAE9-E12AFBE236A6}">
      <dgm:prSet/>
      <dgm:spPr/>
      <dgm:t>
        <a:bodyPr/>
        <a:lstStyle/>
        <a:p>
          <a:endParaRPr lang="en-US"/>
        </a:p>
      </dgm:t>
    </dgm:pt>
    <dgm:pt modelId="{B8C15F6B-3C3B-4C3B-9A2B-D7044C5E3834}" type="sibTrans" cxnId="{C0850624-304F-4DDD-BAE9-E12AFBE236A6}">
      <dgm:prSet/>
      <dgm:spPr/>
      <dgm:t>
        <a:bodyPr/>
        <a:lstStyle/>
        <a:p>
          <a:endParaRPr lang="en-US"/>
        </a:p>
      </dgm:t>
    </dgm:pt>
    <dgm:pt modelId="{21E4B9FD-1B18-4676-B691-ACC244777CA6}" type="pres">
      <dgm:prSet presAssocID="{3C56E221-385D-42E1-8A04-9F457258D586}" presName="root" presStyleCnt="0">
        <dgm:presLayoutVars>
          <dgm:dir/>
          <dgm:resizeHandles val="exact"/>
        </dgm:presLayoutVars>
      </dgm:prSet>
      <dgm:spPr/>
    </dgm:pt>
    <dgm:pt modelId="{E97B3578-199E-44E5-922B-EC87FF411FEB}" type="pres">
      <dgm:prSet presAssocID="{A474F8F4-B61F-435C-85F6-59E75F175758}" presName="compNode" presStyleCnt="0"/>
      <dgm:spPr/>
    </dgm:pt>
    <dgm:pt modelId="{C117AD66-DBE9-4955-B0E3-A250BA04FBCD}" type="pres">
      <dgm:prSet presAssocID="{A474F8F4-B61F-435C-85F6-59E75F175758}" presName="bgRect" presStyleLbl="bgShp" presStyleIdx="0" presStyleCnt="6"/>
      <dgm:spPr/>
    </dgm:pt>
    <dgm:pt modelId="{A9817C3F-4D39-4937-BA41-070CA8F363F8}" type="pres">
      <dgm:prSet presAssocID="{A474F8F4-B61F-435C-85F6-59E75F175758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ABC7A0F9-25E9-45B5-8B94-47CBE5A24969}" type="pres">
      <dgm:prSet presAssocID="{A474F8F4-B61F-435C-85F6-59E75F175758}" presName="spaceRect" presStyleCnt="0"/>
      <dgm:spPr/>
    </dgm:pt>
    <dgm:pt modelId="{ECE8CC76-5F93-49C7-995A-E8A7CC6B3FA1}" type="pres">
      <dgm:prSet presAssocID="{A474F8F4-B61F-435C-85F6-59E75F175758}" presName="parTx" presStyleLbl="revTx" presStyleIdx="0" presStyleCnt="6">
        <dgm:presLayoutVars>
          <dgm:chMax val="0"/>
          <dgm:chPref val="0"/>
        </dgm:presLayoutVars>
      </dgm:prSet>
      <dgm:spPr/>
    </dgm:pt>
    <dgm:pt modelId="{C4C7B77B-4238-4B1C-A47D-E526DE8A0F34}" type="pres">
      <dgm:prSet presAssocID="{6B11B30C-E98D-430D-8F10-A1ADC9BADF1B}" presName="sibTrans" presStyleCnt="0"/>
      <dgm:spPr/>
    </dgm:pt>
    <dgm:pt modelId="{4EC2E101-37D8-4B74-B40B-0AF353FFADCD}" type="pres">
      <dgm:prSet presAssocID="{97024404-6BE6-49AF-A19A-38F5EBC97DB0}" presName="compNode" presStyleCnt="0"/>
      <dgm:spPr/>
    </dgm:pt>
    <dgm:pt modelId="{2CDE6A46-C00B-49F7-9324-47A5EE60B961}" type="pres">
      <dgm:prSet presAssocID="{97024404-6BE6-49AF-A19A-38F5EBC97DB0}" presName="bgRect" presStyleLbl="bgShp" presStyleIdx="1" presStyleCnt="6"/>
      <dgm:spPr/>
    </dgm:pt>
    <dgm:pt modelId="{D7FDC027-EC87-4338-841C-28F52C0CB5E3}" type="pres">
      <dgm:prSet presAssocID="{97024404-6BE6-49AF-A19A-38F5EBC97DB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E95C3F6-CC3B-465E-9F2C-C6A51A7DEEE5}" type="pres">
      <dgm:prSet presAssocID="{97024404-6BE6-49AF-A19A-38F5EBC97DB0}" presName="spaceRect" presStyleCnt="0"/>
      <dgm:spPr/>
    </dgm:pt>
    <dgm:pt modelId="{E88ED3AB-F0C8-479B-A152-95A1659A49F7}" type="pres">
      <dgm:prSet presAssocID="{97024404-6BE6-49AF-A19A-38F5EBC97DB0}" presName="parTx" presStyleLbl="revTx" presStyleIdx="1" presStyleCnt="6">
        <dgm:presLayoutVars>
          <dgm:chMax val="0"/>
          <dgm:chPref val="0"/>
        </dgm:presLayoutVars>
      </dgm:prSet>
      <dgm:spPr/>
    </dgm:pt>
    <dgm:pt modelId="{E9D6411D-6022-4CB9-92BC-D9D944626775}" type="pres">
      <dgm:prSet presAssocID="{F76A63D2-2107-46CE-A5FD-FA62F9C5CEBE}" presName="sibTrans" presStyleCnt="0"/>
      <dgm:spPr/>
    </dgm:pt>
    <dgm:pt modelId="{AD06AA4D-BD0D-4AC9-815B-4A0521542E54}" type="pres">
      <dgm:prSet presAssocID="{5FC962F7-C482-4352-8E37-EA842A73612F}" presName="compNode" presStyleCnt="0"/>
      <dgm:spPr/>
    </dgm:pt>
    <dgm:pt modelId="{92954BFC-C118-48DE-8E38-D67243745AE9}" type="pres">
      <dgm:prSet presAssocID="{5FC962F7-C482-4352-8E37-EA842A73612F}" presName="bgRect" presStyleLbl="bgShp" presStyleIdx="2" presStyleCnt="6"/>
      <dgm:spPr/>
    </dgm:pt>
    <dgm:pt modelId="{17EDC0DA-C4C5-410A-8BE0-D0E3C6BF36E6}" type="pres">
      <dgm:prSet presAssocID="{5FC962F7-C482-4352-8E37-EA842A73612F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363C7A3B-51C3-4E09-A605-900A8B4F095F}" type="pres">
      <dgm:prSet presAssocID="{5FC962F7-C482-4352-8E37-EA842A73612F}" presName="spaceRect" presStyleCnt="0"/>
      <dgm:spPr/>
    </dgm:pt>
    <dgm:pt modelId="{052C80F1-F5EE-48DD-909F-1E12B97F0650}" type="pres">
      <dgm:prSet presAssocID="{5FC962F7-C482-4352-8E37-EA842A73612F}" presName="parTx" presStyleLbl="revTx" presStyleIdx="2" presStyleCnt="6">
        <dgm:presLayoutVars>
          <dgm:chMax val="0"/>
          <dgm:chPref val="0"/>
        </dgm:presLayoutVars>
      </dgm:prSet>
      <dgm:spPr/>
    </dgm:pt>
    <dgm:pt modelId="{F2C8540F-358A-4760-B7B8-7B63BA2753C8}" type="pres">
      <dgm:prSet presAssocID="{62BBE8B8-3557-4078-903E-5A9278EA4C97}" presName="sibTrans" presStyleCnt="0"/>
      <dgm:spPr/>
    </dgm:pt>
    <dgm:pt modelId="{CF251438-C0E2-4D7E-8D42-861DB62AD363}" type="pres">
      <dgm:prSet presAssocID="{124800F5-7C53-499D-A064-BD046522809F}" presName="compNode" presStyleCnt="0"/>
      <dgm:spPr/>
    </dgm:pt>
    <dgm:pt modelId="{F0AF6446-6D2E-4CAA-8588-E0084665D56B}" type="pres">
      <dgm:prSet presAssocID="{124800F5-7C53-499D-A064-BD046522809F}" presName="bgRect" presStyleLbl="bgShp" presStyleIdx="3" presStyleCnt="6"/>
      <dgm:spPr/>
    </dgm:pt>
    <dgm:pt modelId="{87274118-FD27-4C3F-9870-CB8162BC0C12}" type="pres">
      <dgm:prSet presAssocID="{124800F5-7C53-499D-A064-BD046522809F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4C3C84D-E905-4EE2-9D16-6A02633747DC}" type="pres">
      <dgm:prSet presAssocID="{124800F5-7C53-499D-A064-BD046522809F}" presName="spaceRect" presStyleCnt="0"/>
      <dgm:spPr/>
    </dgm:pt>
    <dgm:pt modelId="{0D2B1E5C-7B93-44A1-BC94-11DAD64120F0}" type="pres">
      <dgm:prSet presAssocID="{124800F5-7C53-499D-A064-BD046522809F}" presName="parTx" presStyleLbl="revTx" presStyleIdx="3" presStyleCnt="6">
        <dgm:presLayoutVars>
          <dgm:chMax val="0"/>
          <dgm:chPref val="0"/>
        </dgm:presLayoutVars>
      </dgm:prSet>
      <dgm:spPr/>
    </dgm:pt>
    <dgm:pt modelId="{CA23D9EE-D5B5-4E19-961A-447E5540794D}" type="pres">
      <dgm:prSet presAssocID="{64B1B6E6-CE59-47A9-A073-08926A79346C}" presName="sibTrans" presStyleCnt="0"/>
      <dgm:spPr/>
    </dgm:pt>
    <dgm:pt modelId="{5A2E2DFA-2EC0-4C1E-8882-1AF62990BCD7}" type="pres">
      <dgm:prSet presAssocID="{8D824489-721B-4AC2-94FC-B3D587CAF78F}" presName="compNode" presStyleCnt="0"/>
      <dgm:spPr/>
    </dgm:pt>
    <dgm:pt modelId="{C78C4A43-0565-468A-8509-0DC30AEE2BCB}" type="pres">
      <dgm:prSet presAssocID="{8D824489-721B-4AC2-94FC-B3D587CAF78F}" presName="bgRect" presStyleLbl="bgShp" presStyleIdx="4" presStyleCnt="6"/>
      <dgm:spPr/>
    </dgm:pt>
    <dgm:pt modelId="{BC4DBD53-D32A-48A3-B5CE-11068D8375E3}" type="pres">
      <dgm:prSet presAssocID="{8D824489-721B-4AC2-94FC-B3D587CAF78F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6AD6AE7-0B07-449E-A39E-C8414E91AB5C}" type="pres">
      <dgm:prSet presAssocID="{8D824489-721B-4AC2-94FC-B3D587CAF78F}" presName="spaceRect" presStyleCnt="0"/>
      <dgm:spPr/>
    </dgm:pt>
    <dgm:pt modelId="{0FABC103-60C3-4181-91F4-2D76D8C1198F}" type="pres">
      <dgm:prSet presAssocID="{8D824489-721B-4AC2-94FC-B3D587CAF78F}" presName="parTx" presStyleLbl="revTx" presStyleIdx="4" presStyleCnt="6">
        <dgm:presLayoutVars>
          <dgm:chMax val="0"/>
          <dgm:chPref val="0"/>
        </dgm:presLayoutVars>
      </dgm:prSet>
      <dgm:spPr/>
    </dgm:pt>
    <dgm:pt modelId="{1F808E16-7DEE-4D47-8AD6-F89C64EB0C99}" type="pres">
      <dgm:prSet presAssocID="{82C3FC6D-D3C4-48F3-8FF1-FE9EC5AAEFFD}" presName="sibTrans" presStyleCnt="0"/>
      <dgm:spPr/>
    </dgm:pt>
    <dgm:pt modelId="{B6B5DD70-9A9D-4880-B0AB-71033FE8F884}" type="pres">
      <dgm:prSet presAssocID="{12758140-4A36-479A-BA38-4C64CB2F7033}" presName="compNode" presStyleCnt="0"/>
      <dgm:spPr/>
    </dgm:pt>
    <dgm:pt modelId="{8CC19D6F-C3D8-49F7-85E7-22274F399C00}" type="pres">
      <dgm:prSet presAssocID="{12758140-4A36-479A-BA38-4C64CB2F7033}" presName="bgRect" presStyleLbl="bgShp" presStyleIdx="5" presStyleCnt="6"/>
      <dgm:spPr/>
    </dgm:pt>
    <dgm:pt modelId="{0C00B671-937D-44E8-8DBA-08EB8EFEFF49}" type="pres">
      <dgm:prSet presAssocID="{12758140-4A36-479A-BA38-4C64CB2F703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45F508C-926C-4C5C-B038-29772E985DE9}" type="pres">
      <dgm:prSet presAssocID="{12758140-4A36-479A-BA38-4C64CB2F7033}" presName="spaceRect" presStyleCnt="0"/>
      <dgm:spPr/>
    </dgm:pt>
    <dgm:pt modelId="{14BDF25C-6D5D-4645-9E89-540DE491681D}" type="pres">
      <dgm:prSet presAssocID="{12758140-4A36-479A-BA38-4C64CB2F703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0850624-304F-4DDD-BAE9-E12AFBE236A6}" srcId="{3C56E221-385D-42E1-8A04-9F457258D586}" destId="{12758140-4A36-479A-BA38-4C64CB2F7033}" srcOrd="5" destOrd="0" parTransId="{4A3AD6AC-08CD-4E88-B000-52139836239F}" sibTransId="{B8C15F6B-3C3B-4C3B-9A2B-D7044C5E3834}"/>
    <dgm:cxn modelId="{F43AA626-EEAB-43C6-B519-499F8F29FD94}" type="presOf" srcId="{A474F8F4-B61F-435C-85F6-59E75F175758}" destId="{ECE8CC76-5F93-49C7-995A-E8A7CC6B3FA1}" srcOrd="0" destOrd="0" presId="urn:microsoft.com/office/officeart/2018/2/layout/IconVerticalSolidList"/>
    <dgm:cxn modelId="{34E8C828-6DA9-44EC-A063-E2E2E406E977}" type="presOf" srcId="{5FC962F7-C482-4352-8E37-EA842A73612F}" destId="{052C80F1-F5EE-48DD-909F-1E12B97F0650}" srcOrd="0" destOrd="0" presId="urn:microsoft.com/office/officeart/2018/2/layout/IconVerticalSolidList"/>
    <dgm:cxn modelId="{87D7D644-7073-4880-A712-8EF53840C738}" type="presOf" srcId="{8D824489-721B-4AC2-94FC-B3D587CAF78F}" destId="{0FABC103-60C3-4181-91F4-2D76D8C1198F}" srcOrd="0" destOrd="0" presId="urn:microsoft.com/office/officeart/2018/2/layout/IconVerticalSolidList"/>
    <dgm:cxn modelId="{7EBC8652-4E00-4EE3-98CF-2114E789CA69}" srcId="{3C56E221-385D-42E1-8A04-9F457258D586}" destId="{124800F5-7C53-499D-A064-BD046522809F}" srcOrd="3" destOrd="0" parTransId="{9A54C171-77C7-41B1-B0E0-40AF061AF615}" sibTransId="{64B1B6E6-CE59-47A9-A073-08926A79346C}"/>
    <dgm:cxn modelId="{A060975F-819A-4D6E-845A-C1E04C2267D8}" srcId="{3C56E221-385D-42E1-8A04-9F457258D586}" destId="{5FC962F7-C482-4352-8E37-EA842A73612F}" srcOrd="2" destOrd="0" parTransId="{C5ED95FB-54CA-447E-B25F-5E38B9170692}" sibTransId="{62BBE8B8-3557-4078-903E-5A9278EA4C97}"/>
    <dgm:cxn modelId="{BE17E26C-E5B9-42AA-9D26-8CA888414ED0}" type="presOf" srcId="{3C56E221-385D-42E1-8A04-9F457258D586}" destId="{21E4B9FD-1B18-4676-B691-ACC244777CA6}" srcOrd="0" destOrd="0" presId="urn:microsoft.com/office/officeart/2018/2/layout/IconVerticalSolidList"/>
    <dgm:cxn modelId="{35A55775-5FF3-4626-A8F6-75784E36D678}" type="presOf" srcId="{97024404-6BE6-49AF-A19A-38F5EBC97DB0}" destId="{E88ED3AB-F0C8-479B-A152-95A1659A49F7}" srcOrd="0" destOrd="0" presId="urn:microsoft.com/office/officeart/2018/2/layout/IconVerticalSolidList"/>
    <dgm:cxn modelId="{65DCA6A8-5366-40D7-8D19-3628EF587B4E}" srcId="{3C56E221-385D-42E1-8A04-9F457258D586}" destId="{8D824489-721B-4AC2-94FC-B3D587CAF78F}" srcOrd="4" destOrd="0" parTransId="{B0AC7808-EABF-4BF0-A1DD-C7D6AB2BB5AA}" sibTransId="{82C3FC6D-D3C4-48F3-8FF1-FE9EC5AAEFFD}"/>
    <dgm:cxn modelId="{9EC65AAA-5E1E-434E-A8EC-2EB052C3361F}" srcId="{3C56E221-385D-42E1-8A04-9F457258D586}" destId="{97024404-6BE6-49AF-A19A-38F5EBC97DB0}" srcOrd="1" destOrd="0" parTransId="{EED8CC88-D8FB-4ACB-B3EC-21EBBBDF178C}" sibTransId="{F76A63D2-2107-46CE-A5FD-FA62F9C5CEBE}"/>
    <dgm:cxn modelId="{FFFCE8AB-BACE-4F0F-8B8E-12A80E2FE6A2}" type="presOf" srcId="{124800F5-7C53-499D-A064-BD046522809F}" destId="{0D2B1E5C-7B93-44A1-BC94-11DAD64120F0}" srcOrd="0" destOrd="0" presId="urn:microsoft.com/office/officeart/2018/2/layout/IconVerticalSolidList"/>
    <dgm:cxn modelId="{FF7197B9-8718-4173-9C9F-E15C3F17509F}" srcId="{3C56E221-385D-42E1-8A04-9F457258D586}" destId="{A474F8F4-B61F-435C-85F6-59E75F175758}" srcOrd="0" destOrd="0" parTransId="{C007985F-22F2-43B3-A0D3-67FB3270FDED}" sibTransId="{6B11B30C-E98D-430D-8F10-A1ADC9BADF1B}"/>
    <dgm:cxn modelId="{7EA741CE-3F0C-48D1-BC15-CE4CC964E3D8}" type="presOf" srcId="{12758140-4A36-479A-BA38-4C64CB2F7033}" destId="{14BDF25C-6D5D-4645-9E89-540DE491681D}" srcOrd="0" destOrd="0" presId="urn:microsoft.com/office/officeart/2018/2/layout/IconVerticalSolidList"/>
    <dgm:cxn modelId="{2728F9E9-3CBB-486A-B2CB-9D2A8355B593}" type="presParOf" srcId="{21E4B9FD-1B18-4676-B691-ACC244777CA6}" destId="{E97B3578-199E-44E5-922B-EC87FF411FEB}" srcOrd="0" destOrd="0" presId="urn:microsoft.com/office/officeart/2018/2/layout/IconVerticalSolidList"/>
    <dgm:cxn modelId="{DB3DAAB8-392B-450F-AA49-A380C8352554}" type="presParOf" srcId="{E97B3578-199E-44E5-922B-EC87FF411FEB}" destId="{C117AD66-DBE9-4955-B0E3-A250BA04FBCD}" srcOrd="0" destOrd="0" presId="urn:microsoft.com/office/officeart/2018/2/layout/IconVerticalSolidList"/>
    <dgm:cxn modelId="{26A61E5A-4F3A-40C6-A88F-80FDF70DFA1A}" type="presParOf" srcId="{E97B3578-199E-44E5-922B-EC87FF411FEB}" destId="{A9817C3F-4D39-4937-BA41-070CA8F363F8}" srcOrd="1" destOrd="0" presId="urn:microsoft.com/office/officeart/2018/2/layout/IconVerticalSolidList"/>
    <dgm:cxn modelId="{BD065ACF-57BB-48EA-AC23-577F883C751B}" type="presParOf" srcId="{E97B3578-199E-44E5-922B-EC87FF411FEB}" destId="{ABC7A0F9-25E9-45B5-8B94-47CBE5A24969}" srcOrd="2" destOrd="0" presId="urn:microsoft.com/office/officeart/2018/2/layout/IconVerticalSolidList"/>
    <dgm:cxn modelId="{E4154EFC-1606-4D65-8760-2F8FF5B1ACD1}" type="presParOf" srcId="{E97B3578-199E-44E5-922B-EC87FF411FEB}" destId="{ECE8CC76-5F93-49C7-995A-E8A7CC6B3FA1}" srcOrd="3" destOrd="0" presId="urn:microsoft.com/office/officeart/2018/2/layout/IconVerticalSolidList"/>
    <dgm:cxn modelId="{C0F2811D-E5EA-44B4-9455-42C926D90049}" type="presParOf" srcId="{21E4B9FD-1B18-4676-B691-ACC244777CA6}" destId="{C4C7B77B-4238-4B1C-A47D-E526DE8A0F34}" srcOrd="1" destOrd="0" presId="urn:microsoft.com/office/officeart/2018/2/layout/IconVerticalSolidList"/>
    <dgm:cxn modelId="{4CBFD5B5-74B1-4740-8B27-544627130A57}" type="presParOf" srcId="{21E4B9FD-1B18-4676-B691-ACC244777CA6}" destId="{4EC2E101-37D8-4B74-B40B-0AF353FFADCD}" srcOrd="2" destOrd="0" presId="urn:microsoft.com/office/officeart/2018/2/layout/IconVerticalSolidList"/>
    <dgm:cxn modelId="{98AF1367-11AB-46E5-AF0E-24C0E44FB2C1}" type="presParOf" srcId="{4EC2E101-37D8-4B74-B40B-0AF353FFADCD}" destId="{2CDE6A46-C00B-49F7-9324-47A5EE60B961}" srcOrd="0" destOrd="0" presId="urn:microsoft.com/office/officeart/2018/2/layout/IconVerticalSolidList"/>
    <dgm:cxn modelId="{60D6C624-A3BB-47DE-85CD-58F04B4AA69A}" type="presParOf" srcId="{4EC2E101-37D8-4B74-B40B-0AF353FFADCD}" destId="{D7FDC027-EC87-4338-841C-28F52C0CB5E3}" srcOrd="1" destOrd="0" presId="urn:microsoft.com/office/officeart/2018/2/layout/IconVerticalSolidList"/>
    <dgm:cxn modelId="{B3D776BD-0FB4-4C7F-832A-6D7FB31DAD24}" type="presParOf" srcId="{4EC2E101-37D8-4B74-B40B-0AF353FFADCD}" destId="{EE95C3F6-CC3B-465E-9F2C-C6A51A7DEEE5}" srcOrd="2" destOrd="0" presId="urn:microsoft.com/office/officeart/2018/2/layout/IconVerticalSolidList"/>
    <dgm:cxn modelId="{20051A20-7D8A-4BAF-A1E2-FAD045CDA10A}" type="presParOf" srcId="{4EC2E101-37D8-4B74-B40B-0AF353FFADCD}" destId="{E88ED3AB-F0C8-479B-A152-95A1659A49F7}" srcOrd="3" destOrd="0" presId="urn:microsoft.com/office/officeart/2018/2/layout/IconVerticalSolidList"/>
    <dgm:cxn modelId="{A10D60EA-3569-46FB-AA93-E78674B4B1C2}" type="presParOf" srcId="{21E4B9FD-1B18-4676-B691-ACC244777CA6}" destId="{E9D6411D-6022-4CB9-92BC-D9D944626775}" srcOrd="3" destOrd="0" presId="urn:microsoft.com/office/officeart/2018/2/layout/IconVerticalSolidList"/>
    <dgm:cxn modelId="{E667556A-2731-4731-97A3-A0F7036B81A7}" type="presParOf" srcId="{21E4B9FD-1B18-4676-B691-ACC244777CA6}" destId="{AD06AA4D-BD0D-4AC9-815B-4A0521542E54}" srcOrd="4" destOrd="0" presId="urn:microsoft.com/office/officeart/2018/2/layout/IconVerticalSolidList"/>
    <dgm:cxn modelId="{F595C2A3-D0D8-4379-A561-E73148B139DE}" type="presParOf" srcId="{AD06AA4D-BD0D-4AC9-815B-4A0521542E54}" destId="{92954BFC-C118-48DE-8E38-D67243745AE9}" srcOrd="0" destOrd="0" presId="urn:microsoft.com/office/officeart/2018/2/layout/IconVerticalSolidList"/>
    <dgm:cxn modelId="{1D2B4259-B397-49A5-8257-0341B8F22BE6}" type="presParOf" srcId="{AD06AA4D-BD0D-4AC9-815B-4A0521542E54}" destId="{17EDC0DA-C4C5-410A-8BE0-D0E3C6BF36E6}" srcOrd="1" destOrd="0" presId="urn:microsoft.com/office/officeart/2018/2/layout/IconVerticalSolidList"/>
    <dgm:cxn modelId="{6C9EF542-CFDC-4911-AE46-DB233E891156}" type="presParOf" srcId="{AD06AA4D-BD0D-4AC9-815B-4A0521542E54}" destId="{363C7A3B-51C3-4E09-A605-900A8B4F095F}" srcOrd="2" destOrd="0" presId="urn:microsoft.com/office/officeart/2018/2/layout/IconVerticalSolidList"/>
    <dgm:cxn modelId="{6FF7177A-222A-4C69-AB2C-452FFCB21F2C}" type="presParOf" srcId="{AD06AA4D-BD0D-4AC9-815B-4A0521542E54}" destId="{052C80F1-F5EE-48DD-909F-1E12B97F0650}" srcOrd="3" destOrd="0" presId="urn:microsoft.com/office/officeart/2018/2/layout/IconVerticalSolidList"/>
    <dgm:cxn modelId="{4FF4EFE6-1B4A-4FBC-A930-48F3D1BDCCC4}" type="presParOf" srcId="{21E4B9FD-1B18-4676-B691-ACC244777CA6}" destId="{F2C8540F-358A-4760-B7B8-7B63BA2753C8}" srcOrd="5" destOrd="0" presId="urn:microsoft.com/office/officeart/2018/2/layout/IconVerticalSolidList"/>
    <dgm:cxn modelId="{97AA5851-DBF0-4890-B619-9FB902E825DB}" type="presParOf" srcId="{21E4B9FD-1B18-4676-B691-ACC244777CA6}" destId="{CF251438-C0E2-4D7E-8D42-861DB62AD363}" srcOrd="6" destOrd="0" presId="urn:microsoft.com/office/officeart/2018/2/layout/IconVerticalSolidList"/>
    <dgm:cxn modelId="{8486EBD0-CF8A-475F-8704-49DA0534FE92}" type="presParOf" srcId="{CF251438-C0E2-4D7E-8D42-861DB62AD363}" destId="{F0AF6446-6D2E-4CAA-8588-E0084665D56B}" srcOrd="0" destOrd="0" presId="urn:microsoft.com/office/officeart/2018/2/layout/IconVerticalSolidList"/>
    <dgm:cxn modelId="{424FCB49-80F4-429A-9AA7-B9B94EF31909}" type="presParOf" srcId="{CF251438-C0E2-4D7E-8D42-861DB62AD363}" destId="{87274118-FD27-4C3F-9870-CB8162BC0C12}" srcOrd="1" destOrd="0" presId="urn:microsoft.com/office/officeart/2018/2/layout/IconVerticalSolidList"/>
    <dgm:cxn modelId="{E876627C-882D-4876-8D9E-774C3DBBA6F0}" type="presParOf" srcId="{CF251438-C0E2-4D7E-8D42-861DB62AD363}" destId="{E4C3C84D-E905-4EE2-9D16-6A02633747DC}" srcOrd="2" destOrd="0" presId="urn:microsoft.com/office/officeart/2018/2/layout/IconVerticalSolidList"/>
    <dgm:cxn modelId="{143D3A1D-8602-4DF3-AEF3-AAB8C850E0C8}" type="presParOf" srcId="{CF251438-C0E2-4D7E-8D42-861DB62AD363}" destId="{0D2B1E5C-7B93-44A1-BC94-11DAD64120F0}" srcOrd="3" destOrd="0" presId="urn:microsoft.com/office/officeart/2018/2/layout/IconVerticalSolidList"/>
    <dgm:cxn modelId="{DF6DF30C-FCAF-49ED-B992-37DCB59249A5}" type="presParOf" srcId="{21E4B9FD-1B18-4676-B691-ACC244777CA6}" destId="{CA23D9EE-D5B5-4E19-961A-447E5540794D}" srcOrd="7" destOrd="0" presId="urn:microsoft.com/office/officeart/2018/2/layout/IconVerticalSolidList"/>
    <dgm:cxn modelId="{FE193768-FE34-40F0-9128-3A94685E9FAC}" type="presParOf" srcId="{21E4B9FD-1B18-4676-B691-ACC244777CA6}" destId="{5A2E2DFA-2EC0-4C1E-8882-1AF62990BCD7}" srcOrd="8" destOrd="0" presId="urn:microsoft.com/office/officeart/2018/2/layout/IconVerticalSolidList"/>
    <dgm:cxn modelId="{EF2BB941-21BD-4E10-910A-26D5908EA761}" type="presParOf" srcId="{5A2E2DFA-2EC0-4C1E-8882-1AF62990BCD7}" destId="{C78C4A43-0565-468A-8509-0DC30AEE2BCB}" srcOrd="0" destOrd="0" presId="urn:microsoft.com/office/officeart/2018/2/layout/IconVerticalSolidList"/>
    <dgm:cxn modelId="{87AAFDE1-03B1-49EA-A1A5-3F1F97922ADE}" type="presParOf" srcId="{5A2E2DFA-2EC0-4C1E-8882-1AF62990BCD7}" destId="{BC4DBD53-D32A-48A3-B5CE-11068D8375E3}" srcOrd="1" destOrd="0" presId="urn:microsoft.com/office/officeart/2018/2/layout/IconVerticalSolidList"/>
    <dgm:cxn modelId="{FF1C9F9B-BE94-4A9D-AFE4-471605CCEBFC}" type="presParOf" srcId="{5A2E2DFA-2EC0-4C1E-8882-1AF62990BCD7}" destId="{E6AD6AE7-0B07-449E-A39E-C8414E91AB5C}" srcOrd="2" destOrd="0" presId="urn:microsoft.com/office/officeart/2018/2/layout/IconVerticalSolidList"/>
    <dgm:cxn modelId="{6528E288-D337-441D-8169-C32607958023}" type="presParOf" srcId="{5A2E2DFA-2EC0-4C1E-8882-1AF62990BCD7}" destId="{0FABC103-60C3-4181-91F4-2D76D8C1198F}" srcOrd="3" destOrd="0" presId="urn:microsoft.com/office/officeart/2018/2/layout/IconVerticalSolidList"/>
    <dgm:cxn modelId="{6DA33D97-B4E8-4A6D-9E10-C19D0C38F2FC}" type="presParOf" srcId="{21E4B9FD-1B18-4676-B691-ACC244777CA6}" destId="{1F808E16-7DEE-4D47-8AD6-F89C64EB0C99}" srcOrd="9" destOrd="0" presId="urn:microsoft.com/office/officeart/2018/2/layout/IconVerticalSolidList"/>
    <dgm:cxn modelId="{EAF7F083-8C1E-47F0-8F40-E0AFC592F8D8}" type="presParOf" srcId="{21E4B9FD-1B18-4676-B691-ACC244777CA6}" destId="{B6B5DD70-9A9D-4880-B0AB-71033FE8F884}" srcOrd="10" destOrd="0" presId="urn:microsoft.com/office/officeart/2018/2/layout/IconVerticalSolidList"/>
    <dgm:cxn modelId="{D880902A-CAEC-4BFE-9E3D-DB7F03BF9C06}" type="presParOf" srcId="{B6B5DD70-9A9D-4880-B0AB-71033FE8F884}" destId="{8CC19D6F-C3D8-49F7-85E7-22274F399C00}" srcOrd="0" destOrd="0" presId="urn:microsoft.com/office/officeart/2018/2/layout/IconVerticalSolidList"/>
    <dgm:cxn modelId="{4F9B02FF-C886-4608-9ED2-65365FF86783}" type="presParOf" srcId="{B6B5DD70-9A9D-4880-B0AB-71033FE8F884}" destId="{0C00B671-937D-44E8-8DBA-08EB8EFEFF49}" srcOrd="1" destOrd="0" presId="urn:microsoft.com/office/officeart/2018/2/layout/IconVerticalSolidList"/>
    <dgm:cxn modelId="{B971974A-AFC3-4289-B934-815B7D0A4DD8}" type="presParOf" srcId="{B6B5DD70-9A9D-4880-B0AB-71033FE8F884}" destId="{C45F508C-926C-4C5C-B038-29772E985DE9}" srcOrd="2" destOrd="0" presId="urn:microsoft.com/office/officeart/2018/2/layout/IconVerticalSolidList"/>
    <dgm:cxn modelId="{F3FE0287-2C02-4D9F-965C-19EEE01D8A7F}" type="presParOf" srcId="{B6B5DD70-9A9D-4880-B0AB-71033FE8F884}" destId="{14BDF25C-6D5D-4645-9E89-540DE49168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B446F82-4DFA-4049-9510-AFAEAE1592FE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08A8A02E-E9A1-464B-8A14-330114E349A3}">
      <dgm:prSet/>
      <dgm:spPr/>
      <dgm:t>
        <a:bodyPr/>
        <a:lstStyle/>
        <a:p>
          <a:r>
            <a:rPr lang="en-US"/>
            <a:t>Fabric capacities can throttle and even suspend under sustained overload — understand the smoothing and throttling model</a:t>
          </a:r>
        </a:p>
      </dgm:t>
    </dgm:pt>
    <dgm:pt modelId="{0B98865B-EE81-D048-8DFE-4AB18D13E421}" type="parTrans" cxnId="{F1ABA5C0-D57B-2843-90F1-546B0678E0EE}">
      <dgm:prSet/>
      <dgm:spPr/>
      <dgm:t>
        <a:bodyPr/>
        <a:lstStyle/>
        <a:p>
          <a:endParaRPr lang="en-US"/>
        </a:p>
      </dgm:t>
    </dgm:pt>
    <dgm:pt modelId="{347B461F-FE2F-F742-BF2F-8FD20F735B24}" type="sibTrans" cxnId="{F1ABA5C0-D57B-2843-90F1-546B0678E0EE}">
      <dgm:prSet/>
      <dgm:spPr/>
      <dgm:t>
        <a:bodyPr/>
        <a:lstStyle/>
        <a:p>
          <a:endParaRPr lang="en-US"/>
        </a:p>
      </dgm:t>
    </dgm:pt>
    <dgm:pt modelId="{1961070B-1CD3-F845-B0E9-601B8AD1DAA2}">
      <dgm:prSet/>
      <dgm:spPr/>
      <dgm:t>
        <a:bodyPr/>
        <a:lstStyle/>
        <a:p>
          <a:r>
            <a:rPr lang="en-US"/>
            <a:t>Separate workloads by criticality: don't run exploratory notebooks on the same capacity as mission-critical reporting</a:t>
          </a:r>
        </a:p>
      </dgm:t>
    </dgm:pt>
    <dgm:pt modelId="{50714047-C44B-D349-AE3C-C3E6A013442F}" type="parTrans" cxnId="{AEE5CEC6-A13B-6E47-9C9D-31F5F806C634}">
      <dgm:prSet/>
      <dgm:spPr/>
      <dgm:t>
        <a:bodyPr/>
        <a:lstStyle/>
        <a:p>
          <a:endParaRPr lang="en-US"/>
        </a:p>
      </dgm:t>
    </dgm:pt>
    <dgm:pt modelId="{9A8E1946-2B1D-E640-8197-B09F40BAB982}" type="sibTrans" cxnId="{AEE5CEC6-A13B-6E47-9C9D-31F5F806C634}">
      <dgm:prSet/>
      <dgm:spPr/>
      <dgm:t>
        <a:bodyPr/>
        <a:lstStyle/>
        <a:p>
          <a:endParaRPr lang="en-US"/>
        </a:p>
      </dgm:t>
    </dgm:pt>
    <dgm:pt modelId="{D4A931B4-4960-6041-8371-2A155C1D3761}">
      <dgm:prSet/>
      <dgm:spPr/>
      <dgm:t>
        <a:bodyPr/>
        <a:lstStyle/>
        <a:p>
          <a:r>
            <a:rPr lang="en-US"/>
            <a:t>This reinforces the BU / Function / Environment segmentation argument</a:t>
          </a:r>
        </a:p>
      </dgm:t>
    </dgm:pt>
    <dgm:pt modelId="{8E4B3ADD-E54D-644D-A982-D4E19BDF1B49}" type="parTrans" cxnId="{56E6C3FB-EA99-1944-9DDA-F6CDB3274056}">
      <dgm:prSet/>
      <dgm:spPr/>
      <dgm:t>
        <a:bodyPr/>
        <a:lstStyle/>
        <a:p>
          <a:endParaRPr lang="en-US"/>
        </a:p>
      </dgm:t>
    </dgm:pt>
    <dgm:pt modelId="{485077DD-D61F-A849-B050-E5993D411D0D}" type="sibTrans" cxnId="{56E6C3FB-EA99-1944-9DDA-F6CDB3274056}">
      <dgm:prSet/>
      <dgm:spPr/>
      <dgm:t>
        <a:bodyPr/>
        <a:lstStyle/>
        <a:p>
          <a:endParaRPr lang="en-US"/>
        </a:p>
      </dgm:t>
    </dgm:pt>
    <dgm:pt modelId="{E2959314-7762-B845-B0B5-9A005EBFA939}" type="pres">
      <dgm:prSet presAssocID="{2B446F82-4DFA-4049-9510-AFAEAE1592FE}" presName="linear" presStyleCnt="0">
        <dgm:presLayoutVars>
          <dgm:animLvl val="lvl"/>
          <dgm:resizeHandles val="exact"/>
        </dgm:presLayoutVars>
      </dgm:prSet>
      <dgm:spPr/>
    </dgm:pt>
    <dgm:pt modelId="{69423610-B422-E14C-970D-59F5B6C1A3A2}" type="pres">
      <dgm:prSet presAssocID="{08A8A02E-E9A1-464B-8A14-330114E349A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0352925-ED98-A944-A849-1C506309129E}" type="pres">
      <dgm:prSet presAssocID="{347B461F-FE2F-F742-BF2F-8FD20F735B24}" presName="spacer" presStyleCnt="0"/>
      <dgm:spPr/>
    </dgm:pt>
    <dgm:pt modelId="{096E2345-A7E1-6744-BC10-78A2EA642D29}" type="pres">
      <dgm:prSet presAssocID="{1961070B-1CD3-F845-B0E9-601B8AD1DAA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A157FFC-FF2D-7044-BFA4-DFF32BFE5473}" type="pres">
      <dgm:prSet presAssocID="{9A8E1946-2B1D-E640-8197-B09F40BAB982}" presName="spacer" presStyleCnt="0"/>
      <dgm:spPr/>
    </dgm:pt>
    <dgm:pt modelId="{BDFDF849-79DF-5F44-9981-1CB4AA0879B0}" type="pres">
      <dgm:prSet presAssocID="{D4A931B4-4960-6041-8371-2A155C1D376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025A90D-CE2C-E148-B70A-45B1AF18C4A6}" type="presOf" srcId="{08A8A02E-E9A1-464B-8A14-330114E349A3}" destId="{69423610-B422-E14C-970D-59F5B6C1A3A2}" srcOrd="0" destOrd="0" presId="urn:microsoft.com/office/officeart/2005/8/layout/vList2"/>
    <dgm:cxn modelId="{0E04E441-ED36-B344-B19A-BA7936AECF8F}" type="presOf" srcId="{2B446F82-4DFA-4049-9510-AFAEAE1592FE}" destId="{E2959314-7762-B845-B0B5-9A005EBFA939}" srcOrd="0" destOrd="0" presId="urn:microsoft.com/office/officeart/2005/8/layout/vList2"/>
    <dgm:cxn modelId="{CE102468-5732-DE49-9A12-6D8B40B285D4}" type="presOf" srcId="{D4A931B4-4960-6041-8371-2A155C1D3761}" destId="{BDFDF849-79DF-5F44-9981-1CB4AA0879B0}" srcOrd="0" destOrd="0" presId="urn:microsoft.com/office/officeart/2005/8/layout/vList2"/>
    <dgm:cxn modelId="{F1ABA5C0-D57B-2843-90F1-546B0678E0EE}" srcId="{2B446F82-4DFA-4049-9510-AFAEAE1592FE}" destId="{08A8A02E-E9A1-464B-8A14-330114E349A3}" srcOrd="0" destOrd="0" parTransId="{0B98865B-EE81-D048-8DFE-4AB18D13E421}" sibTransId="{347B461F-FE2F-F742-BF2F-8FD20F735B24}"/>
    <dgm:cxn modelId="{AEE5CEC6-A13B-6E47-9C9D-31F5F806C634}" srcId="{2B446F82-4DFA-4049-9510-AFAEAE1592FE}" destId="{1961070B-1CD3-F845-B0E9-601B8AD1DAA2}" srcOrd="1" destOrd="0" parTransId="{50714047-C44B-D349-AE3C-C3E6A013442F}" sibTransId="{9A8E1946-2B1D-E640-8197-B09F40BAB982}"/>
    <dgm:cxn modelId="{31D562F8-6EDB-4F44-AD46-FC6F18FA4839}" type="presOf" srcId="{1961070B-1CD3-F845-B0E9-601B8AD1DAA2}" destId="{096E2345-A7E1-6744-BC10-78A2EA642D29}" srcOrd="0" destOrd="0" presId="urn:microsoft.com/office/officeart/2005/8/layout/vList2"/>
    <dgm:cxn modelId="{56E6C3FB-EA99-1944-9DDA-F6CDB3274056}" srcId="{2B446F82-4DFA-4049-9510-AFAEAE1592FE}" destId="{D4A931B4-4960-6041-8371-2A155C1D3761}" srcOrd="2" destOrd="0" parTransId="{8E4B3ADD-E54D-644D-A982-D4E19BDF1B49}" sibTransId="{485077DD-D61F-A849-B050-E5993D411D0D}"/>
    <dgm:cxn modelId="{720EA24B-F5DD-E649-A2DE-121FB18011A8}" type="presParOf" srcId="{E2959314-7762-B845-B0B5-9A005EBFA939}" destId="{69423610-B422-E14C-970D-59F5B6C1A3A2}" srcOrd="0" destOrd="0" presId="urn:microsoft.com/office/officeart/2005/8/layout/vList2"/>
    <dgm:cxn modelId="{BB5500D8-FB2E-E14C-BE10-A37041E74692}" type="presParOf" srcId="{E2959314-7762-B845-B0B5-9A005EBFA939}" destId="{F0352925-ED98-A944-A849-1C506309129E}" srcOrd="1" destOrd="0" presId="urn:microsoft.com/office/officeart/2005/8/layout/vList2"/>
    <dgm:cxn modelId="{679D6FE4-5A5D-8D41-9A1B-E3E7EA9331B4}" type="presParOf" srcId="{E2959314-7762-B845-B0B5-9A005EBFA939}" destId="{096E2345-A7E1-6744-BC10-78A2EA642D29}" srcOrd="2" destOrd="0" presId="urn:microsoft.com/office/officeart/2005/8/layout/vList2"/>
    <dgm:cxn modelId="{87279DE6-C23A-8447-85E2-ACB023A5AB30}" type="presParOf" srcId="{E2959314-7762-B845-B0B5-9A005EBFA939}" destId="{5A157FFC-FF2D-7044-BFA4-DFF32BFE5473}" srcOrd="3" destOrd="0" presId="urn:microsoft.com/office/officeart/2005/8/layout/vList2"/>
    <dgm:cxn modelId="{1FF9D2D0-1F17-4045-9D4B-B0E5CE3D9AEA}" type="presParOf" srcId="{E2959314-7762-B845-B0B5-9A005EBFA939}" destId="{BDFDF849-79DF-5F44-9981-1CB4AA0879B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3E5F3F4-7D16-FD4C-9380-E30CDD27B7C2}" type="doc">
      <dgm:prSet loTypeId="urn:microsoft.com/office/officeart/2005/8/layout/venn1" loCatId="relationship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391B2839-EED9-A443-9971-65EDC475F614}">
      <dgm:prSet/>
      <dgm:spPr/>
      <dgm:t>
        <a:bodyPr/>
        <a:lstStyle/>
        <a:p>
          <a:r>
            <a:rPr lang="en-US"/>
            <a:t>Fabric is region-pinned — understand your BCDR story for regional outages</a:t>
          </a:r>
        </a:p>
      </dgm:t>
    </dgm:pt>
    <dgm:pt modelId="{8530E678-043A-0245-BA2B-FEB49368BF13}" type="parTrans" cxnId="{D561FDDB-6364-F941-8CB5-8EC9299DC13A}">
      <dgm:prSet/>
      <dgm:spPr/>
      <dgm:t>
        <a:bodyPr/>
        <a:lstStyle/>
        <a:p>
          <a:endParaRPr lang="en-US"/>
        </a:p>
      </dgm:t>
    </dgm:pt>
    <dgm:pt modelId="{3634DCD1-E20C-6946-938C-DD1602F57C58}" type="sibTrans" cxnId="{D561FDDB-6364-F941-8CB5-8EC9299DC13A}">
      <dgm:prSet/>
      <dgm:spPr/>
      <dgm:t>
        <a:bodyPr/>
        <a:lstStyle/>
        <a:p>
          <a:endParaRPr lang="en-US"/>
        </a:p>
      </dgm:t>
    </dgm:pt>
    <dgm:pt modelId="{B0545167-5294-464D-B5F3-8F17CF30DD3B}">
      <dgm:prSet/>
      <dgm:spPr/>
      <dgm:t>
        <a:bodyPr/>
        <a:lstStyle/>
        <a:p>
          <a:r>
            <a:rPr lang="en-US"/>
            <a:t>OneLake data replication options and workspace-level BCDR are still maturing</a:t>
          </a:r>
        </a:p>
      </dgm:t>
    </dgm:pt>
    <dgm:pt modelId="{6AEFEF61-4FD8-3B43-853A-C02C3739C963}" type="parTrans" cxnId="{52130BA4-1848-194A-A8D5-66107E64252A}">
      <dgm:prSet/>
      <dgm:spPr/>
      <dgm:t>
        <a:bodyPr/>
        <a:lstStyle/>
        <a:p>
          <a:endParaRPr lang="en-US"/>
        </a:p>
      </dgm:t>
    </dgm:pt>
    <dgm:pt modelId="{F4B416BA-9089-144C-923F-C17FF6FD8C3C}" type="sibTrans" cxnId="{52130BA4-1848-194A-A8D5-66107E64252A}">
      <dgm:prSet/>
      <dgm:spPr/>
      <dgm:t>
        <a:bodyPr/>
        <a:lstStyle/>
        <a:p>
          <a:endParaRPr lang="en-US"/>
        </a:p>
      </dgm:t>
    </dgm:pt>
    <dgm:pt modelId="{B9827111-4D6D-B546-BDBA-D65EDEC14151}">
      <dgm:prSet/>
      <dgm:spPr/>
      <dgm:t>
        <a:bodyPr/>
        <a:lstStyle/>
        <a:p>
          <a:r>
            <a:rPr lang="en-US" dirty="0"/>
            <a:t>Maintain pipeline definitions and semantic model metadata in source control (Git integration) as your recovery baseline</a:t>
          </a:r>
        </a:p>
      </dgm:t>
    </dgm:pt>
    <dgm:pt modelId="{2F43520E-E071-2342-B9A4-B365664F8284}" type="parTrans" cxnId="{DD33A3FE-A246-CC44-A3D1-97279854A450}">
      <dgm:prSet/>
      <dgm:spPr/>
      <dgm:t>
        <a:bodyPr/>
        <a:lstStyle/>
        <a:p>
          <a:endParaRPr lang="en-US"/>
        </a:p>
      </dgm:t>
    </dgm:pt>
    <dgm:pt modelId="{F0A243C0-31FF-DB4B-B3D1-6DC44E4A9352}" type="sibTrans" cxnId="{DD33A3FE-A246-CC44-A3D1-97279854A450}">
      <dgm:prSet/>
      <dgm:spPr/>
      <dgm:t>
        <a:bodyPr/>
        <a:lstStyle/>
        <a:p>
          <a:endParaRPr lang="en-US"/>
        </a:p>
      </dgm:t>
    </dgm:pt>
    <dgm:pt modelId="{08260AF1-EF9E-1349-A8F7-38AD8B2112CC}" type="pres">
      <dgm:prSet presAssocID="{03E5F3F4-7D16-FD4C-9380-E30CDD27B7C2}" presName="compositeShape" presStyleCnt="0">
        <dgm:presLayoutVars>
          <dgm:chMax val="7"/>
          <dgm:dir/>
          <dgm:resizeHandles val="exact"/>
        </dgm:presLayoutVars>
      </dgm:prSet>
      <dgm:spPr/>
    </dgm:pt>
    <dgm:pt modelId="{BE16C0AB-5DFB-5049-83E8-B28B88206770}" type="pres">
      <dgm:prSet presAssocID="{391B2839-EED9-A443-9971-65EDC475F614}" presName="circ1" presStyleLbl="vennNode1" presStyleIdx="0" presStyleCnt="3"/>
      <dgm:spPr/>
    </dgm:pt>
    <dgm:pt modelId="{CF056E20-2BC6-A84F-9F35-DD24E3397B27}" type="pres">
      <dgm:prSet presAssocID="{391B2839-EED9-A443-9971-65EDC475F614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858E061-64F0-E847-AFFD-190D4F810014}" type="pres">
      <dgm:prSet presAssocID="{B0545167-5294-464D-B5F3-8F17CF30DD3B}" presName="circ2" presStyleLbl="vennNode1" presStyleIdx="1" presStyleCnt="3"/>
      <dgm:spPr/>
    </dgm:pt>
    <dgm:pt modelId="{86490FB4-DEC9-7144-822F-5328C995E8EE}" type="pres">
      <dgm:prSet presAssocID="{B0545167-5294-464D-B5F3-8F17CF30DD3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923CC8E-C1F6-1F42-9EC2-999CF6CFAC9C}" type="pres">
      <dgm:prSet presAssocID="{B9827111-4D6D-B546-BDBA-D65EDEC14151}" presName="circ3" presStyleLbl="vennNode1" presStyleIdx="2" presStyleCnt="3"/>
      <dgm:spPr/>
    </dgm:pt>
    <dgm:pt modelId="{72EA4452-8291-5941-9BD0-159068E8E933}" type="pres">
      <dgm:prSet presAssocID="{B9827111-4D6D-B546-BDBA-D65EDEC14151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98BE3825-3BE7-4A4A-AD4C-7759EE461BE8}" type="presOf" srcId="{B9827111-4D6D-B546-BDBA-D65EDEC14151}" destId="{0923CC8E-C1F6-1F42-9EC2-999CF6CFAC9C}" srcOrd="0" destOrd="0" presId="urn:microsoft.com/office/officeart/2005/8/layout/venn1"/>
    <dgm:cxn modelId="{3CE57F51-6484-AA43-A665-1C7C385CC030}" type="presOf" srcId="{B0545167-5294-464D-B5F3-8F17CF30DD3B}" destId="{9858E061-64F0-E847-AFFD-190D4F810014}" srcOrd="0" destOrd="0" presId="urn:microsoft.com/office/officeart/2005/8/layout/venn1"/>
    <dgm:cxn modelId="{CA274B6F-6309-E34D-A989-51D7B69ECF08}" type="presOf" srcId="{391B2839-EED9-A443-9971-65EDC475F614}" destId="{CF056E20-2BC6-A84F-9F35-DD24E3397B27}" srcOrd="1" destOrd="0" presId="urn:microsoft.com/office/officeart/2005/8/layout/venn1"/>
    <dgm:cxn modelId="{4F764074-77CA-1C4B-9609-534B34FB1600}" type="presOf" srcId="{B9827111-4D6D-B546-BDBA-D65EDEC14151}" destId="{72EA4452-8291-5941-9BD0-159068E8E933}" srcOrd="1" destOrd="0" presId="urn:microsoft.com/office/officeart/2005/8/layout/venn1"/>
    <dgm:cxn modelId="{10DB988C-1A98-B64A-83C5-64C7260BE3BB}" type="presOf" srcId="{03E5F3F4-7D16-FD4C-9380-E30CDD27B7C2}" destId="{08260AF1-EF9E-1349-A8F7-38AD8B2112CC}" srcOrd="0" destOrd="0" presId="urn:microsoft.com/office/officeart/2005/8/layout/venn1"/>
    <dgm:cxn modelId="{52130BA4-1848-194A-A8D5-66107E64252A}" srcId="{03E5F3F4-7D16-FD4C-9380-E30CDD27B7C2}" destId="{B0545167-5294-464D-B5F3-8F17CF30DD3B}" srcOrd="1" destOrd="0" parTransId="{6AEFEF61-4FD8-3B43-853A-C02C3739C963}" sibTransId="{F4B416BA-9089-144C-923F-C17FF6FD8C3C}"/>
    <dgm:cxn modelId="{6D9BDDAE-1499-B142-B8EC-E1A264A31E60}" type="presOf" srcId="{B0545167-5294-464D-B5F3-8F17CF30DD3B}" destId="{86490FB4-DEC9-7144-822F-5328C995E8EE}" srcOrd="1" destOrd="0" presId="urn:microsoft.com/office/officeart/2005/8/layout/venn1"/>
    <dgm:cxn modelId="{9464E4CC-6BA1-2243-A371-E98CD076BA10}" type="presOf" srcId="{391B2839-EED9-A443-9971-65EDC475F614}" destId="{BE16C0AB-5DFB-5049-83E8-B28B88206770}" srcOrd="0" destOrd="0" presId="urn:microsoft.com/office/officeart/2005/8/layout/venn1"/>
    <dgm:cxn modelId="{D561FDDB-6364-F941-8CB5-8EC9299DC13A}" srcId="{03E5F3F4-7D16-FD4C-9380-E30CDD27B7C2}" destId="{391B2839-EED9-A443-9971-65EDC475F614}" srcOrd="0" destOrd="0" parTransId="{8530E678-043A-0245-BA2B-FEB49368BF13}" sibTransId="{3634DCD1-E20C-6946-938C-DD1602F57C58}"/>
    <dgm:cxn modelId="{DD33A3FE-A246-CC44-A3D1-97279854A450}" srcId="{03E5F3F4-7D16-FD4C-9380-E30CDD27B7C2}" destId="{B9827111-4D6D-B546-BDBA-D65EDEC14151}" srcOrd="2" destOrd="0" parTransId="{2F43520E-E071-2342-B9A4-B365664F8284}" sibTransId="{F0A243C0-31FF-DB4B-B3D1-6DC44E4A9352}"/>
    <dgm:cxn modelId="{AD01F70C-2802-3540-AF07-34F1A32F0B06}" type="presParOf" srcId="{08260AF1-EF9E-1349-A8F7-38AD8B2112CC}" destId="{BE16C0AB-5DFB-5049-83E8-B28B88206770}" srcOrd="0" destOrd="0" presId="urn:microsoft.com/office/officeart/2005/8/layout/venn1"/>
    <dgm:cxn modelId="{19F16621-108A-B345-A086-E75B1BA6728C}" type="presParOf" srcId="{08260AF1-EF9E-1349-A8F7-38AD8B2112CC}" destId="{CF056E20-2BC6-A84F-9F35-DD24E3397B27}" srcOrd="1" destOrd="0" presId="urn:microsoft.com/office/officeart/2005/8/layout/venn1"/>
    <dgm:cxn modelId="{012E00D8-7AA4-6144-B3EA-8F663C63D6B4}" type="presParOf" srcId="{08260AF1-EF9E-1349-A8F7-38AD8B2112CC}" destId="{9858E061-64F0-E847-AFFD-190D4F810014}" srcOrd="2" destOrd="0" presId="urn:microsoft.com/office/officeart/2005/8/layout/venn1"/>
    <dgm:cxn modelId="{8E0BF6CB-BC6B-4A42-8F92-C58A0DB67821}" type="presParOf" srcId="{08260AF1-EF9E-1349-A8F7-38AD8B2112CC}" destId="{86490FB4-DEC9-7144-822F-5328C995E8EE}" srcOrd="3" destOrd="0" presId="urn:microsoft.com/office/officeart/2005/8/layout/venn1"/>
    <dgm:cxn modelId="{ED2DCBCF-5844-3E4C-B43D-01C39B218145}" type="presParOf" srcId="{08260AF1-EF9E-1349-A8F7-38AD8B2112CC}" destId="{0923CC8E-C1F6-1F42-9EC2-999CF6CFAC9C}" srcOrd="4" destOrd="0" presId="urn:microsoft.com/office/officeart/2005/8/layout/venn1"/>
    <dgm:cxn modelId="{1D76B936-635F-F343-9903-82CEDAF2F389}" type="presParOf" srcId="{08260AF1-EF9E-1349-A8F7-38AD8B2112CC}" destId="{72EA4452-8291-5941-9BD0-159068E8E93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B499856-FD4E-46E8-BB31-0C66B8DDEFC1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DE9EA1D-23AE-4B03-83EA-13DC553E787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dirty="0"/>
            <a:t>Capacity Units (CUs) are your currency — consumed differently by Spark, SQL, Power BI, Data Pipelines</a:t>
          </a:r>
        </a:p>
      </dgm:t>
    </dgm:pt>
    <dgm:pt modelId="{874C7568-818B-4AF6-9DAF-46C16F0B2D4E}" type="parTrans" cxnId="{13ABD6F4-EAB5-4277-B783-25320704AAB6}">
      <dgm:prSet/>
      <dgm:spPr/>
      <dgm:t>
        <a:bodyPr/>
        <a:lstStyle/>
        <a:p>
          <a:endParaRPr lang="en-US"/>
        </a:p>
      </dgm:t>
    </dgm:pt>
    <dgm:pt modelId="{9A098064-E4DF-48E1-B772-63D573349940}" type="sibTrans" cxnId="{13ABD6F4-EAB5-4277-B783-25320704AAB6}">
      <dgm:prSet/>
      <dgm:spPr/>
      <dgm:t>
        <a:bodyPr/>
        <a:lstStyle/>
        <a:p>
          <a:endParaRPr lang="en-US"/>
        </a:p>
      </dgm:t>
    </dgm:pt>
    <dgm:pt modelId="{3A3C05BF-F7DC-496A-A937-0C3D70DBE0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/>
            <a:t>Segmented capacities make cost attribution straightforward via Azure Cost Management</a:t>
          </a:r>
        </a:p>
      </dgm:t>
    </dgm:pt>
    <dgm:pt modelId="{D6C1EA1C-67AC-44E2-8E3F-99A15F7A370B}" type="parTrans" cxnId="{C52D67B9-0936-4C67-A999-5D908D61C859}">
      <dgm:prSet/>
      <dgm:spPr/>
      <dgm:t>
        <a:bodyPr/>
        <a:lstStyle/>
        <a:p>
          <a:endParaRPr lang="en-US"/>
        </a:p>
      </dgm:t>
    </dgm:pt>
    <dgm:pt modelId="{BEDC6C47-492C-4408-BC0B-1418739544B4}" type="sibTrans" cxnId="{C52D67B9-0936-4C67-A999-5D908D61C859}">
      <dgm:prSet/>
      <dgm:spPr/>
      <dgm:t>
        <a:bodyPr/>
        <a:lstStyle/>
        <a:p>
          <a:endParaRPr lang="en-US"/>
        </a:p>
      </dgm:t>
    </dgm:pt>
    <dgm:pt modelId="{CB4F6C0E-C626-459D-9F5B-E6D8057D560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dirty="0"/>
            <a:t>Right-size capacities per environment: Prod might be F64, Dev might be F2</a:t>
          </a:r>
        </a:p>
      </dgm:t>
    </dgm:pt>
    <dgm:pt modelId="{F47B5AFA-D8CD-4C02-BCE3-32934116B89C}" type="parTrans" cxnId="{9D0A730E-63EB-4E63-A164-34585FBCE214}">
      <dgm:prSet/>
      <dgm:spPr/>
      <dgm:t>
        <a:bodyPr/>
        <a:lstStyle/>
        <a:p>
          <a:endParaRPr lang="en-US"/>
        </a:p>
      </dgm:t>
    </dgm:pt>
    <dgm:pt modelId="{C6C586AF-48CC-48C3-A2CE-4E977F348B21}" type="sibTrans" cxnId="{9D0A730E-63EB-4E63-A164-34585FBCE214}">
      <dgm:prSet/>
      <dgm:spPr/>
      <dgm:t>
        <a:bodyPr/>
        <a:lstStyle/>
        <a:p>
          <a:endParaRPr lang="en-US"/>
        </a:p>
      </dgm:t>
    </dgm:pt>
    <dgm:pt modelId="{1DCEF8E4-74D6-4A90-A7C3-FC2A3FB3B5DD}" type="pres">
      <dgm:prSet presAssocID="{BB499856-FD4E-46E8-BB31-0C66B8DDEFC1}" presName="root" presStyleCnt="0">
        <dgm:presLayoutVars>
          <dgm:dir/>
          <dgm:resizeHandles val="exact"/>
        </dgm:presLayoutVars>
      </dgm:prSet>
      <dgm:spPr/>
    </dgm:pt>
    <dgm:pt modelId="{7844175E-BCD0-43F1-ADBD-D64B18690EB4}" type="pres">
      <dgm:prSet presAssocID="{DDE9EA1D-23AE-4B03-83EA-13DC553E787E}" presName="compNode" presStyleCnt="0"/>
      <dgm:spPr/>
    </dgm:pt>
    <dgm:pt modelId="{FC6287E2-4883-478D-928D-ABCEA334E4AF}" type="pres">
      <dgm:prSet presAssocID="{DDE9EA1D-23AE-4B03-83EA-13DC553E787E}" presName="bgRect" presStyleLbl="bgShp" presStyleIdx="0" presStyleCnt="3" custLinFactNeighborY="3421"/>
      <dgm:spPr/>
    </dgm:pt>
    <dgm:pt modelId="{198F3328-D407-4D55-AFCC-8EF4FFB0F457}" type="pres">
      <dgm:prSet presAssocID="{DDE9EA1D-23AE-4B03-83EA-13DC553E787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6A54C4E-47EF-49CB-8043-1761494A91FC}" type="pres">
      <dgm:prSet presAssocID="{DDE9EA1D-23AE-4B03-83EA-13DC553E787E}" presName="spaceRect" presStyleCnt="0"/>
      <dgm:spPr/>
    </dgm:pt>
    <dgm:pt modelId="{5D6F804D-0178-42BF-BA49-4A29729C8D7D}" type="pres">
      <dgm:prSet presAssocID="{DDE9EA1D-23AE-4B03-83EA-13DC553E787E}" presName="parTx" presStyleLbl="revTx" presStyleIdx="0" presStyleCnt="3">
        <dgm:presLayoutVars>
          <dgm:chMax val="0"/>
          <dgm:chPref val="0"/>
        </dgm:presLayoutVars>
      </dgm:prSet>
      <dgm:spPr/>
    </dgm:pt>
    <dgm:pt modelId="{C8180154-72F7-40E4-9A6D-59DFA5866723}" type="pres">
      <dgm:prSet presAssocID="{9A098064-E4DF-48E1-B772-63D573349940}" presName="sibTrans" presStyleCnt="0"/>
      <dgm:spPr/>
    </dgm:pt>
    <dgm:pt modelId="{CA5CB9C9-6807-463F-B04E-36485BB3F9BD}" type="pres">
      <dgm:prSet presAssocID="{3A3C05BF-F7DC-496A-A937-0C3D70DBE0E6}" presName="compNode" presStyleCnt="0"/>
      <dgm:spPr/>
    </dgm:pt>
    <dgm:pt modelId="{C436909B-C46B-465A-8C33-BE7F46887A13}" type="pres">
      <dgm:prSet presAssocID="{3A3C05BF-F7DC-496A-A937-0C3D70DBE0E6}" presName="bgRect" presStyleLbl="bgShp" presStyleIdx="1" presStyleCnt="3"/>
      <dgm:spPr/>
    </dgm:pt>
    <dgm:pt modelId="{E13B8632-5AE9-46A3-ADA6-108E47338E29}" type="pres">
      <dgm:prSet presAssocID="{3A3C05BF-F7DC-496A-A937-0C3D70DBE0E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63CC3C4-B7B6-43F4-A881-83C249DD017A}" type="pres">
      <dgm:prSet presAssocID="{3A3C05BF-F7DC-496A-A937-0C3D70DBE0E6}" presName="spaceRect" presStyleCnt="0"/>
      <dgm:spPr/>
    </dgm:pt>
    <dgm:pt modelId="{9CE5AF01-D8B5-468B-8624-657795941679}" type="pres">
      <dgm:prSet presAssocID="{3A3C05BF-F7DC-496A-A937-0C3D70DBE0E6}" presName="parTx" presStyleLbl="revTx" presStyleIdx="1" presStyleCnt="3">
        <dgm:presLayoutVars>
          <dgm:chMax val="0"/>
          <dgm:chPref val="0"/>
        </dgm:presLayoutVars>
      </dgm:prSet>
      <dgm:spPr/>
    </dgm:pt>
    <dgm:pt modelId="{0488412B-72A1-4098-B3D1-874D5C1AB862}" type="pres">
      <dgm:prSet presAssocID="{BEDC6C47-492C-4408-BC0B-1418739544B4}" presName="sibTrans" presStyleCnt="0"/>
      <dgm:spPr/>
    </dgm:pt>
    <dgm:pt modelId="{744E61C9-E037-4845-8E0D-4792AB9BE6CE}" type="pres">
      <dgm:prSet presAssocID="{CB4F6C0E-C626-459D-9F5B-E6D8057D5606}" presName="compNode" presStyleCnt="0"/>
      <dgm:spPr/>
    </dgm:pt>
    <dgm:pt modelId="{3BF05F13-5BEB-4D8D-A520-0C7FF91729D8}" type="pres">
      <dgm:prSet presAssocID="{CB4F6C0E-C626-459D-9F5B-E6D8057D5606}" presName="bgRect" presStyleLbl="bgShp" presStyleIdx="2" presStyleCnt="3"/>
      <dgm:spPr/>
    </dgm:pt>
    <dgm:pt modelId="{2B4FEAFB-4072-4075-8B16-C70BF512DF3C}" type="pres">
      <dgm:prSet presAssocID="{CB4F6C0E-C626-459D-9F5B-E6D8057D560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45FC7F13-AAD6-4F9E-84C7-897016D0E02D}" type="pres">
      <dgm:prSet presAssocID="{CB4F6C0E-C626-459D-9F5B-E6D8057D5606}" presName="spaceRect" presStyleCnt="0"/>
      <dgm:spPr/>
    </dgm:pt>
    <dgm:pt modelId="{21DB1F74-17C5-4A10-B4BC-9CB161CEB4B6}" type="pres">
      <dgm:prSet presAssocID="{CB4F6C0E-C626-459D-9F5B-E6D8057D560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C2C2503-6CC1-4580-B9DD-AF34D2424C53}" type="presOf" srcId="{CB4F6C0E-C626-459D-9F5B-E6D8057D5606}" destId="{21DB1F74-17C5-4A10-B4BC-9CB161CEB4B6}" srcOrd="0" destOrd="0" presId="urn:microsoft.com/office/officeart/2018/2/layout/IconVerticalSolidList"/>
    <dgm:cxn modelId="{9D0A730E-63EB-4E63-A164-34585FBCE214}" srcId="{BB499856-FD4E-46E8-BB31-0C66B8DDEFC1}" destId="{CB4F6C0E-C626-459D-9F5B-E6D8057D5606}" srcOrd="2" destOrd="0" parTransId="{F47B5AFA-D8CD-4C02-BCE3-32934116B89C}" sibTransId="{C6C586AF-48CC-48C3-A2CE-4E977F348B21}"/>
    <dgm:cxn modelId="{F1ABADB5-FBE0-42A6-8186-7C0B156A9351}" type="presOf" srcId="{DDE9EA1D-23AE-4B03-83EA-13DC553E787E}" destId="{5D6F804D-0178-42BF-BA49-4A29729C8D7D}" srcOrd="0" destOrd="0" presId="urn:microsoft.com/office/officeart/2018/2/layout/IconVerticalSolidList"/>
    <dgm:cxn modelId="{C52D67B9-0936-4C67-A999-5D908D61C859}" srcId="{BB499856-FD4E-46E8-BB31-0C66B8DDEFC1}" destId="{3A3C05BF-F7DC-496A-A937-0C3D70DBE0E6}" srcOrd="1" destOrd="0" parTransId="{D6C1EA1C-67AC-44E2-8E3F-99A15F7A370B}" sibTransId="{BEDC6C47-492C-4408-BC0B-1418739544B4}"/>
    <dgm:cxn modelId="{E0AE13C4-BD0B-4048-9FA5-F3B923F3E642}" type="presOf" srcId="{BB499856-FD4E-46E8-BB31-0C66B8DDEFC1}" destId="{1DCEF8E4-74D6-4A90-A7C3-FC2A3FB3B5DD}" srcOrd="0" destOrd="0" presId="urn:microsoft.com/office/officeart/2018/2/layout/IconVerticalSolidList"/>
    <dgm:cxn modelId="{997526D9-93C2-4FD5-AF75-6822B94FB65F}" type="presOf" srcId="{3A3C05BF-F7DC-496A-A937-0C3D70DBE0E6}" destId="{9CE5AF01-D8B5-468B-8624-657795941679}" srcOrd="0" destOrd="0" presId="urn:microsoft.com/office/officeart/2018/2/layout/IconVerticalSolidList"/>
    <dgm:cxn modelId="{13ABD6F4-EAB5-4277-B783-25320704AAB6}" srcId="{BB499856-FD4E-46E8-BB31-0C66B8DDEFC1}" destId="{DDE9EA1D-23AE-4B03-83EA-13DC553E787E}" srcOrd="0" destOrd="0" parTransId="{874C7568-818B-4AF6-9DAF-46C16F0B2D4E}" sibTransId="{9A098064-E4DF-48E1-B772-63D573349940}"/>
    <dgm:cxn modelId="{B49FB659-7768-4954-8261-774163460014}" type="presParOf" srcId="{1DCEF8E4-74D6-4A90-A7C3-FC2A3FB3B5DD}" destId="{7844175E-BCD0-43F1-ADBD-D64B18690EB4}" srcOrd="0" destOrd="0" presId="urn:microsoft.com/office/officeart/2018/2/layout/IconVerticalSolidList"/>
    <dgm:cxn modelId="{71747C1C-B811-4F60-821E-986069D33FDB}" type="presParOf" srcId="{7844175E-BCD0-43F1-ADBD-D64B18690EB4}" destId="{FC6287E2-4883-478D-928D-ABCEA334E4AF}" srcOrd="0" destOrd="0" presId="urn:microsoft.com/office/officeart/2018/2/layout/IconVerticalSolidList"/>
    <dgm:cxn modelId="{4E75642D-8EA3-4832-ACEE-FBE40ED47558}" type="presParOf" srcId="{7844175E-BCD0-43F1-ADBD-D64B18690EB4}" destId="{198F3328-D407-4D55-AFCC-8EF4FFB0F457}" srcOrd="1" destOrd="0" presId="urn:microsoft.com/office/officeart/2018/2/layout/IconVerticalSolidList"/>
    <dgm:cxn modelId="{04EF390B-64AD-4F93-99CD-6EC91CFC41EC}" type="presParOf" srcId="{7844175E-BCD0-43F1-ADBD-D64B18690EB4}" destId="{36A54C4E-47EF-49CB-8043-1761494A91FC}" srcOrd="2" destOrd="0" presId="urn:microsoft.com/office/officeart/2018/2/layout/IconVerticalSolidList"/>
    <dgm:cxn modelId="{50DE63A3-A1DB-4765-B904-0D7E9F5CECF8}" type="presParOf" srcId="{7844175E-BCD0-43F1-ADBD-D64B18690EB4}" destId="{5D6F804D-0178-42BF-BA49-4A29729C8D7D}" srcOrd="3" destOrd="0" presId="urn:microsoft.com/office/officeart/2018/2/layout/IconVerticalSolidList"/>
    <dgm:cxn modelId="{EF0C4904-423D-4FEF-8B4C-37A5823471FB}" type="presParOf" srcId="{1DCEF8E4-74D6-4A90-A7C3-FC2A3FB3B5DD}" destId="{C8180154-72F7-40E4-9A6D-59DFA5866723}" srcOrd="1" destOrd="0" presId="urn:microsoft.com/office/officeart/2018/2/layout/IconVerticalSolidList"/>
    <dgm:cxn modelId="{C15104CA-3AE2-4215-A354-5518D80866C7}" type="presParOf" srcId="{1DCEF8E4-74D6-4A90-A7C3-FC2A3FB3B5DD}" destId="{CA5CB9C9-6807-463F-B04E-36485BB3F9BD}" srcOrd="2" destOrd="0" presId="urn:microsoft.com/office/officeart/2018/2/layout/IconVerticalSolidList"/>
    <dgm:cxn modelId="{90B2E223-952C-4C61-B90A-16A0AB73AB2D}" type="presParOf" srcId="{CA5CB9C9-6807-463F-B04E-36485BB3F9BD}" destId="{C436909B-C46B-465A-8C33-BE7F46887A13}" srcOrd="0" destOrd="0" presId="urn:microsoft.com/office/officeart/2018/2/layout/IconVerticalSolidList"/>
    <dgm:cxn modelId="{87DAAE15-9332-4DBD-BA36-4176C99AE41C}" type="presParOf" srcId="{CA5CB9C9-6807-463F-B04E-36485BB3F9BD}" destId="{E13B8632-5AE9-46A3-ADA6-108E47338E29}" srcOrd="1" destOrd="0" presId="urn:microsoft.com/office/officeart/2018/2/layout/IconVerticalSolidList"/>
    <dgm:cxn modelId="{B749D674-5789-4188-9FA9-F071CF5BDCD1}" type="presParOf" srcId="{CA5CB9C9-6807-463F-B04E-36485BB3F9BD}" destId="{863CC3C4-B7B6-43F4-A881-83C249DD017A}" srcOrd="2" destOrd="0" presId="urn:microsoft.com/office/officeart/2018/2/layout/IconVerticalSolidList"/>
    <dgm:cxn modelId="{D6B98172-8227-43C3-95FD-C68C47177E2D}" type="presParOf" srcId="{CA5CB9C9-6807-463F-B04E-36485BB3F9BD}" destId="{9CE5AF01-D8B5-468B-8624-657795941679}" srcOrd="3" destOrd="0" presId="urn:microsoft.com/office/officeart/2018/2/layout/IconVerticalSolidList"/>
    <dgm:cxn modelId="{3F085875-D2A6-487C-B630-8B0A98D13F86}" type="presParOf" srcId="{1DCEF8E4-74D6-4A90-A7C3-FC2A3FB3B5DD}" destId="{0488412B-72A1-4098-B3D1-874D5C1AB862}" srcOrd="3" destOrd="0" presId="urn:microsoft.com/office/officeart/2018/2/layout/IconVerticalSolidList"/>
    <dgm:cxn modelId="{37468B06-5238-4DE0-9E62-8D5917129A41}" type="presParOf" srcId="{1DCEF8E4-74D6-4A90-A7C3-FC2A3FB3B5DD}" destId="{744E61C9-E037-4845-8E0D-4792AB9BE6CE}" srcOrd="4" destOrd="0" presId="urn:microsoft.com/office/officeart/2018/2/layout/IconVerticalSolidList"/>
    <dgm:cxn modelId="{FF417CF6-DE5E-4084-BE24-05D5B374A2D6}" type="presParOf" srcId="{744E61C9-E037-4845-8E0D-4792AB9BE6CE}" destId="{3BF05F13-5BEB-4D8D-A520-0C7FF91729D8}" srcOrd="0" destOrd="0" presId="urn:microsoft.com/office/officeart/2018/2/layout/IconVerticalSolidList"/>
    <dgm:cxn modelId="{B8EEFC62-5C29-4166-AA08-55BA8B06DBF7}" type="presParOf" srcId="{744E61C9-E037-4845-8E0D-4792AB9BE6CE}" destId="{2B4FEAFB-4072-4075-8B16-C70BF512DF3C}" srcOrd="1" destOrd="0" presId="urn:microsoft.com/office/officeart/2018/2/layout/IconVerticalSolidList"/>
    <dgm:cxn modelId="{30A3F7C6-CDCC-4BC7-A0B4-11821850CCC2}" type="presParOf" srcId="{744E61C9-E037-4845-8E0D-4792AB9BE6CE}" destId="{45FC7F13-AAD6-4F9E-84C7-897016D0E02D}" srcOrd="2" destOrd="0" presId="urn:microsoft.com/office/officeart/2018/2/layout/IconVerticalSolidList"/>
    <dgm:cxn modelId="{92B6EDE5-B5E8-4D73-9901-65B8BF577136}" type="presParOf" srcId="{744E61C9-E037-4845-8E0D-4792AB9BE6CE}" destId="{21DB1F74-17C5-4A10-B4BC-9CB161CEB4B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F7DDF05-B051-3348-8976-82FD1507E649}" type="doc">
      <dgm:prSet loTypeId="urn:microsoft.com/office/officeart/2008/layout/LinedList" loCatId="icon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0F39BE13-FAA4-2148-B784-4B8E7E341795}">
      <dgm:prSet/>
      <dgm:spPr/>
      <dgm:t>
        <a:bodyPr/>
        <a:lstStyle/>
        <a:p>
          <a:r>
            <a:rPr lang="en-US"/>
            <a:t>Auto-pause / auto-scale strategies for non-production capacities</a:t>
          </a:r>
        </a:p>
      </dgm:t>
    </dgm:pt>
    <dgm:pt modelId="{72E4A9AA-7E99-2C40-97B0-16D4DDC1C913}" type="parTrans" cxnId="{16922986-96FC-9746-B760-3B9A58BEC535}">
      <dgm:prSet/>
      <dgm:spPr/>
      <dgm:t>
        <a:bodyPr/>
        <a:lstStyle/>
        <a:p>
          <a:endParaRPr lang="en-US"/>
        </a:p>
      </dgm:t>
    </dgm:pt>
    <dgm:pt modelId="{B04588FD-7E5E-9C45-A638-72A7DF844EEC}" type="sibTrans" cxnId="{16922986-96FC-9746-B760-3B9A58BEC535}">
      <dgm:prSet/>
      <dgm:spPr/>
      <dgm:t>
        <a:bodyPr/>
        <a:lstStyle/>
        <a:p>
          <a:endParaRPr lang="en-US"/>
        </a:p>
      </dgm:t>
    </dgm:pt>
    <dgm:pt modelId="{1878AB66-2872-F74F-A37D-17FC4F2B5C80}">
      <dgm:prSet/>
      <dgm:spPr/>
      <dgm:t>
        <a:bodyPr/>
        <a:lstStyle/>
        <a:p>
          <a:r>
            <a:rPr lang="en-US"/>
            <a:t>Monitor CU consumption with the Fabric Capacity Metrics app (or use FUAM)</a:t>
          </a:r>
        </a:p>
      </dgm:t>
    </dgm:pt>
    <dgm:pt modelId="{C29E579D-653D-394F-9910-2D6C7A78B2B5}" type="parTrans" cxnId="{0A72AB27-0348-E949-A530-AD04472EC26F}">
      <dgm:prSet/>
      <dgm:spPr/>
      <dgm:t>
        <a:bodyPr/>
        <a:lstStyle/>
        <a:p>
          <a:endParaRPr lang="en-US"/>
        </a:p>
      </dgm:t>
    </dgm:pt>
    <dgm:pt modelId="{38F92CCC-C675-8945-98EC-1C3FD1CA840E}" type="sibTrans" cxnId="{0A72AB27-0348-E949-A530-AD04472EC26F}">
      <dgm:prSet/>
      <dgm:spPr/>
      <dgm:t>
        <a:bodyPr/>
        <a:lstStyle/>
        <a:p>
          <a:endParaRPr lang="en-US"/>
        </a:p>
      </dgm:t>
    </dgm:pt>
    <dgm:pt modelId="{EF687488-FA49-C24B-A180-B1C7C4956856}">
      <dgm:prSet/>
      <dgm:spPr/>
      <dgm:t>
        <a:bodyPr/>
        <a:lstStyle/>
        <a:p>
          <a:r>
            <a:rPr lang="en-US"/>
            <a:t>Set budgets and alerts at the Azure resource level (the capacity itself is an ARM resource)</a:t>
          </a:r>
        </a:p>
      </dgm:t>
    </dgm:pt>
    <dgm:pt modelId="{EDDB045F-C2DF-4442-A4E2-7BC4E3BDA5FC}" type="parTrans" cxnId="{E09B51BB-FEF7-5D44-9F46-1CE9288FFEDB}">
      <dgm:prSet/>
      <dgm:spPr/>
      <dgm:t>
        <a:bodyPr/>
        <a:lstStyle/>
        <a:p>
          <a:endParaRPr lang="en-US"/>
        </a:p>
      </dgm:t>
    </dgm:pt>
    <dgm:pt modelId="{E39E2F61-2D18-4947-9A28-CB3F5B9FAF71}" type="sibTrans" cxnId="{E09B51BB-FEF7-5D44-9F46-1CE9288FFEDB}">
      <dgm:prSet/>
      <dgm:spPr/>
      <dgm:t>
        <a:bodyPr/>
        <a:lstStyle/>
        <a:p>
          <a:endParaRPr lang="en-US"/>
        </a:p>
      </dgm:t>
    </dgm:pt>
    <dgm:pt modelId="{BFDAF528-BB30-DC46-855A-BE73495B5BAC}" type="pres">
      <dgm:prSet presAssocID="{FF7DDF05-B051-3348-8976-82FD1507E649}" presName="vert0" presStyleCnt="0">
        <dgm:presLayoutVars>
          <dgm:dir/>
          <dgm:animOne val="branch"/>
          <dgm:animLvl val="lvl"/>
        </dgm:presLayoutVars>
      </dgm:prSet>
      <dgm:spPr/>
    </dgm:pt>
    <dgm:pt modelId="{54A1DEE8-29B1-6C42-AEBE-6376292F17A5}" type="pres">
      <dgm:prSet presAssocID="{0F39BE13-FAA4-2148-B784-4B8E7E341795}" presName="thickLine" presStyleLbl="alignNode1" presStyleIdx="0" presStyleCnt="3"/>
      <dgm:spPr/>
    </dgm:pt>
    <dgm:pt modelId="{D4A79669-36C5-8545-ACA6-3810DA201226}" type="pres">
      <dgm:prSet presAssocID="{0F39BE13-FAA4-2148-B784-4B8E7E341795}" presName="horz1" presStyleCnt="0"/>
      <dgm:spPr/>
    </dgm:pt>
    <dgm:pt modelId="{2857B7C4-181C-F249-A463-54FC0DDA554B}" type="pres">
      <dgm:prSet presAssocID="{0F39BE13-FAA4-2148-B784-4B8E7E341795}" presName="tx1" presStyleLbl="revTx" presStyleIdx="0" presStyleCnt="3"/>
      <dgm:spPr/>
    </dgm:pt>
    <dgm:pt modelId="{09A10913-3A36-994C-8F49-990E1B6867A2}" type="pres">
      <dgm:prSet presAssocID="{0F39BE13-FAA4-2148-B784-4B8E7E341795}" presName="vert1" presStyleCnt="0"/>
      <dgm:spPr/>
    </dgm:pt>
    <dgm:pt modelId="{75622EA1-576A-B041-867C-7A6073F06C02}" type="pres">
      <dgm:prSet presAssocID="{1878AB66-2872-F74F-A37D-17FC4F2B5C80}" presName="thickLine" presStyleLbl="alignNode1" presStyleIdx="1" presStyleCnt="3"/>
      <dgm:spPr/>
    </dgm:pt>
    <dgm:pt modelId="{2EC6D414-A201-3C44-824F-20E1C8DE75D9}" type="pres">
      <dgm:prSet presAssocID="{1878AB66-2872-F74F-A37D-17FC4F2B5C80}" presName="horz1" presStyleCnt="0"/>
      <dgm:spPr/>
    </dgm:pt>
    <dgm:pt modelId="{B3B1FA59-3B97-BC44-B78F-C150A0D98A91}" type="pres">
      <dgm:prSet presAssocID="{1878AB66-2872-F74F-A37D-17FC4F2B5C80}" presName="tx1" presStyleLbl="revTx" presStyleIdx="1" presStyleCnt="3"/>
      <dgm:spPr/>
    </dgm:pt>
    <dgm:pt modelId="{4FF57600-6521-234E-884E-FAD768AB6B74}" type="pres">
      <dgm:prSet presAssocID="{1878AB66-2872-F74F-A37D-17FC4F2B5C80}" presName="vert1" presStyleCnt="0"/>
      <dgm:spPr/>
    </dgm:pt>
    <dgm:pt modelId="{151AB03C-4784-844E-A43A-F26A987E006C}" type="pres">
      <dgm:prSet presAssocID="{EF687488-FA49-C24B-A180-B1C7C4956856}" presName="thickLine" presStyleLbl="alignNode1" presStyleIdx="2" presStyleCnt="3"/>
      <dgm:spPr/>
    </dgm:pt>
    <dgm:pt modelId="{7EE59931-B998-7042-AC8C-6B6A24C2B8E6}" type="pres">
      <dgm:prSet presAssocID="{EF687488-FA49-C24B-A180-B1C7C4956856}" presName="horz1" presStyleCnt="0"/>
      <dgm:spPr/>
    </dgm:pt>
    <dgm:pt modelId="{6D3EAEFB-0156-4C4E-99F2-42FF07B69BE4}" type="pres">
      <dgm:prSet presAssocID="{EF687488-FA49-C24B-A180-B1C7C4956856}" presName="tx1" presStyleLbl="revTx" presStyleIdx="2" presStyleCnt="3"/>
      <dgm:spPr/>
    </dgm:pt>
    <dgm:pt modelId="{62243CC9-8535-D347-BE1A-C58ED9EC23E9}" type="pres">
      <dgm:prSet presAssocID="{EF687488-FA49-C24B-A180-B1C7C4956856}" presName="vert1" presStyleCnt="0"/>
      <dgm:spPr/>
    </dgm:pt>
  </dgm:ptLst>
  <dgm:cxnLst>
    <dgm:cxn modelId="{2F29D61E-123D-B34C-8C9F-D7CC11A49A1D}" type="presOf" srcId="{0F39BE13-FAA4-2148-B784-4B8E7E341795}" destId="{2857B7C4-181C-F249-A463-54FC0DDA554B}" srcOrd="0" destOrd="0" presId="urn:microsoft.com/office/officeart/2008/layout/LinedList"/>
    <dgm:cxn modelId="{0A72AB27-0348-E949-A530-AD04472EC26F}" srcId="{FF7DDF05-B051-3348-8976-82FD1507E649}" destId="{1878AB66-2872-F74F-A37D-17FC4F2B5C80}" srcOrd="1" destOrd="0" parTransId="{C29E579D-653D-394F-9910-2D6C7A78B2B5}" sibTransId="{38F92CCC-C675-8945-98EC-1C3FD1CA840E}"/>
    <dgm:cxn modelId="{32D71437-C6FD-CE4B-A279-2D7C976E45D2}" type="presOf" srcId="{EF687488-FA49-C24B-A180-B1C7C4956856}" destId="{6D3EAEFB-0156-4C4E-99F2-42FF07B69BE4}" srcOrd="0" destOrd="0" presId="urn:microsoft.com/office/officeart/2008/layout/LinedList"/>
    <dgm:cxn modelId="{B7504147-5F87-484F-BE3A-DDA8180A4BC1}" type="presOf" srcId="{FF7DDF05-B051-3348-8976-82FD1507E649}" destId="{BFDAF528-BB30-DC46-855A-BE73495B5BAC}" srcOrd="0" destOrd="0" presId="urn:microsoft.com/office/officeart/2008/layout/LinedList"/>
    <dgm:cxn modelId="{E6342879-CB48-FF4E-A0C6-38D453E55761}" type="presOf" srcId="{1878AB66-2872-F74F-A37D-17FC4F2B5C80}" destId="{B3B1FA59-3B97-BC44-B78F-C150A0D98A91}" srcOrd="0" destOrd="0" presId="urn:microsoft.com/office/officeart/2008/layout/LinedList"/>
    <dgm:cxn modelId="{16922986-96FC-9746-B760-3B9A58BEC535}" srcId="{FF7DDF05-B051-3348-8976-82FD1507E649}" destId="{0F39BE13-FAA4-2148-B784-4B8E7E341795}" srcOrd="0" destOrd="0" parTransId="{72E4A9AA-7E99-2C40-97B0-16D4DDC1C913}" sibTransId="{B04588FD-7E5E-9C45-A638-72A7DF844EEC}"/>
    <dgm:cxn modelId="{E09B51BB-FEF7-5D44-9F46-1CE9288FFEDB}" srcId="{FF7DDF05-B051-3348-8976-82FD1507E649}" destId="{EF687488-FA49-C24B-A180-B1C7C4956856}" srcOrd="2" destOrd="0" parTransId="{EDDB045F-C2DF-4442-A4E2-7BC4E3BDA5FC}" sibTransId="{E39E2F61-2D18-4947-9A28-CB3F5B9FAF71}"/>
    <dgm:cxn modelId="{F8787763-34A7-D24E-B61F-BAC345F7BBFE}" type="presParOf" srcId="{BFDAF528-BB30-DC46-855A-BE73495B5BAC}" destId="{54A1DEE8-29B1-6C42-AEBE-6376292F17A5}" srcOrd="0" destOrd="0" presId="urn:microsoft.com/office/officeart/2008/layout/LinedList"/>
    <dgm:cxn modelId="{7CB8CC80-A237-BB45-812C-BC1C2292F3CB}" type="presParOf" srcId="{BFDAF528-BB30-DC46-855A-BE73495B5BAC}" destId="{D4A79669-36C5-8545-ACA6-3810DA201226}" srcOrd="1" destOrd="0" presId="urn:microsoft.com/office/officeart/2008/layout/LinedList"/>
    <dgm:cxn modelId="{63999448-CDC0-D244-B01A-AE20D7984A5A}" type="presParOf" srcId="{D4A79669-36C5-8545-ACA6-3810DA201226}" destId="{2857B7C4-181C-F249-A463-54FC0DDA554B}" srcOrd="0" destOrd="0" presId="urn:microsoft.com/office/officeart/2008/layout/LinedList"/>
    <dgm:cxn modelId="{9BB0047D-885E-9C45-BB25-8AD4393EC24E}" type="presParOf" srcId="{D4A79669-36C5-8545-ACA6-3810DA201226}" destId="{09A10913-3A36-994C-8F49-990E1B6867A2}" srcOrd="1" destOrd="0" presId="urn:microsoft.com/office/officeart/2008/layout/LinedList"/>
    <dgm:cxn modelId="{49EF75A3-B0D1-894A-8798-FB433A06B6EB}" type="presParOf" srcId="{BFDAF528-BB30-DC46-855A-BE73495B5BAC}" destId="{75622EA1-576A-B041-867C-7A6073F06C02}" srcOrd="2" destOrd="0" presId="urn:microsoft.com/office/officeart/2008/layout/LinedList"/>
    <dgm:cxn modelId="{309A19AC-97D3-5D47-8615-BDCBEBD3B03A}" type="presParOf" srcId="{BFDAF528-BB30-DC46-855A-BE73495B5BAC}" destId="{2EC6D414-A201-3C44-824F-20E1C8DE75D9}" srcOrd="3" destOrd="0" presId="urn:microsoft.com/office/officeart/2008/layout/LinedList"/>
    <dgm:cxn modelId="{C7933EA9-D692-A241-9D7E-6EA95CAFA505}" type="presParOf" srcId="{2EC6D414-A201-3C44-824F-20E1C8DE75D9}" destId="{B3B1FA59-3B97-BC44-B78F-C150A0D98A91}" srcOrd="0" destOrd="0" presId="urn:microsoft.com/office/officeart/2008/layout/LinedList"/>
    <dgm:cxn modelId="{A1C848D4-F277-B74A-B041-DA0F46B30DD0}" type="presParOf" srcId="{2EC6D414-A201-3C44-824F-20E1C8DE75D9}" destId="{4FF57600-6521-234E-884E-FAD768AB6B74}" srcOrd="1" destOrd="0" presId="urn:microsoft.com/office/officeart/2008/layout/LinedList"/>
    <dgm:cxn modelId="{B232611E-AF96-7E41-BB27-827DD27793DE}" type="presParOf" srcId="{BFDAF528-BB30-DC46-855A-BE73495B5BAC}" destId="{151AB03C-4784-844E-A43A-F26A987E006C}" srcOrd="4" destOrd="0" presId="urn:microsoft.com/office/officeart/2008/layout/LinedList"/>
    <dgm:cxn modelId="{0D053524-E070-D748-B7FF-801797C0CA49}" type="presParOf" srcId="{BFDAF528-BB30-DC46-855A-BE73495B5BAC}" destId="{7EE59931-B998-7042-AC8C-6B6A24C2B8E6}" srcOrd="5" destOrd="0" presId="urn:microsoft.com/office/officeart/2008/layout/LinedList"/>
    <dgm:cxn modelId="{1B42CD74-43E5-4C4F-84ED-2A8E61EA9D46}" type="presParOf" srcId="{7EE59931-B998-7042-AC8C-6B6A24C2B8E6}" destId="{6D3EAEFB-0156-4C4E-99F2-42FF07B69BE4}" srcOrd="0" destOrd="0" presId="urn:microsoft.com/office/officeart/2008/layout/LinedList"/>
    <dgm:cxn modelId="{4E652FBF-4A83-2A43-A881-DECB501BA507}" type="presParOf" srcId="{7EE59931-B998-7042-AC8C-6B6A24C2B8E6}" destId="{62243CC9-8535-D347-BE1A-C58ED9EC23E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C9C8508-EDE1-CD4D-A3A8-9F7D4E8BD870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AF89A319-D50C-8743-A3F5-37018008F676}">
      <dgm:prSet/>
      <dgm:spPr/>
      <dgm:t>
        <a:bodyPr/>
        <a:lstStyle/>
        <a:p>
          <a:r>
            <a:rPr lang="en-US"/>
            <a:t>Co-located workloads compete for the same CU pool — isolation by capacity is your primary lever</a:t>
          </a:r>
        </a:p>
      </dgm:t>
    </dgm:pt>
    <dgm:pt modelId="{A5390B99-31AC-D243-A74E-07278A6C4DFE}" type="parTrans" cxnId="{67348AB8-9DCA-C446-97C4-1A930157035B}">
      <dgm:prSet/>
      <dgm:spPr/>
      <dgm:t>
        <a:bodyPr/>
        <a:lstStyle/>
        <a:p>
          <a:endParaRPr lang="en-US"/>
        </a:p>
      </dgm:t>
    </dgm:pt>
    <dgm:pt modelId="{7D9982F5-A151-AF4C-B520-0316EAF8F2C2}" type="sibTrans" cxnId="{67348AB8-9DCA-C446-97C4-1A930157035B}">
      <dgm:prSet/>
      <dgm:spPr/>
      <dgm:t>
        <a:bodyPr/>
        <a:lstStyle/>
        <a:p>
          <a:endParaRPr lang="en-US"/>
        </a:p>
      </dgm:t>
    </dgm:pt>
    <dgm:pt modelId="{92690D38-1765-4F4B-B227-1A337A05DBA9}">
      <dgm:prSet/>
      <dgm:spPr/>
      <dgm:t>
        <a:bodyPr/>
        <a:lstStyle/>
        <a:p>
          <a:r>
            <a:rPr lang="en-US"/>
            <a:t>Use capacity segmentation to guarantee SLAs for Prod analytics</a:t>
          </a:r>
        </a:p>
      </dgm:t>
    </dgm:pt>
    <dgm:pt modelId="{FE7EC59C-A7EB-F049-980C-C7CB12C1255C}" type="parTrans" cxnId="{7B5F446D-1286-B843-A2F1-5F14BCC732C4}">
      <dgm:prSet/>
      <dgm:spPr/>
      <dgm:t>
        <a:bodyPr/>
        <a:lstStyle/>
        <a:p>
          <a:endParaRPr lang="en-US"/>
        </a:p>
      </dgm:t>
    </dgm:pt>
    <dgm:pt modelId="{671D5AAA-C18F-0B42-9490-4F60974C64EE}" type="sibTrans" cxnId="{7B5F446D-1286-B843-A2F1-5F14BCC732C4}">
      <dgm:prSet/>
      <dgm:spPr/>
      <dgm:t>
        <a:bodyPr/>
        <a:lstStyle/>
        <a:p>
          <a:endParaRPr lang="en-US"/>
        </a:p>
      </dgm:t>
    </dgm:pt>
    <dgm:pt modelId="{C844B545-6D6A-F749-B1CE-87A9A11B42E2}">
      <dgm:prSet/>
      <dgm:spPr/>
      <dgm:t>
        <a:bodyPr/>
        <a:lstStyle/>
        <a:p>
          <a:r>
            <a:rPr lang="en-US"/>
            <a:t>Monitor for background operations (OneLake indexing, table maintenance) consuming capacity</a:t>
          </a:r>
        </a:p>
      </dgm:t>
    </dgm:pt>
    <dgm:pt modelId="{70CA1634-A380-6447-81BD-62467F20E728}" type="parTrans" cxnId="{74A7E82E-1E2C-C34E-A71B-3712D47F1DAB}">
      <dgm:prSet/>
      <dgm:spPr/>
      <dgm:t>
        <a:bodyPr/>
        <a:lstStyle/>
        <a:p>
          <a:endParaRPr lang="en-US"/>
        </a:p>
      </dgm:t>
    </dgm:pt>
    <dgm:pt modelId="{E1CD65BD-1178-5E4F-91A2-2F21EEC40CCB}" type="sibTrans" cxnId="{74A7E82E-1E2C-C34E-A71B-3712D47F1DAB}">
      <dgm:prSet/>
      <dgm:spPr/>
      <dgm:t>
        <a:bodyPr/>
        <a:lstStyle/>
        <a:p>
          <a:endParaRPr lang="en-US"/>
        </a:p>
      </dgm:t>
    </dgm:pt>
    <dgm:pt modelId="{B020D171-676A-804A-859D-C78BACFA3209}">
      <dgm:prSet/>
      <dgm:spPr/>
      <dgm:t>
        <a:bodyPr/>
        <a:lstStyle/>
        <a:p>
          <a:r>
            <a:rPr lang="en-US"/>
            <a:t>Use Surge Protection to set a maximum capacity unit (CU) spend per workspace, expressed as a percentage, within a rolling 24-hour window.</a:t>
          </a:r>
        </a:p>
      </dgm:t>
    </dgm:pt>
    <dgm:pt modelId="{3FD01871-6B40-1D4A-8CF9-85FD049E9110}" type="parTrans" cxnId="{A1571841-37DD-C143-8BD8-FAD8A5EF2803}">
      <dgm:prSet/>
      <dgm:spPr/>
      <dgm:t>
        <a:bodyPr/>
        <a:lstStyle/>
        <a:p>
          <a:endParaRPr lang="en-US"/>
        </a:p>
      </dgm:t>
    </dgm:pt>
    <dgm:pt modelId="{E1DE0007-AC8D-4B4B-9252-D3F139A12EE8}" type="sibTrans" cxnId="{A1571841-37DD-C143-8BD8-FAD8A5EF2803}">
      <dgm:prSet/>
      <dgm:spPr/>
      <dgm:t>
        <a:bodyPr/>
        <a:lstStyle/>
        <a:p>
          <a:endParaRPr lang="en-US"/>
        </a:p>
      </dgm:t>
    </dgm:pt>
    <dgm:pt modelId="{89ED4FFB-677C-E34F-B1D3-3B1DA508B4CF}" type="pres">
      <dgm:prSet presAssocID="{3C9C8508-EDE1-CD4D-A3A8-9F7D4E8BD870}" presName="linear" presStyleCnt="0">
        <dgm:presLayoutVars>
          <dgm:animLvl val="lvl"/>
          <dgm:resizeHandles val="exact"/>
        </dgm:presLayoutVars>
      </dgm:prSet>
      <dgm:spPr/>
    </dgm:pt>
    <dgm:pt modelId="{36219E36-0E1E-7948-A4FB-3ADB491C9099}" type="pres">
      <dgm:prSet presAssocID="{AF89A319-D50C-8743-A3F5-37018008F67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31FF2A8-ECA2-714C-8AE8-CB657EB341F0}" type="pres">
      <dgm:prSet presAssocID="{7D9982F5-A151-AF4C-B520-0316EAF8F2C2}" presName="spacer" presStyleCnt="0"/>
      <dgm:spPr/>
    </dgm:pt>
    <dgm:pt modelId="{4C050E43-DF3A-7248-B425-CE4C2238BEC6}" type="pres">
      <dgm:prSet presAssocID="{92690D38-1765-4F4B-B227-1A337A05DBA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F7CD20-C3FA-6C4D-8E90-151A2B2FBE6D}" type="pres">
      <dgm:prSet presAssocID="{671D5AAA-C18F-0B42-9490-4F60974C64EE}" presName="spacer" presStyleCnt="0"/>
      <dgm:spPr/>
    </dgm:pt>
    <dgm:pt modelId="{EEF57CFA-4553-FB4D-A64E-DBA858F9EB7D}" type="pres">
      <dgm:prSet presAssocID="{C844B545-6D6A-F749-B1CE-87A9A11B42E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69A095D-167E-934F-926F-8B113F4F5932}" type="pres">
      <dgm:prSet presAssocID="{E1CD65BD-1178-5E4F-91A2-2F21EEC40CCB}" presName="spacer" presStyleCnt="0"/>
      <dgm:spPr/>
    </dgm:pt>
    <dgm:pt modelId="{076C5010-8DF0-9548-B7C9-14D9E9F6A8F4}" type="pres">
      <dgm:prSet presAssocID="{B020D171-676A-804A-859D-C78BACFA32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72E300A-42B1-8F44-B143-AA2BB72AC226}" type="presOf" srcId="{C844B545-6D6A-F749-B1CE-87A9A11B42E2}" destId="{EEF57CFA-4553-FB4D-A64E-DBA858F9EB7D}" srcOrd="0" destOrd="0" presId="urn:microsoft.com/office/officeart/2005/8/layout/vList2"/>
    <dgm:cxn modelId="{74A7E82E-1E2C-C34E-A71B-3712D47F1DAB}" srcId="{3C9C8508-EDE1-CD4D-A3A8-9F7D4E8BD870}" destId="{C844B545-6D6A-F749-B1CE-87A9A11B42E2}" srcOrd="2" destOrd="0" parTransId="{70CA1634-A380-6447-81BD-62467F20E728}" sibTransId="{E1CD65BD-1178-5E4F-91A2-2F21EEC40CCB}"/>
    <dgm:cxn modelId="{A1571841-37DD-C143-8BD8-FAD8A5EF2803}" srcId="{3C9C8508-EDE1-CD4D-A3A8-9F7D4E8BD870}" destId="{B020D171-676A-804A-859D-C78BACFA3209}" srcOrd="3" destOrd="0" parTransId="{3FD01871-6B40-1D4A-8CF9-85FD049E9110}" sibTransId="{E1DE0007-AC8D-4B4B-9252-D3F139A12EE8}"/>
    <dgm:cxn modelId="{70A38146-B7F6-E447-BEFD-56736A45B6E6}" type="presOf" srcId="{3C9C8508-EDE1-CD4D-A3A8-9F7D4E8BD870}" destId="{89ED4FFB-677C-E34F-B1D3-3B1DA508B4CF}" srcOrd="0" destOrd="0" presId="urn:microsoft.com/office/officeart/2005/8/layout/vList2"/>
    <dgm:cxn modelId="{10F5CC5A-9091-F04C-A9BF-FB504F684B2B}" type="presOf" srcId="{92690D38-1765-4F4B-B227-1A337A05DBA9}" destId="{4C050E43-DF3A-7248-B425-CE4C2238BEC6}" srcOrd="0" destOrd="0" presId="urn:microsoft.com/office/officeart/2005/8/layout/vList2"/>
    <dgm:cxn modelId="{7B5F446D-1286-B843-A2F1-5F14BCC732C4}" srcId="{3C9C8508-EDE1-CD4D-A3A8-9F7D4E8BD870}" destId="{92690D38-1765-4F4B-B227-1A337A05DBA9}" srcOrd="1" destOrd="0" parTransId="{FE7EC59C-A7EB-F049-980C-C7CB12C1255C}" sibTransId="{671D5AAA-C18F-0B42-9490-4F60974C64EE}"/>
    <dgm:cxn modelId="{C7D3E89B-7705-1542-AFD6-B8438AF2D60D}" type="presOf" srcId="{B020D171-676A-804A-859D-C78BACFA3209}" destId="{076C5010-8DF0-9548-B7C9-14D9E9F6A8F4}" srcOrd="0" destOrd="0" presId="urn:microsoft.com/office/officeart/2005/8/layout/vList2"/>
    <dgm:cxn modelId="{F291A1A4-41AD-BF41-8A79-6FAF731E5E11}" type="presOf" srcId="{AF89A319-D50C-8743-A3F5-37018008F676}" destId="{36219E36-0E1E-7948-A4FB-3ADB491C9099}" srcOrd="0" destOrd="0" presId="urn:microsoft.com/office/officeart/2005/8/layout/vList2"/>
    <dgm:cxn modelId="{67348AB8-9DCA-C446-97C4-1A930157035B}" srcId="{3C9C8508-EDE1-CD4D-A3A8-9F7D4E8BD870}" destId="{AF89A319-D50C-8743-A3F5-37018008F676}" srcOrd="0" destOrd="0" parTransId="{A5390B99-31AC-D243-A74E-07278A6C4DFE}" sibTransId="{7D9982F5-A151-AF4C-B520-0316EAF8F2C2}"/>
    <dgm:cxn modelId="{57CF6A31-12BF-A446-AB2A-9111E3F8CBFD}" type="presParOf" srcId="{89ED4FFB-677C-E34F-B1D3-3B1DA508B4CF}" destId="{36219E36-0E1E-7948-A4FB-3ADB491C9099}" srcOrd="0" destOrd="0" presId="urn:microsoft.com/office/officeart/2005/8/layout/vList2"/>
    <dgm:cxn modelId="{D060DCEA-750F-B047-B695-A7E05EF75580}" type="presParOf" srcId="{89ED4FFB-677C-E34F-B1D3-3B1DA508B4CF}" destId="{E31FF2A8-ECA2-714C-8AE8-CB657EB341F0}" srcOrd="1" destOrd="0" presId="urn:microsoft.com/office/officeart/2005/8/layout/vList2"/>
    <dgm:cxn modelId="{5588C002-D9B2-F94F-99F0-555D10E44C1F}" type="presParOf" srcId="{89ED4FFB-677C-E34F-B1D3-3B1DA508B4CF}" destId="{4C050E43-DF3A-7248-B425-CE4C2238BEC6}" srcOrd="2" destOrd="0" presId="urn:microsoft.com/office/officeart/2005/8/layout/vList2"/>
    <dgm:cxn modelId="{5F9635B3-6700-884C-8208-7DFB7C4FB20A}" type="presParOf" srcId="{89ED4FFB-677C-E34F-B1D3-3B1DA508B4CF}" destId="{2BF7CD20-C3FA-6C4D-8E90-151A2B2FBE6D}" srcOrd="3" destOrd="0" presId="urn:microsoft.com/office/officeart/2005/8/layout/vList2"/>
    <dgm:cxn modelId="{0B70FC07-AF19-D24E-A939-E9807350A269}" type="presParOf" srcId="{89ED4FFB-677C-E34F-B1D3-3B1DA508B4CF}" destId="{EEF57CFA-4553-FB4D-A64E-DBA858F9EB7D}" srcOrd="4" destOrd="0" presId="urn:microsoft.com/office/officeart/2005/8/layout/vList2"/>
    <dgm:cxn modelId="{48319528-EB50-1C45-9477-12C1C82B2176}" type="presParOf" srcId="{89ED4FFB-677C-E34F-B1D3-3B1DA508B4CF}" destId="{D69A095D-167E-934F-926F-8B113F4F5932}" srcOrd="5" destOrd="0" presId="urn:microsoft.com/office/officeart/2005/8/layout/vList2"/>
    <dgm:cxn modelId="{13031BDF-229D-1444-9497-5E891AA19E45}" type="presParOf" srcId="{89ED4FFB-677C-E34F-B1D3-3B1DA508B4CF}" destId="{076C5010-8DF0-9548-B7C9-14D9E9F6A8F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082C3C1-218E-DF40-A7BC-3F8A7F4841D3}" type="doc">
      <dgm:prSet loTypeId="urn:microsoft.com/office/officeart/2008/layout/LinedList" loCatId="icon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AB02C55A-FA80-DF46-9B3B-DE954C4C66AD}">
      <dgm:prSet/>
      <dgm:spPr/>
      <dgm:t>
        <a:bodyPr/>
        <a:lstStyle/>
        <a:p>
          <a:r>
            <a:rPr lang="en-US"/>
            <a:t>Medallion architecture (Bronze/Silver/Gold) as an organizational best practice</a:t>
          </a:r>
        </a:p>
      </dgm:t>
    </dgm:pt>
    <dgm:pt modelId="{ECC2CEFA-1526-5E4A-9655-8B1599C630D9}" type="parTrans" cxnId="{D83170F1-AE96-F04B-9C5A-BDBFEF07C816}">
      <dgm:prSet/>
      <dgm:spPr/>
      <dgm:t>
        <a:bodyPr/>
        <a:lstStyle/>
        <a:p>
          <a:endParaRPr lang="en-US"/>
        </a:p>
      </dgm:t>
    </dgm:pt>
    <dgm:pt modelId="{45A5AAAC-7B31-9C49-A1DD-1F92CE370B50}" type="sibTrans" cxnId="{D83170F1-AE96-F04B-9C5A-BDBFEF07C816}">
      <dgm:prSet/>
      <dgm:spPr/>
      <dgm:t>
        <a:bodyPr/>
        <a:lstStyle/>
        <a:p>
          <a:endParaRPr lang="en-US"/>
        </a:p>
      </dgm:t>
    </dgm:pt>
    <dgm:pt modelId="{35B2A58F-8375-B34A-91E4-C6525794797C}">
      <dgm:prSet/>
      <dgm:spPr/>
      <dgm:t>
        <a:bodyPr/>
        <a:lstStyle/>
        <a:p>
          <a:r>
            <a:rPr lang="en-US"/>
            <a:t>V-Order and file compaction for read-optimized performance</a:t>
          </a:r>
        </a:p>
      </dgm:t>
    </dgm:pt>
    <dgm:pt modelId="{2A7A675F-F8D5-D64A-8987-EBFF9D1AC1FC}" type="parTrans" cxnId="{56C5E0A8-4B52-EA43-8E3F-B5A681D31099}">
      <dgm:prSet/>
      <dgm:spPr/>
      <dgm:t>
        <a:bodyPr/>
        <a:lstStyle/>
        <a:p>
          <a:endParaRPr lang="en-US"/>
        </a:p>
      </dgm:t>
    </dgm:pt>
    <dgm:pt modelId="{EF48240C-C432-2A42-BB03-95A3746BF1AD}" type="sibTrans" cxnId="{56C5E0A8-4B52-EA43-8E3F-B5A681D31099}">
      <dgm:prSet/>
      <dgm:spPr/>
      <dgm:t>
        <a:bodyPr/>
        <a:lstStyle/>
        <a:p>
          <a:endParaRPr lang="en-US"/>
        </a:p>
      </dgm:t>
    </dgm:pt>
    <dgm:pt modelId="{C47013D4-AD4C-5B44-BA77-CCD02B1E7287}">
      <dgm:prSet/>
      <dgm:spPr/>
      <dgm:t>
        <a:bodyPr/>
        <a:lstStyle/>
        <a:p>
          <a:r>
            <a:rPr lang="en-US"/>
            <a:t>Choose Warehouse vs. Lakehouse based on query pattern, not just habit</a:t>
          </a:r>
        </a:p>
      </dgm:t>
    </dgm:pt>
    <dgm:pt modelId="{AC6E0134-6FC3-A34F-9D8E-8EBA2DE24068}" type="parTrans" cxnId="{3897A7D6-0F2B-2A44-9130-6A81630A4807}">
      <dgm:prSet/>
      <dgm:spPr/>
      <dgm:t>
        <a:bodyPr/>
        <a:lstStyle/>
        <a:p>
          <a:endParaRPr lang="en-US"/>
        </a:p>
      </dgm:t>
    </dgm:pt>
    <dgm:pt modelId="{A200B00A-80BA-D141-9A87-F9851078AF12}" type="sibTrans" cxnId="{3897A7D6-0F2B-2A44-9130-6A81630A4807}">
      <dgm:prSet/>
      <dgm:spPr/>
      <dgm:t>
        <a:bodyPr/>
        <a:lstStyle/>
        <a:p>
          <a:endParaRPr lang="en-US"/>
        </a:p>
      </dgm:t>
    </dgm:pt>
    <dgm:pt modelId="{3091CE9F-4D13-F84D-99B9-2B5121CDD804}" type="pres">
      <dgm:prSet presAssocID="{A082C3C1-218E-DF40-A7BC-3F8A7F4841D3}" presName="vert0" presStyleCnt="0">
        <dgm:presLayoutVars>
          <dgm:dir/>
          <dgm:animOne val="branch"/>
          <dgm:animLvl val="lvl"/>
        </dgm:presLayoutVars>
      </dgm:prSet>
      <dgm:spPr/>
    </dgm:pt>
    <dgm:pt modelId="{121F2938-5B1D-BA43-8A41-EA0F15C62F7B}" type="pres">
      <dgm:prSet presAssocID="{AB02C55A-FA80-DF46-9B3B-DE954C4C66AD}" presName="thickLine" presStyleLbl="alignNode1" presStyleIdx="0" presStyleCnt="3"/>
      <dgm:spPr/>
    </dgm:pt>
    <dgm:pt modelId="{33AB2E0F-C365-EB42-A959-68379C8E645E}" type="pres">
      <dgm:prSet presAssocID="{AB02C55A-FA80-DF46-9B3B-DE954C4C66AD}" presName="horz1" presStyleCnt="0"/>
      <dgm:spPr/>
    </dgm:pt>
    <dgm:pt modelId="{EC436A03-790A-D144-B5A0-35095F963ECE}" type="pres">
      <dgm:prSet presAssocID="{AB02C55A-FA80-DF46-9B3B-DE954C4C66AD}" presName="tx1" presStyleLbl="revTx" presStyleIdx="0" presStyleCnt="3"/>
      <dgm:spPr/>
    </dgm:pt>
    <dgm:pt modelId="{629181AC-C41D-3142-B31C-38A9796E7886}" type="pres">
      <dgm:prSet presAssocID="{AB02C55A-FA80-DF46-9B3B-DE954C4C66AD}" presName="vert1" presStyleCnt="0"/>
      <dgm:spPr/>
    </dgm:pt>
    <dgm:pt modelId="{449880D3-38C5-E34A-A4EE-355259F3ADF0}" type="pres">
      <dgm:prSet presAssocID="{35B2A58F-8375-B34A-91E4-C6525794797C}" presName="thickLine" presStyleLbl="alignNode1" presStyleIdx="1" presStyleCnt="3"/>
      <dgm:spPr/>
    </dgm:pt>
    <dgm:pt modelId="{F10C34B1-DF76-0B45-8EB3-BE49A52B5190}" type="pres">
      <dgm:prSet presAssocID="{35B2A58F-8375-B34A-91E4-C6525794797C}" presName="horz1" presStyleCnt="0"/>
      <dgm:spPr/>
    </dgm:pt>
    <dgm:pt modelId="{89F885E0-1E36-0642-8BEB-9649940512CF}" type="pres">
      <dgm:prSet presAssocID="{35B2A58F-8375-B34A-91E4-C6525794797C}" presName="tx1" presStyleLbl="revTx" presStyleIdx="1" presStyleCnt="3"/>
      <dgm:spPr/>
    </dgm:pt>
    <dgm:pt modelId="{68119975-8B6F-B248-9CD1-C8DC7F75EF85}" type="pres">
      <dgm:prSet presAssocID="{35B2A58F-8375-B34A-91E4-C6525794797C}" presName="vert1" presStyleCnt="0"/>
      <dgm:spPr/>
    </dgm:pt>
    <dgm:pt modelId="{6A27C52A-BB20-0541-B870-4F0D10BB0B99}" type="pres">
      <dgm:prSet presAssocID="{C47013D4-AD4C-5B44-BA77-CCD02B1E7287}" presName="thickLine" presStyleLbl="alignNode1" presStyleIdx="2" presStyleCnt="3"/>
      <dgm:spPr/>
    </dgm:pt>
    <dgm:pt modelId="{78B517FE-7339-5D42-AD50-B6A1C86B2265}" type="pres">
      <dgm:prSet presAssocID="{C47013D4-AD4C-5B44-BA77-CCD02B1E7287}" presName="horz1" presStyleCnt="0"/>
      <dgm:spPr/>
    </dgm:pt>
    <dgm:pt modelId="{6D077CE2-2B05-F747-9471-29F471BCDC63}" type="pres">
      <dgm:prSet presAssocID="{C47013D4-AD4C-5B44-BA77-CCD02B1E7287}" presName="tx1" presStyleLbl="revTx" presStyleIdx="2" presStyleCnt="3"/>
      <dgm:spPr/>
    </dgm:pt>
    <dgm:pt modelId="{681E6F75-447B-A144-B305-4C08D1581008}" type="pres">
      <dgm:prSet presAssocID="{C47013D4-AD4C-5B44-BA77-CCD02B1E7287}" presName="vert1" presStyleCnt="0"/>
      <dgm:spPr/>
    </dgm:pt>
  </dgm:ptLst>
  <dgm:cxnLst>
    <dgm:cxn modelId="{B03E9A5E-FFD8-FA4B-89BB-38B4A458AD20}" type="presOf" srcId="{AB02C55A-FA80-DF46-9B3B-DE954C4C66AD}" destId="{EC436A03-790A-D144-B5A0-35095F963ECE}" srcOrd="0" destOrd="0" presId="urn:microsoft.com/office/officeart/2008/layout/LinedList"/>
    <dgm:cxn modelId="{F2F80797-0C26-C84A-980A-4DC67A9B72C4}" type="presOf" srcId="{A082C3C1-218E-DF40-A7BC-3F8A7F4841D3}" destId="{3091CE9F-4D13-F84D-99B9-2B5121CDD804}" srcOrd="0" destOrd="0" presId="urn:microsoft.com/office/officeart/2008/layout/LinedList"/>
    <dgm:cxn modelId="{02944AA8-014D-8B43-BC74-014BBC9B2521}" type="presOf" srcId="{C47013D4-AD4C-5B44-BA77-CCD02B1E7287}" destId="{6D077CE2-2B05-F747-9471-29F471BCDC63}" srcOrd="0" destOrd="0" presId="urn:microsoft.com/office/officeart/2008/layout/LinedList"/>
    <dgm:cxn modelId="{56C5E0A8-4B52-EA43-8E3F-B5A681D31099}" srcId="{A082C3C1-218E-DF40-A7BC-3F8A7F4841D3}" destId="{35B2A58F-8375-B34A-91E4-C6525794797C}" srcOrd="1" destOrd="0" parTransId="{2A7A675F-F8D5-D64A-8987-EBFF9D1AC1FC}" sibTransId="{EF48240C-C432-2A42-BB03-95A3746BF1AD}"/>
    <dgm:cxn modelId="{4F688CB6-6AC2-414A-B5BF-61430CFEF633}" type="presOf" srcId="{35B2A58F-8375-B34A-91E4-C6525794797C}" destId="{89F885E0-1E36-0642-8BEB-9649940512CF}" srcOrd="0" destOrd="0" presId="urn:microsoft.com/office/officeart/2008/layout/LinedList"/>
    <dgm:cxn modelId="{3897A7D6-0F2B-2A44-9130-6A81630A4807}" srcId="{A082C3C1-218E-DF40-A7BC-3F8A7F4841D3}" destId="{C47013D4-AD4C-5B44-BA77-CCD02B1E7287}" srcOrd="2" destOrd="0" parTransId="{AC6E0134-6FC3-A34F-9D8E-8EBA2DE24068}" sibTransId="{A200B00A-80BA-D141-9A87-F9851078AF12}"/>
    <dgm:cxn modelId="{D83170F1-AE96-F04B-9C5A-BDBFEF07C816}" srcId="{A082C3C1-218E-DF40-A7BC-3F8A7F4841D3}" destId="{AB02C55A-FA80-DF46-9B3B-DE954C4C66AD}" srcOrd="0" destOrd="0" parTransId="{ECC2CEFA-1526-5E4A-9655-8B1599C630D9}" sibTransId="{45A5AAAC-7B31-9C49-A1DD-1F92CE370B50}"/>
    <dgm:cxn modelId="{BB4EF9B9-7ED7-1F4C-B6BE-957F3C91EB58}" type="presParOf" srcId="{3091CE9F-4D13-F84D-99B9-2B5121CDD804}" destId="{121F2938-5B1D-BA43-8A41-EA0F15C62F7B}" srcOrd="0" destOrd="0" presId="urn:microsoft.com/office/officeart/2008/layout/LinedList"/>
    <dgm:cxn modelId="{00094572-56B8-1F47-86CD-6D866FD54230}" type="presParOf" srcId="{3091CE9F-4D13-F84D-99B9-2B5121CDD804}" destId="{33AB2E0F-C365-EB42-A959-68379C8E645E}" srcOrd="1" destOrd="0" presId="urn:microsoft.com/office/officeart/2008/layout/LinedList"/>
    <dgm:cxn modelId="{DFA326E6-AFED-F343-9C1A-8EFEC9E99F97}" type="presParOf" srcId="{33AB2E0F-C365-EB42-A959-68379C8E645E}" destId="{EC436A03-790A-D144-B5A0-35095F963ECE}" srcOrd="0" destOrd="0" presId="urn:microsoft.com/office/officeart/2008/layout/LinedList"/>
    <dgm:cxn modelId="{A2B279FA-65ED-804A-9BB0-EFAD154A4F10}" type="presParOf" srcId="{33AB2E0F-C365-EB42-A959-68379C8E645E}" destId="{629181AC-C41D-3142-B31C-38A9796E7886}" srcOrd="1" destOrd="0" presId="urn:microsoft.com/office/officeart/2008/layout/LinedList"/>
    <dgm:cxn modelId="{4BA06385-4766-224F-AC36-973190174A9D}" type="presParOf" srcId="{3091CE9F-4D13-F84D-99B9-2B5121CDD804}" destId="{449880D3-38C5-E34A-A4EE-355259F3ADF0}" srcOrd="2" destOrd="0" presId="urn:microsoft.com/office/officeart/2008/layout/LinedList"/>
    <dgm:cxn modelId="{FC9AAF01-4C92-8D43-BDE6-8B8537E4CA4A}" type="presParOf" srcId="{3091CE9F-4D13-F84D-99B9-2B5121CDD804}" destId="{F10C34B1-DF76-0B45-8EB3-BE49A52B5190}" srcOrd="3" destOrd="0" presId="urn:microsoft.com/office/officeart/2008/layout/LinedList"/>
    <dgm:cxn modelId="{4AFA934A-6919-5F40-B8A0-F9905F52BD90}" type="presParOf" srcId="{F10C34B1-DF76-0B45-8EB3-BE49A52B5190}" destId="{89F885E0-1E36-0642-8BEB-9649940512CF}" srcOrd="0" destOrd="0" presId="urn:microsoft.com/office/officeart/2008/layout/LinedList"/>
    <dgm:cxn modelId="{B93A2D41-3DC6-104F-860A-66EAE48E1441}" type="presParOf" srcId="{F10C34B1-DF76-0B45-8EB3-BE49A52B5190}" destId="{68119975-8B6F-B248-9CD1-C8DC7F75EF85}" srcOrd="1" destOrd="0" presId="urn:microsoft.com/office/officeart/2008/layout/LinedList"/>
    <dgm:cxn modelId="{E1A873F1-0329-3F42-B907-0C11224E604B}" type="presParOf" srcId="{3091CE9F-4D13-F84D-99B9-2B5121CDD804}" destId="{6A27C52A-BB20-0541-B870-4F0D10BB0B99}" srcOrd="4" destOrd="0" presId="urn:microsoft.com/office/officeart/2008/layout/LinedList"/>
    <dgm:cxn modelId="{E882DABE-C44E-724A-B824-7EDBF0FD8B9B}" type="presParOf" srcId="{3091CE9F-4D13-F84D-99B9-2B5121CDD804}" destId="{78B517FE-7339-5D42-AD50-B6A1C86B2265}" srcOrd="5" destOrd="0" presId="urn:microsoft.com/office/officeart/2008/layout/LinedList"/>
    <dgm:cxn modelId="{BC467970-F246-884C-B15C-1735014195D3}" type="presParOf" srcId="{78B517FE-7339-5D42-AD50-B6A1C86B2265}" destId="{6D077CE2-2B05-F747-9471-29F471BCDC63}" srcOrd="0" destOrd="0" presId="urn:microsoft.com/office/officeart/2008/layout/LinedList"/>
    <dgm:cxn modelId="{AD086910-8675-B842-952D-454DD5E9B990}" type="presParOf" srcId="{78B517FE-7339-5D42-AD50-B6A1C86B2265}" destId="{681E6F75-447B-A144-B305-4C08D158100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409FB54-BC23-5047-B7B1-6A08E43D6666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7499B0C8-1F79-6E42-8E56-23EE7F3C82C3}">
      <dgm:prSet/>
      <dgm:spPr/>
      <dgm:t>
        <a:bodyPr/>
        <a:lstStyle/>
        <a:p>
          <a:r>
            <a:rPr lang="en-US"/>
            <a:t>Lakehouse when your workload is Spark-heavy, schema-on-read, or you need to store unstructured/semi-structured data alongside tables </a:t>
          </a:r>
        </a:p>
      </dgm:t>
    </dgm:pt>
    <dgm:pt modelId="{C03646F1-57BD-104E-87D4-5C1F750B04CF}" type="parTrans" cxnId="{AF65DBD3-59C4-354B-9C48-86D55756E15D}">
      <dgm:prSet/>
      <dgm:spPr/>
      <dgm:t>
        <a:bodyPr/>
        <a:lstStyle/>
        <a:p>
          <a:endParaRPr lang="en-US"/>
        </a:p>
      </dgm:t>
    </dgm:pt>
    <dgm:pt modelId="{C92E39BA-C5D9-994E-9CD8-12AA5560938E}" type="sibTrans" cxnId="{AF65DBD3-59C4-354B-9C48-86D55756E15D}">
      <dgm:prSet/>
      <dgm:spPr/>
      <dgm:t>
        <a:bodyPr/>
        <a:lstStyle/>
        <a:p>
          <a:endParaRPr lang="en-US"/>
        </a:p>
      </dgm:t>
    </dgm:pt>
    <dgm:pt modelId="{CD91E62B-E5FA-E545-ADD2-B2AA90D13CDA}">
      <dgm:prSet/>
      <dgm:spPr/>
      <dgm:t>
        <a:bodyPr/>
        <a:lstStyle/>
        <a:p>
          <a:r>
            <a:rPr lang="en-US"/>
            <a:t>Warehouse when your team thinks in T-SQL, needs full DML (UPDATE/DELETE/MERGE), or you're migrating from a traditional SQL DW </a:t>
          </a:r>
        </a:p>
      </dgm:t>
    </dgm:pt>
    <dgm:pt modelId="{818CB9B1-7B31-014C-94B8-04ADA14F6D60}" type="parTrans" cxnId="{0C6CF928-154D-B04F-9228-E4122C929036}">
      <dgm:prSet/>
      <dgm:spPr/>
      <dgm:t>
        <a:bodyPr/>
        <a:lstStyle/>
        <a:p>
          <a:endParaRPr lang="en-US"/>
        </a:p>
      </dgm:t>
    </dgm:pt>
    <dgm:pt modelId="{3AFC0FCD-4C4B-724D-AB65-4EC380A25C06}" type="sibTrans" cxnId="{0C6CF928-154D-B04F-9228-E4122C929036}">
      <dgm:prSet/>
      <dgm:spPr/>
      <dgm:t>
        <a:bodyPr/>
        <a:lstStyle/>
        <a:p>
          <a:endParaRPr lang="en-US"/>
        </a:p>
      </dgm:t>
    </dgm:pt>
    <dgm:pt modelId="{A70EDCB6-13A1-4E42-891E-A16F652F7C74}">
      <dgm:prSet/>
      <dgm:spPr/>
      <dgm:t>
        <a:bodyPr/>
        <a:lstStyle/>
        <a:p>
          <a:r>
            <a:rPr lang="en-US"/>
            <a:t>You can use both in the same workspace — lakehouse for ingestion and transformation, warehouse for curated serving. They share OneLake storage underneath.</a:t>
          </a:r>
        </a:p>
      </dgm:t>
    </dgm:pt>
    <dgm:pt modelId="{9DBC4136-CA8B-994F-A0CA-7058EBE7B007}" type="parTrans" cxnId="{5E5BC066-D7BE-304E-B0C2-27A748557F89}">
      <dgm:prSet/>
      <dgm:spPr/>
      <dgm:t>
        <a:bodyPr/>
        <a:lstStyle/>
        <a:p>
          <a:endParaRPr lang="en-US"/>
        </a:p>
      </dgm:t>
    </dgm:pt>
    <dgm:pt modelId="{9BEC1D58-65BF-2049-9A1A-9683B6DA6846}" type="sibTrans" cxnId="{5E5BC066-D7BE-304E-B0C2-27A748557F89}">
      <dgm:prSet/>
      <dgm:spPr/>
      <dgm:t>
        <a:bodyPr/>
        <a:lstStyle/>
        <a:p>
          <a:endParaRPr lang="en-US"/>
        </a:p>
      </dgm:t>
    </dgm:pt>
    <dgm:pt modelId="{5CD7A0B8-347E-554F-96FA-ECE902AF8B15}">
      <dgm:prSet/>
      <dgm:spPr/>
      <dgm:t>
        <a:bodyPr/>
        <a:lstStyle/>
        <a:p>
          <a:r>
            <a:rPr lang="en-US"/>
            <a:t>Use OneLake shortcuts to reference data across lakehouses instead of copying it — one physical copy, many logical access points</a:t>
          </a:r>
        </a:p>
      </dgm:t>
    </dgm:pt>
    <dgm:pt modelId="{34156D0E-EB49-164C-A9C6-192D32FF7422}" type="parTrans" cxnId="{F5F75824-CA48-CF43-9343-81285C4CA671}">
      <dgm:prSet/>
      <dgm:spPr/>
      <dgm:t>
        <a:bodyPr/>
        <a:lstStyle/>
        <a:p>
          <a:endParaRPr lang="en-US"/>
        </a:p>
      </dgm:t>
    </dgm:pt>
    <dgm:pt modelId="{FE867308-CC66-8C4A-B7E6-23CCF63D69A4}" type="sibTrans" cxnId="{F5F75824-CA48-CF43-9343-81285C4CA671}">
      <dgm:prSet/>
      <dgm:spPr/>
      <dgm:t>
        <a:bodyPr/>
        <a:lstStyle/>
        <a:p>
          <a:endParaRPr lang="en-US"/>
        </a:p>
      </dgm:t>
    </dgm:pt>
    <dgm:pt modelId="{4044FB9D-1431-BC4A-9333-C04EC5B1A10D}">
      <dgm:prSet/>
      <dgm:spPr/>
      <dgm:t>
        <a:bodyPr/>
        <a:lstStyle/>
        <a:p>
          <a:r>
            <a:rPr lang="en-US"/>
            <a:t>Don't create one mega-lakehouse with everything — you lose the ability to apply different security, lifecycle, and capacity boundaries</a:t>
          </a:r>
        </a:p>
      </dgm:t>
    </dgm:pt>
    <dgm:pt modelId="{07D5705D-47B6-BD44-A4C9-ADDD86D5619B}" type="parTrans" cxnId="{822895BF-9CB1-DC4F-B8AD-32592B4CC447}">
      <dgm:prSet/>
      <dgm:spPr/>
      <dgm:t>
        <a:bodyPr/>
        <a:lstStyle/>
        <a:p>
          <a:endParaRPr lang="en-US"/>
        </a:p>
      </dgm:t>
    </dgm:pt>
    <dgm:pt modelId="{9302EFA0-BB75-184C-87E3-63F01080C6DB}" type="sibTrans" cxnId="{822895BF-9CB1-DC4F-B8AD-32592B4CC447}">
      <dgm:prSet/>
      <dgm:spPr/>
      <dgm:t>
        <a:bodyPr/>
        <a:lstStyle/>
        <a:p>
          <a:endParaRPr lang="en-US"/>
        </a:p>
      </dgm:t>
    </dgm:pt>
    <dgm:pt modelId="{E8E683C9-000C-0941-BC9A-E50532A231E6}">
      <dgm:prSet/>
      <dgm:spPr/>
      <dgm:t>
        <a:bodyPr/>
        <a:lstStyle/>
        <a:p>
          <a:r>
            <a:rPr lang="en-US"/>
            <a:t>Resist the temptation to put all three layers in one lakehouse — separation gives you independent RBAC, cleaner lineage, and simpler OneLake security roles</a:t>
          </a:r>
        </a:p>
      </dgm:t>
    </dgm:pt>
    <dgm:pt modelId="{03E04A33-DB78-2D4D-8AFA-8B1C87C90E43}" type="parTrans" cxnId="{A7CB884B-1A03-4942-BC40-F8BFCFA4AE70}">
      <dgm:prSet/>
      <dgm:spPr/>
      <dgm:t>
        <a:bodyPr/>
        <a:lstStyle/>
        <a:p>
          <a:endParaRPr lang="en-US"/>
        </a:p>
      </dgm:t>
    </dgm:pt>
    <dgm:pt modelId="{9320FD14-2F51-E74D-93B6-E2621EC5E0CD}" type="sibTrans" cxnId="{A7CB884B-1A03-4942-BC40-F8BFCFA4AE70}">
      <dgm:prSet/>
      <dgm:spPr/>
      <dgm:t>
        <a:bodyPr/>
        <a:lstStyle/>
        <a:p>
          <a:endParaRPr lang="en-US"/>
        </a:p>
      </dgm:t>
    </dgm:pt>
    <dgm:pt modelId="{06ADD55C-C5D5-984E-8453-9FBE4B4805A3}" type="pres">
      <dgm:prSet presAssocID="{9409FB54-BC23-5047-B7B1-6A08E43D6666}" presName="linear" presStyleCnt="0">
        <dgm:presLayoutVars>
          <dgm:animLvl val="lvl"/>
          <dgm:resizeHandles val="exact"/>
        </dgm:presLayoutVars>
      </dgm:prSet>
      <dgm:spPr/>
    </dgm:pt>
    <dgm:pt modelId="{555E0169-F3DA-0C45-98A1-FFEA8BC21B43}" type="pres">
      <dgm:prSet presAssocID="{7499B0C8-1F79-6E42-8E56-23EE7F3C82C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DF4AC96-9A45-674F-9CA8-CE1C54E08E52}" type="pres">
      <dgm:prSet presAssocID="{C92E39BA-C5D9-994E-9CD8-12AA5560938E}" presName="spacer" presStyleCnt="0"/>
      <dgm:spPr/>
    </dgm:pt>
    <dgm:pt modelId="{A59125EB-D681-5A47-89AC-3635D5B89C2C}" type="pres">
      <dgm:prSet presAssocID="{CD91E62B-E5FA-E545-ADD2-B2AA90D13CD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A2327A9-1B4F-124E-9728-058485B34418}" type="pres">
      <dgm:prSet presAssocID="{3AFC0FCD-4C4B-724D-AB65-4EC380A25C06}" presName="spacer" presStyleCnt="0"/>
      <dgm:spPr/>
    </dgm:pt>
    <dgm:pt modelId="{285D17CB-FFDB-5F49-AFCD-19042F2C5654}" type="pres">
      <dgm:prSet presAssocID="{A70EDCB6-13A1-4E42-891E-A16F652F7C7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9C89EC5-AD4B-8C45-94C5-1EEA100A5544}" type="pres">
      <dgm:prSet presAssocID="{9BEC1D58-65BF-2049-9A1A-9683B6DA6846}" presName="spacer" presStyleCnt="0"/>
      <dgm:spPr/>
    </dgm:pt>
    <dgm:pt modelId="{1E9B9E62-ACA3-5149-824E-2C3ABD198F24}" type="pres">
      <dgm:prSet presAssocID="{5CD7A0B8-347E-554F-96FA-ECE902AF8B1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7B1897C-032E-AE47-BD23-3EFE9C8BF3AD}" type="pres">
      <dgm:prSet presAssocID="{FE867308-CC66-8C4A-B7E6-23CCF63D69A4}" presName="spacer" presStyleCnt="0"/>
      <dgm:spPr/>
    </dgm:pt>
    <dgm:pt modelId="{FE05CD07-BADD-B04E-8481-FD3765E72BF0}" type="pres">
      <dgm:prSet presAssocID="{4044FB9D-1431-BC4A-9333-C04EC5B1A10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EA45D45-1AA4-454B-9F34-895AE4E95861}" type="pres">
      <dgm:prSet presAssocID="{9302EFA0-BB75-184C-87E3-63F01080C6DB}" presName="spacer" presStyleCnt="0"/>
      <dgm:spPr/>
    </dgm:pt>
    <dgm:pt modelId="{2B51E4BE-1A18-274A-8373-6A6716E2DBFF}" type="pres">
      <dgm:prSet presAssocID="{E8E683C9-000C-0941-BC9A-E50532A231E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1CD7C31D-A7B7-9240-A11F-C6A80C2814DF}" type="presOf" srcId="{CD91E62B-E5FA-E545-ADD2-B2AA90D13CDA}" destId="{A59125EB-D681-5A47-89AC-3635D5B89C2C}" srcOrd="0" destOrd="0" presId="urn:microsoft.com/office/officeart/2005/8/layout/vList2"/>
    <dgm:cxn modelId="{F5F75824-CA48-CF43-9343-81285C4CA671}" srcId="{9409FB54-BC23-5047-B7B1-6A08E43D6666}" destId="{5CD7A0B8-347E-554F-96FA-ECE902AF8B15}" srcOrd="3" destOrd="0" parTransId="{34156D0E-EB49-164C-A9C6-192D32FF7422}" sibTransId="{FE867308-CC66-8C4A-B7E6-23CCF63D69A4}"/>
    <dgm:cxn modelId="{0C6CF928-154D-B04F-9228-E4122C929036}" srcId="{9409FB54-BC23-5047-B7B1-6A08E43D6666}" destId="{CD91E62B-E5FA-E545-ADD2-B2AA90D13CDA}" srcOrd="1" destOrd="0" parTransId="{818CB9B1-7B31-014C-94B8-04ADA14F6D60}" sibTransId="{3AFC0FCD-4C4B-724D-AB65-4EC380A25C06}"/>
    <dgm:cxn modelId="{9CE7983C-887F-E94A-B28B-EC70D5BAE3CB}" type="presOf" srcId="{E8E683C9-000C-0941-BC9A-E50532A231E6}" destId="{2B51E4BE-1A18-274A-8373-6A6716E2DBFF}" srcOrd="0" destOrd="0" presId="urn:microsoft.com/office/officeart/2005/8/layout/vList2"/>
    <dgm:cxn modelId="{1ECC8A4A-0C36-D94F-8A9F-A9DAC6B51820}" type="presOf" srcId="{5CD7A0B8-347E-554F-96FA-ECE902AF8B15}" destId="{1E9B9E62-ACA3-5149-824E-2C3ABD198F24}" srcOrd="0" destOrd="0" presId="urn:microsoft.com/office/officeart/2005/8/layout/vList2"/>
    <dgm:cxn modelId="{A7CB884B-1A03-4942-BC40-F8BFCFA4AE70}" srcId="{9409FB54-BC23-5047-B7B1-6A08E43D6666}" destId="{E8E683C9-000C-0941-BC9A-E50532A231E6}" srcOrd="5" destOrd="0" parTransId="{03E04A33-DB78-2D4D-8AFA-8B1C87C90E43}" sibTransId="{9320FD14-2F51-E74D-93B6-E2621EC5E0CD}"/>
    <dgm:cxn modelId="{5E5BC066-D7BE-304E-B0C2-27A748557F89}" srcId="{9409FB54-BC23-5047-B7B1-6A08E43D6666}" destId="{A70EDCB6-13A1-4E42-891E-A16F652F7C74}" srcOrd="2" destOrd="0" parTransId="{9DBC4136-CA8B-994F-A0CA-7058EBE7B007}" sibTransId="{9BEC1D58-65BF-2049-9A1A-9683B6DA6846}"/>
    <dgm:cxn modelId="{B0DC0AA2-1A17-4441-86D1-48307EE27356}" type="presOf" srcId="{9409FB54-BC23-5047-B7B1-6A08E43D6666}" destId="{06ADD55C-C5D5-984E-8453-9FBE4B4805A3}" srcOrd="0" destOrd="0" presId="urn:microsoft.com/office/officeart/2005/8/layout/vList2"/>
    <dgm:cxn modelId="{822895BF-9CB1-DC4F-B8AD-32592B4CC447}" srcId="{9409FB54-BC23-5047-B7B1-6A08E43D6666}" destId="{4044FB9D-1431-BC4A-9333-C04EC5B1A10D}" srcOrd="4" destOrd="0" parTransId="{07D5705D-47B6-BD44-A4C9-ADDD86D5619B}" sibTransId="{9302EFA0-BB75-184C-87E3-63F01080C6DB}"/>
    <dgm:cxn modelId="{DEA389CD-3E8B-8846-9A05-665D6661BDB9}" type="presOf" srcId="{A70EDCB6-13A1-4E42-891E-A16F652F7C74}" destId="{285D17CB-FFDB-5F49-AFCD-19042F2C5654}" srcOrd="0" destOrd="0" presId="urn:microsoft.com/office/officeart/2005/8/layout/vList2"/>
    <dgm:cxn modelId="{AF65DBD3-59C4-354B-9C48-86D55756E15D}" srcId="{9409FB54-BC23-5047-B7B1-6A08E43D6666}" destId="{7499B0C8-1F79-6E42-8E56-23EE7F3C82C3}" srcOrd="0" destOrd="0" parTransId="{C03646F1-57BD-104E-87D4-5C1F750B04CF}" sibTransId="{C92E39BA-C5D9-994E-9CD8-12AA5560938E}"/>
    <dgm:cxn modelId="{A4E69EDB-943C-0B47-A1B7-7D2F20B67B12}" type="presOf" srcId="{7499B0C8-1F79-6E42-8E56-23EE7F3C82C3}" destId="{555E0169-F3DA-0C45-98A1-FFEA8BC21B43}" srcOrd="0" destOrd="0" presId="urn:microsoft.com/office/officeart/2005/8/layout/vList2"/>
    <dgm:cxn modelId="{15B5EFFF-D65B-1648-8E70-4D50244A574C}" type="presOf" srcId="{4044FB9D-1431-BC4A-9333-C04EC5B1A10D}" destId="{FE05CD07-BADD-B04E-8481-FD3765E72BF0}" srcOrd="0" destOrd="0" presId="urn:microsoft.com/office/officeart/2005/8/layout/vList2"/>
    <dgm:cxn modelId="{3BA3F2E3-2DBC-6B45-903D-4527F6DCE069}" type="presParOf" srcId="{06ADD55C-C5D5-984E-8453-9FBE4B4805A3}" destId="{555E0169-F3DA-0C45-98A1-FFEA8BC21B43}" srcOrd="0" destOrd="0" presId="urn:microsoft.com/office/officeart/2005/8/layout/vList2"/>
    <dgm:cxn modelId="{C96657B3-5D86-134E-8AA5-364D797E5EB4}" type="presParOf" srcId="{06ADD55C-C5D5-984E-8453-9FBE4B4805A3}" destId="{4DF4AC96-9A45-674F-9CA8-CE1C54E08E52}" srcOrd="1" destOrd="0" presId="urn:microsoft.com/office/officeart/2005/8/layout/vList2"/>
    <dgm:cxn modelId="{F5B751B2-9027-3642-9949-E437607D1F29}" type="presParOf" srcId="{06ADD55C-C5D5-984E-8453-9FBE4B4805A3}" destId="{A59125EB-D681-5A47-89AC-3635D5B89C2C}" srcOrd="2" destOrd="0" presId="urn:microsoft.com/office/officeart/2005/8/layout/vList2"/>
    <dgm:cxn modelId="{91F93890-2AB5-0F44-BDB5-EFCBC1EC9A60}" type="presParOf" srcId="{06ADD55C-C5D5-984E-8453-9FBE4B4805A3}" destId="{0A2327A9-1B4F-124E-9728-058485B34418}" srcOrd="3" destOrd="0" presId="urn:microsoft.com/office/officeart/2005/8/layout/vList2"/>
    <dgm:cxn modelId="{5F6C6136-1C91-594A-B15F-535DC8F811F0}" type="presParOf" srcId="{06ADD55C-C5D5-984E-8453-9FBE4B4805A3}" destId="{285D17CB-FFDB-5F49-AFCD-19042F2C5654}" srcOrd="4" destOrd="0" presId="urn:microsoft.com/office/officeart/2005/8/layout/vList2"/>
    <dgm:cxn modelId="{92BCF6D7-2E13-0840-BDF3-F343F194996E}" type="presParOf" srcId="{06ADD55C-C5D5-984E-8453-9FBE4B4805A3}" destId="{69C89EC5-AD4B-8C45-94C5-1EEA100A5544}" srcOrd="5" destOrd="0" presId="urn:microsoft.com/office/officeart/2005/8/layout/vList2"/>
    <dgm:cxn modelId="{05839A31-A96A-604C-9D7D-435AE62C2D32}" type="presParOf" srcId="{06ADD55C-C5D5-984E-8453-9FBE4B4805A3}" destId="{1E9B9E62-ACA3-5149-824E-2C3ABD198F24}" srcOrd="6" destOrd="0" presId="urn:microsoft.com/office/officeart/2005/8/layout/vList2"/>
    <dgm:cxn modelId="{D9C0B844-8E85-0447-9339-A965A556FCDA}" type="presParOf" srcId="{06ADD55C-C5D5-984E-8453-9FBE4B4805A3}" destId="{F7B1897C-032E-AE47-BD23-3EFE9C8BF3AD}" srcOrd="7" destOrd="0" presId="urn:microsoft.com/office/officeart/2005/8/layout/vList2"/>
    <dgm:cxn modelId="{EE074160-0894-3A43-BBA0-DA6C8C6AA320}" type="presParOf" srcId="{06ADD55C-C5D5-984E-8453-9FBE4B4805A3}" destId="{FE05CD07-BADD-B04E-8481-FD3765E72BF0}" srcOrd="8" destOrd="0" presId="urn:microsoft.com/office/officeart/2005/8/layout/vList2"/>
    <dgm:cxn modelId="{07CEB176-DE8F-EC4D-9A06-BA06AF7E667A}" type="presParOf" srcId="{06ADD55C-C5D5-984E-8453-9FBE4B4805A3}" destId="{6EA45D45-1AA4-454B-9F34-895AE4E95861}" srcOrd="9" destOrd="0" presId="urn:microsoft.com/office/officeart/2005/8/layout/vList2"/>
    <dgm:cxn modelId="{96E41405-B47A-CE44-8270-D68BFDDBA829}" type="presParOf" srcId="{06ADD55C-C5D5-984E-8453-9FBE4B4805A3}" destId="{2B51E4BE-1A18-274A-8373-6A6716E2DBF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3B89DB7-8A96-45CC-8987-20EA4037C127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B6AD94F-9D3F-4E89-9C89-B099316F5E25}">
      <dgm:prSet/>
      <dgm:spPr/>
      <dgm:t>
        <a:bodyPr/>
        <a:lstStyle/>
        <a:p>
          <a:r>
            <a:rPr lang="en-US" dirty="0"/>
            <a:t>Honest assessment: Fabric governance is still catching up to Azure (and other platforms)</a:t>
          </a:r>
        </a:p>
      </dgm:t>
    </dgm:pt>
    <dgm:pt modelId="{5DA8B54A-D08F-4052-B98B-5CE6B0CFC424}" type="parTrans" cxnId="{42A1C299-4018-4EA9-B011-0F8FE539581F}">
      <dgm:prSet/>
      <dgm:spPr/>
      <dgm:t>
        <a:bodyPr/>
        <a:lstStyle/>
        <a:p>
          <a:endParaRPr lang="en-US"/>
        </a:p>
      </dgm:t>
    </dgm:pt>
    <dgm:pt modelId="{64D191EF-1AE7-4B7F-89EB-89032FBC6099}" type="sibTrans" cxnId="{42A1C299-4018-4EA9-B011-0F8FE539581F}">
      <dgm:prSet/>
      <dgm:spPr/>
      <dgm:t>
        <a:bodyPr/>
        <a:lstStyle/>
        <a:p>
          <a:endParaRPr lang="en-US"/>
        </a:p>
      </dgm:t>
    </dgm:pt>
    <dgm:pt modelId="{1CB97837-4006-49B3-9AA3-AAE5A960BE44}">
      <dgm:prSet/>
      <dgm:spPr/>
      <dgm:t>
        <a:bodyPr/>
        <a:lstStyle/>
        <a:p>
          <a:r>
            <a:rPr lang="en-US" dirty="0"/>
            <a:t>Key gaps to watch: granular RBAC, enhanced auditing, BC/DR maturity</a:t>
          </a:r>
        </a:p>
      </dgm:t>
    </dgm:pt>
    <dgm:pt modelId="{3777FE62-3696-419A-ABC0-679EE4630B6E}" type="parTrans" cxnId="{BE9A1A75-DA85-4896-B70A-6C8F56621697}">
      <dgm:prSet/>
      <dgm:spPr/>
      <dgm:t>
        <a:bodyPr/>
        <a:lstStyle/>
        <a:p>
          <a:endParaRPr lang="en-US"/>
        </a:p>
      </dgm:t>
    </dgm:pt>
    <dgm:pt modelId="{FBDE2214-631B-41B5-A2D5-0F3FC3924405}" type="sibTrans" cxnId="{BE9A1A75-DA85-4896-B70A-6C8F56621697}">
      <dgm:prSet/>
      <dgm:spPr/>
      <dgm:t>
        <a:bodyPr/>
        <a:lstStyle/>
        <a:p>
          <a:endParaRPr lang="en-US"/>
        </a:p>
      </dgm:t>
    </dgm:pt>
    <dgm:pt modelId="{E521D99C-6DC8-4414-B146-EF7BBE749720}">
      <dgm:prSet/>
      <dgm:spPr/>
      <dgm:t>
        <a:bodyPr/>
        <a:lstStyle/>
        <a:p>
          <a:r>
            <a:rPr lang="en-US" dirty="0"/>
            <a:t>Gaps to ask for: Azure Policy, Azure Monitor </a:t>
          </a:r>
        </a:p>
      </dgm:t>
    </dgm:pt>
    <dgm:pt modelId="{7AABF4D5-5384-4D05-B3A6-0E7E5D039826}" type="parTrans" cxnId="{FCCC4794-4752-4A7A-AD7C-7BAF0FECCE20}">
      <dgm:prSet/>
      <dgm:spPr/>
      <dgm:t>
        <a:bodyPr/>
        <a:lstStyle/>
        <a:p>
          <a:endParaRPr lang="en-US"/>
        </a:p>
      </dgm:t>
    </dgm:pt>
    <dgm:pt modelId="{BFD789B4-DAE1-4ADD-963B-7A875414FC75}" type="sibTrans" cxnId="{FCCC4794-4752-4A7A-AD7C-7BAF0FECCE20}">
      <dgm:prSet/>
      <dgm:spPr/>
      <dgm:t>
        <a:bodyPr/>
        <a:lstStyle/>
        <a:p>
          <a:endParaRPr lang="en-US"/>
        </a:p>
      </dgm:t>
    </dgm:pt>
    <dgm:pt modelId="{E7272A3E-D01C-4DEB-9D50-6F393B41792D}">
      <dgm:prSet/>
      <dgm:spPr/>
      <dgm:t>
        <a:bodyPr/>
        <a:lstStyle/>
        <a:p>
          <a:r>
            <a:rPr lang="en-US" dirty="0"/>
            <a:t>The framework you build now positions you to adopt these features as they ship</a:t>
          </a:r>
        </a:p>
      </dgm:t>
    </dgm:pt>
    <dgm:pt modelId="{FC88FADD-4D84-4BAC-94B8-4E64C2A67891}" type="parTrans" cxnId="{2B41FF9D-55A7-4868-A223-F8ADED345281}">
      <dgm:prSet/>
      <dgm:spPr/>
      <dgm:t>
        <a:bodyPr/>
        <a:lstStyle/>
        <a:p>
          <a:endParaRPr lang="en-US"/>
        </a:p>
      </dgm:t>
    </dgm:pt>
    <dgm:pt modelId="{7285C791-76BF-41BD-BCC8-DC31FB108EB4}" type="sibTrans" cxnId="{2B41FF9D-55A7-4868-A223-F8ADED345281}">
      <dgm:prSet/>
      <dgm:spPr/>
      <dgm:t>
        <a:bodyPr/>
        <a:lstStyle/>
        <a:p>
          <a:endParaRPr lang="en-US"/>
        </a:p>
      </dgm:t>
    </dgm:pt>
    <dgm:pt modelId="{E5D08539-78B1-D242-8E9C-1FC8B9A94E93}">
      <dgm:prSet/>
      <dgm:spPr/>
      <dgm:t>
        <a:bodyPr/>
        <a:lstStyle/>
        <a:p>
          <a:r>
            <a:rPr lang="en-US" dirty="0"/>
            <a:t>It only took three years to get workspace identity fixed </a:t>
          </a:r>
          <a:r>
            <a:rPr lang="en-US" dirty="0">
              <a:sym typeface="Wingdings" pitchFamily="2" charset="2"/>
            </a:rPr>
            <a:t> </a:t>
          </a:r>
          <a:endParaRPr lang="en-US" dirty="0"/>
        </a:p>
      </dgm:t>
    </dgm:pt>
    <dgm:pt modelId="{A2F0FD96-CCD5-9A42-B44B-EC7C92320ABB}" type="parTrans" cxnId="{E6EA5A15-FE84-454E-B055-6FC601DE565D}">
      <dgm:prSet/>
      <dgm:spPr/>
      <dgm:t>
        <a:bodyPr/>
        <a:lstStyle/>
        <a:p>
          <a:endParaRPr lang="en-US"/>
        </a:p>
      </dgm:t>
    </dgm:pt>
    <dgm:pt modelId="{BFAA7CB6-AFC8-F346-BC31-F6CD7D3E5E69}" type="sibTrans" cxnId="{E6EA5A15-FE84-454E-B055-6FC601DE565D}">
      <dgm:prSet/>
      <dgm:spPr/>
      <dgm:t>
        <a:bodyPr/>
        <a:lstStyle/>
        <a:p>
          <a:endParaRPr lang="en-US"/>
        </a:p>
      </dgm:t>
    </dgm:pt>
    <dgm:pt modelId="{850D2125-3863-7141-9846-210913DE5B52}" type="pres">
      <dgm:prSet presAssocID="{03B89DB7-8A96-45CC-8987-20EA4037C127}" presName="vert0" presStyleCnt="0">
        <dgm:presLayoutVars>
          <dgm:dir/>
          <dgm:animOne val="branch"/>
          <dgm:animLvl val="lvl"/>
        </dgm:presLayoutVars>
      </dgm:prSet>
      <dgm:spPr/>
    </dgm:pt>
    <dgm:pt modelId="{50D141EB-253E-304B-92BE-9C1BF8B2BD6F}" type="pres">
      <dgm:prSet presAssocID="{CB6AD94F-9D3F-4E89-9C89-B099316F5E25}" presName="thickLine" presStyleLbl="alignNode1" presStyleIdx="0" presStyleCnt="5"/>
      <dgm:spPr/>
    </dgm:pt>
    <dgm:pt modelId="{0FF3659F-4C0C-AC47-9B6E-B3A733432AA0}" type="pres">
      <dgm:prSet presAssocID="{CB6AD94F-9D3F-4E89-9C89-B099316F5E25}" presName="horz1" presStyleCnt="0"/>
      <dgm:spPr/>
    </dgm:pt>
    <dgm:pt modelId="{4F9CF78B-92F8-DF4F-B38A-4DA09440D6C1}" type="pres">
      <dgm:prSet presAssocID="{CB6AD94F-9D3F-4E89-9C89-B099316F5E25}" presName="tx1" presStyleLbl="revTx" presStyleIdx="0" presStyleCnt="5"/>
      <dgm:spPr/>
    </dgm:pt>
    <dgm:pt modelId="{45328D66-6664-9748-B7A1-7EAB023DE83A}" type="pres">
      <dgm:prSet presAssocID="{CB6AD94F-9D3F-4E89-9C89-B099316F5E25}" presName="vert1" presStyleCnt="0"/>
      <dgm:spPr/>
    </dgm:pt>
    <dgm:pt modelId="{3CC5268E-58D8-354D-A07D-1382944116D0}" type="pres">
      <dgm:prSet presAssocID="{1CB97837-4006-49B3-9AA3-AAE5A960BE44}" presName="thickLine" presStyleLbl="alignNode1" presStyleIdx="1" presStyleCnt="5"/>
      <dgm:spPr/>
    </dgm:pt>
    <dgm:pt modelId="{9FB972DF-FB5A-7C4F-88EA-BA27798A37C4}" type="pres">
      <dgm:prSet presAssocID="{1CB97837-4006-49B3-9AA3-AAE5A960BE44}" presName="horz1" presStyleCnt="0"/>
      <dgm:spPr/>
    </dgm:pt>
    <dgm:pt modelId="{AEFBC89A-1882-CE46-A5BF-CDAB27282089}" type="pres">
      <dgm:prSet presAssocID="{1CB97837-4006-49B3-9AA3-AAE5A960BE44}" presName="tx1" presStyleLbl="revTx" presStyleIdx="1" presStyleCnt="5"/>
      <dgm:spPr/>
    </dgm:pt>
    <dgm:pt modelId="{E91B8C7A-41B1-6849-9AF9-1056268D78EE}" type="pres">
      <dgm:prSet presAssocID="{1CB97837-4006-49B3-9AA3-AAE5A960BE44}" presName="vert1" presStyleCnt="0"/>
      <dgm:spPr/>
    </dgm:pt>
    <dgm:pt modelId="{FB2C078A-EB27-2E42-829B-845D183FFD25}" type="pres">
      <dgm:prSet presAssocID="{E521D99C-6DC8-4414-B146-EF7BBE749720}" presName="thickLine" presStyleLbl="alignNode1" presStyleIdx="2" presStyleCnt="5"/>
      <dgm:spPr/>
    </dgm:pt>
    <dgm:pt modelId="{942C11D6-26C0-474F-8524-668668C313A0}" type="pres">
      <dgm:prSet presAssocID="{E521D99C-6DC8-4414-B146-EF7BBE749720}" presName="horz1" presStyleCnt="0"/>
      <dgm:spPr/>
    </dgm:pt>
    <dgm:pt modelId="{2C16D73D-EC6C-EA4E-87B5-5EA0FB63C264}" type="pres">
      <dgm:prSet presAssocID="{E521D99C-6DC8-4414-B146-EF7BBE749720}" presName="tx1" presStyleLbl="revTx" presStyleIdx="2" presStyleCnt="5"/>
      <dgm:spPr/>
    </dgm:pt>
    <dgm:pt modelId="{E4A03F74-ECEA-0C47-A5A0-0F248D35F74D}" type="pres">
      <dgm:prSet presAssocID="{E521D99C-6DC8-4414-B146-EF7BBE749720}" presName="vert1" presStyleCnt="0"/>
      <dgm:spPr/>
    </dgm:pt>
    <dgm:pt modelId="{3AA7DA9A-74BF-E44D-8BB2-BA0F4F5CDADB}" type="pres">
      <dgm:prSet presAssocID="{E7272A3E-D01C-4DEB-9D50-6F393B41792D}" presName="thickLine" presStyleLbl="alignNode1" presStyleIdx="3" presStyleCnt="5"/>
      <dgm:spPr/>
    </dgm:pt>
    <dgm:pt modelId="{3F8865EB-113C-0940-8AC1-49A6A050ECDE}" type="pres">
      <dgm:prSet presAssocID="{E7272A3E-D01C-4DEB-9D50-6F393B41792D}" presName="horz1" presStyleCnt="0"/>
      <dgm:spPr/>
    </dgm:pt>
    <dgm:pt modelId="{28D907A5-8787-0B42-811F-26E4CFC12FED}" type="pres">
      <dgm:prSet presAssocID="{E7272A3E-D01C-4DEB-9D50-6F393B41792D}" presName="tx1" presStyleLbl="revTx" presStyleIdx="3" presStyleCnt="5"/>
      <dgm:spPr/>
    </dgm:pt>
    <dgm:pt modelId="{30DBF506-D56B-3E4C-B251-3400A0DE8F7F}" type="pres">
      <dgm:prSet presAssocID="{E7272A3E-D01C-4DEB-9D50-6F393B41792D}" presName="vert1" presStyleCnt="0"/>
      <dgm:spPr/>
    </dgm:pt>
    <dgm:pt modelId="{673C8B00-D2DA-DF4C-8D9C-02EC37BD5F96}" type="pres">
      <dgm:prSet presAssocID="{E5D08539-78B1-D242-8E9C-1FC8B9A94E93}" presName="thickLine" presStyleLbl="alignNode1" presStyleIdx="4" presStyleCnt="5"/>
      <dgm:spPr/>
    </dgm:pt>
    <dgm:pt modelId="{DCE287C9-8F4A-B14D-8920-151E03BE98A9}" type="pres">
      <dgm:prSet presAssocID="{E5D08539-78B1-D242-8E9C-1FC8B9A94E93}" presName="horz1" presStyleCnt="0"/>
      <dgm:spPr/>
    </dgm:pt>
    <dgm:pt modelId="{73203B9F-EBA8-7845-B814-41E9F7FD53D6}" type="pres">
      <dgm:prSet presAssocID="{E5D08539-78B1-D242-8E9C-1FC8B9A94E93}" presName="tx1" presStyleLbl="revTx" presStyleIdx="4" presStyleCnt="5"/>
      <dgm:spPr/>
    </dgm:pt>
    <dgm:pt modelId="{5159BA57-6B40-FD4C-9BD7-0F42B8F25CF6}" type="pres">
      <dgm:prSet presAssocID="{E5D08539-78B1-D242-8E9C-1FC8B9A94E93}" presName="vert1" presStyleCnt="0"/>
      <dgm:spPr/>
    </dgm:pt>
  </dgm:ptLst>
  <dgm:cxnLst>
    <dgm:cxn modelId="{E6EA5A15-FE84-454E-B055-6FC601DE565D}" srcId="{03B89DB7-8A96-45CC-8987-20EA4037C127}" destId="{E5D08539-78B1-D242-8E9C-1FC8B9A94E93}" srcOrd="4" destOrd="0" parTransId="{A2F0FD96-CCD5-9A42-B44B-EC7C92320ABB}" sibTransId="{BFAA7CB6-AFC8-F346-BC31-F6CD7D3E5E69}"/>
    <dgm:cxn modelId="{0BAAEA2B-BC16-734A-AFEA-C741308E3DD4}" type="presOf" srcId="{CB6AD94F-9D3F-4E89-9C89-B099316F5E25}" destId="{4F9CF78B-92F8-DF4F-B38A-4DA09440D6C1}" srcOrd="0" destOrd="0" presId="urn:microsoft.com/office/officeart/2008/layout/LinedList"/>
    <dgm:cxn modelId="{CDD8AA45-80A0-7D4D-BEF4-40D3E3401570}" type="presOf" srcId="{E7272A3E-D01C-4DEB-9D50-6F393B41792D}" destId="{28D907A5-8787-0B42-811F-26E4CFC12FED}" srcOrd="0" destOrd="0" presId="urn:microsoft.com/office/officeart/2008/layout/LinedList"/>
    <dgm:cxn modelId="{32BAE64A-BCC9-3C45-A883-07AD938E5096}" type="presOf" srcId="{03B89DB7-8A96-45CC-8987-20EA4037C127}" destId="{850D2125-3863-7141-9846-210913DE5B52}" srcOrd="0" destOrd="0" presId="urn:microsoft.com/office/officeart/2008/layout/LinedList"/>
    <dgm:cxn modelId="{BE9A1A75-DA85-4896-B70A-6C8F56621697}" srcId="{03B89DB7-8A96-45CC-8987-20EA4037C127}" destId="{1CB97837-4006-49B3-9AA3-AAE5A960BE44}" srcOrd="1" destOrd="0" parTransId="{3777FE62-3696-419A-ABC0-679EE4630B6E}" sibTransId="{FBDE2214-631B-41B5-A2D5-0F3FC3924405}"/>
    <dgm:cxn modelId="{C49BED7A-4DA4-A74F-8CA8-CCCD216E1301}" type="presOf" srcId="{E5D08539-78B1-D242-8E9C-1FC8B9A94E93}" destId="{73203B9F-EBA8-7845-B814-41E9F7FD53D6}" srcOrd="0" destOrd="0" presId="urn:microsoft.com/office/officeart/2008/layout/LinedList"/>
    <dgm:cxn modelId="{FCCC4794-4752-4A7A-AD7C-7BAF0FECCE20}" srcId="{03B89DB7-8A96-45CC-8987-20EA4037C127}" destId="{E521D99C-6DC8-4414-B146-EF7BBE749720}" srcOrd="2" destOrd="0" parTransId="{7AABF4D5-5384-4D05-B3A6-0E7E5D039826}" sibTransId="{BFD789B4-DAE1-4ADD-963B-7A875414FC75}"/>
    <dgm:cxn modelId="{42A1C299-4018-4EA9-B011-0F8FE539581F}" srcId="{03B89DB7-8A96-45CC-8987-20EA4037C127}" destId="{CB6AD94F-9D3F-4E89-9C89-B099316F5E25}" srcOrd="0" destOrd="0" parTransId="{5DA8B54A-D08F-4052-B98B-5CE6B0CFC424}" sibTransId="{64D191EF-1AE7-4B7F-89EB-89032FBC6099}"/>
    <dgm:cxn modelId="{2B41FF9D-55A7-4868-A223-F8ADED345281}" srcId="{03B89DB7-8A96-45CC-8987-20EA4037C127}" destId="{E7272A3E-D01C-4DEB-9D50-6F393B41792D}" srcOrd="3" destOrd="0" parTransId="{FC88FADD-4D84-4BAC-94B8-4E64C2A67891}" sibTransId="{7285C791-76BF-41BD-BCC8-DC31FB108EB4}"/>
    <dgm:cxn modelId="{853E42C2-C94E-E748-86C4-333ABB838283}" type="presOf" srcId="{E521D99C-6DC8-4414-B146-EF7BBE749720}" destId="{2C16D73D-EC6C-EA4E-87B5-5EA0FB63C264}" srcOrd="0" destOrd="0" presId="urn:microsoft.com/office/officeart/2008/layout/LinedList"/>
    <dgm:cxn modelId="{73CB7ED5-2BEA-004E-8033-E58A226214AF}" type="presOf" srcId="{1CB97837-4006-49B3-9AA3-AAE5A960BE44}" destId="{AEFBC89A-1882-CE46-A5BF-CDAB27282089}" srcOrd="0" destOrd="0" presId="urn:microsoft.com/office/officeart/2008/layout/LinedList"/>
    <dgm:cxn modelId="{75168D27-CBCE-3346-ADA6-E85A376D5B91}" type="presParOf" srcId="{850D2125-3863-7141-9846-210913DE5B52}" destId="{50D141EB-253E-304B-92BE-9C1BF8B2BD6F}" srcOrd="0" destOrd="0" presId="urn:microsoft.com/office/officeart/2008/layout/LinedList"/>
    <dgm:cxn modelId="{72D92621-640A-C64E-B894-92AAA5E02301}" type="presParOf" srcId="{850D2125-3863-7141-9846-210913DE5B52}" destId="{0FF3659F-4C0C-AC47-9B6E-B3A733432AA0}" srcOrd="1" destOrd="0" presId="urn:microsoft.com/office/officeart/2008/layout/LinedList"/>
    <dgm:cxn modelId="{ECBFE765-5799-DA42-AE1C-B782800AF2E2}" type="presParOf" srcId="{0FF3659F-4C0C-AC47-9B6E-B3A733432AA0}" destId="{4F9CF78B-92F8-DF4F-B38A-4DA09440D6C1}" srcOrd="0" destOrd="0" presId="urn:microsoft.com/office/officeart/2008/layout/LinedList"/>
    <dgm:cxn modelId="{1E094883-222A-BF40-8D06-F5530AD1E435}" type="presParOf" srcId="{0FF3659F-4C0C-AC47-9B6E-B3A733432AA0}" destId="{45328D66-6664-9748-B7A1-7EAB023DE83A}" srcOrd="1" destOrd="0" presId="urn:microsoft.com/office/officeart/2008/layout/LinedList"/>
    <dgm:cxn modelId="{47D83E2F-632D-494D-98B5-2D68DCF6A51A}" type="presParOf" srcId="{850D2125-3863-7141-9846-210913DE5B52}" destId="{3CC5268E-58D8-354D-A07D-1382944116D0}" srcOrd="2" destOrd="0" presId="urn:microsoft.com/office/officeart/2008/layout/LinedList"/>
    <dgm:cxn modelId="{0CF80E4B-63C0-C44A-B057-23F3F6BA4A61}" type="presParOf" srcId="{850D2125-3863-7141-9846-210913DE5B52}" destId="{9FB972DF-FB5A-7C4F-88EA-BA27798A37C4}" srcOrd="3" destOrd="0" presId="urn:microsoft.com/office/officeart/2008/layout/LinedList"/>
    <dgm:cxn modelId="{AEFE710B-3298-3D41-82D8-7CB1D5875FA2}" type="presParOf" srcId="{9FB972DF-FB5A-7C4F-88EA-BA27798A37C4}" destId="{AEFBC89A-1882-CE46-A5BF-CDAB27282089}" srcOrd="0" destOrd="0" presId="urn:microsoft.com/office/officeart/2008/layout/LinedList"/>
    <dgm:cxn modelId="{24FE6855-148E-4447-8CB2-280F90186E2A}" type="presParOf" srcId="{9FB972DF-FB5A-7C4F-88EA-BA27798A37C4}" destId="{E91B8C7A-41B1-6849-9AF9-1056268D78EE}" srcOrd="1" destOrd="0" presId="urn:microsoft.com/office/officeart/2008/layout/LinedList"/>
    <dgm:cxn modelId="{6FB09D71-9779-1044-B920-2B63ED02EEB1}" type="presParOf" srcId="{850D2125-3863-7141-9846-210913DE5B52}" destId="{FB2C078A-EB27-2E42-829B-845D183FFD25}" srcOrd="4" destOrd="0" presId="urn:microsoft.com/office/officeart/2008/layout/LinedList"/>
    <dgm:cxn modelId="{682842D9-2C7E-7C43-851E-3B20C8AD0659}" type="presParOf" srcId="{850D2125-3863-7141-9846-210913DE5B52}" destId="{942C11D6-26C0-474F-8524-668668C313A0}" srcOrd="5" destOrd="0" presId="urn:microsoft.com/office/officeart/2008/layout/LinedList"/>
    <dgm:cxn modelId="{0874BD9D-5938-C940-8ABD-55C28847536C}" type="presParOf" srcId="{942C11D6-26C0-474F-8524-668668C313A0}" destId="{2C16D73D-EC6C-EA4E-87B5-5EA0FB63C264}" srcOrd="0" destOrd="0" presId="urn:microsoft.com/office/officeart/2008/layout/LinedList"/>
    <dgm:cxn modelId="{C8F47C3C-DDA3-D346-98CE-3B9363BCF91B}" type="presParOf" srcId="{942C11D6-26C0-474F-8524-668668C313A0}" destId="{E4A03F74-ECEA-0C47-A5A0-0F248D35F74D}" srcOrd="1" destOrd="0" presId="urn:microsoft.com/office/officeart/2008/layout/LinedList"/>
    <dgm:cxn modelId="{4EC2700D-FC00-9E4A-AD77-A70CB2D303A8}" type="presParOf" srcId="{850D2125-3863-7141-9846-210913DE5B52}" destId="{3AA7DA9A-74BF-E44D-8BB2-BA0F4F5CDADB}" srcOrd="6" destOrd="0" presId="urn:microsoft.com/office/officeart/2008/layout/LinedList"/>
    <dgm:cxn modelId="{41AD6FF7-A2C5-3240-BAB3-E72C9AAD3E31}" type="presParOf" srcId="{850D2125-3863-7141-9846-210913DE5B52}" destId="{3F8865EB-113C-0940-8AC1-49A6A050ECDE}" srcOrd="7" destOrd="0" presId="urn:microsoft.com/office/officeart/2008/layout/LinedList"/>
    <dgm:cxn modelId="{EC43AE4B-B2A9-834B-8457-95CD5CD672D7}" type="presParOf" srcId="{3F8865EB-113C-0940-8AC1-49A6A050ECDE}" destId="{28D907A5-8787-0B42-811F-26E4CFC12FED}" srcOrd="0" destOrd="0" presId="urn:microsoft.com/office/officeart/2008/layout/LinedList"/>
    <dgm:cxn modelId="{A635D394-CA28-714B-8A02-2694D986903C}" type="presParOf" srcId="{3F8865EB-113C-0940-8AC1-49A6A050ECDE}" destId="{30DBF506-D56B-3E4C-B251-3400A0DE8F7F}" srcOrd="1" destOrd="0" presId="urn:microsoft.com/office/officeart/2008/layout/LinedList"/>
    <dgm:cxn modelId="{493A7182-AAE5-6140-ABEB-D76B7628A087}" type="presParOf" srcId="{850D2125-3863-7141-9846-210913DE5B52}" destId="{673C8B00-D2DA-DF4C-8D9C-02EC37BD5F96}" srcOrd="8" destOrd="0" presId="urn:microsoft.com/office/officeart/2008/layout/LinedList"/>
    <dgm:cxn modelId="{02F4EE6B-1804-DF42-94D6-22812995BB1A}" type="presParOf" srcId="{850D2125-3863-7141-9846-210913DE5B52}" destId="{DCE287C9-8F4A-B14D-8920-151E03BE98A9}" srcOrd="9" destOrd="0" presId="urn:microsoft.com/office/officeart/2008/layout/LinedList"/>
    <dgm:cxn modelId="{4153CEB3-4FB3-D74E-BEFD-01FDF1621212}" type="presParOf" srcId="{DCE287C9-8F4A-B14D-8920-151E03BE98A9}" destId="{73203B9F-EBA8-7845-B814-41E9F7FD53D6}" srcOrd="0" destOrd="0" presId="urn:microsoft.com/office/officeart/2008/layout/LinedList"/>
    <dgm:cxn modelId="{3F36FD41-37BE-534B-9396-C38238516FEA}" type="presParOf" srcId="{DCE287C9-8F4A-B14D-8920-151E03BE98A9}" destId="{5159BA57-6B40-FD4C-9BD7-0F42B8F25CF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69CD42A-42CA-4786-88E1-E14396E36836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16F8DDBB-36EE-4545-9BC8-9B85E0A25E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dirty="0"/>
            <a:t>Treat capacities like subscriptions — segment deliberately by BU, function, and environment</a:t>
          </a:r>
        </a:p>
      </dgm:t>
    </dgm:pt>
    <dgm:pt modelId="{E9905C46-AAD2-496F-892B-1795DED4A577}" type="parTrans" cxnId="{94B5F87E-01ED-4B65-9F0C-DAD1EDD02CED}">
      <dgm:prSet/>
      <dgm:spPr/>
      <dgm:t>
        <a:bodyPr/>
        <a:lstStyle/>
        <a:p>
          <a:endParaRPr lang="en-US"/>
        </a:p>
      </dgm:t>
    </dgm:pt>
    <dgm:pt modelId="{9D2213F0-0EB2-4C11-81BE-BCA2C51225F2}" type="sibTrans" cxnId="{94B5F87E-01ED-4B65-9F0C-DAD1EDD02CED}">
      <dgm:prSet/>
      <dgm:spPr/>
      <dgm:t>
        <a:bodyPr/>
        <a:lstStyle/>
        <a:p>
          <a:endParaRPr lang="en-US"/>
        </a:p>
      </dgm:t>
    </dgm:pt>
    <dgm:pt modelId="{61DAC9BD-E07F-4C56-881B-E605CDFFAAC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/>
            <a:t>Don't assume Azure governance patterns work in Fabric — know the gaps</a:t>
          </a:r>
        </a:p>
      </dgm:t>
    </dgm:pt>
    <dgm:pt modelId="{04034751-1B51-4394-83EA-0455D6873D1B}" type="parTrans" cxnId="{68D26D38-B1B0-4CD3-B398-AB5B84A2112F}">
      <dgm:prSet/>
      <dgm:spPr/>
      <dgm:t>
        <a:bodyPr/>
        <a:lstStyle/>
        <a:p>
          <a:endParaRPr lang="en-US"/>
        </a:p>
      </dgm:t>
    </dgm:pt>
    <dgm:pt modelId="{A792E73E-901B-4944-BE92-033D173578C0}" type="sibTrans" cxnId="{68D26D38-B1B0-4CD3-B398-AB5B84A2112F}">
      <dgm:prSet/>
      <dgm:spPr/>
      <dgm:t>
        <a:bodyPr/>
        <a:lstStyle/>
        <a:p>
          <a:endParaRPr lang="en-US"/>
        </a:p>
      </dgm:t>
    </dgm:pt>
    <dgm:pt modelId="{7A41C603-C076-4272-98BD-450432BB64F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/>
            <a:t>Compensate with naming standards, tagging, automation, and monitoring</a:t>
          </a:r>
        </a:p>
      </dgm:t>
    </dgm:pt>
    <dgm:pt modelId="{93857DB7-D853-4CD1-9E1C-3BF34416C9DA}" type="parTrans" cxnId="{D33F0BDB-CF5D-41BA-BF55-E6FE5054C339}">
      <dgm:prSet/>
      <dgm:spPr/>
      <dgm:t>
        <a:bodyPr/>
        <a:lstStyle/>
        <a:p>
          <a:endParaRPr lang="en-US"/>
        </a:p>
      </dgm:t>
    </dgm:pt>
    <dgm:pt modelId="{BE213686-6E12-4FE2-AF54-9DA54F7F3FAB}" type="sibTrans" cxnId="{D33F0BDB-CF5D-41BA-BF55-E6FE5054C339}">
      <dgm:prSet/>
      <dgm:spPr/>
      <dgm:t>
        <a:bodyPr/>
        <a:lstStyle/>
        <a:p>
          <a:endParaRPr lang="en-US"/>
        </a:p>
      </dgm:t>
    </dgm:pt>
    <dgm:pt modelId="{D83C30C5-F416-4CCA-8BFC-215DE547E4C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dirty="0"/>
            <a:t>Build the framework now; the platform will grow into it</a:t>
          </a:r>
        </a:p>
      </dgm:t>
    </dgm:pt>
    <dgm:pt modelId="{520AA425-5DE6-4AFE-92C2-C36E59B51503}" type="parTrans" cxnId="{AAFF8F94-AE52-48D3-ADF3-87FFC26F7109}">
      <dgm:prSet/>
      <dgm:spPr/>
      <dgm:t>
        <a:bodyPr/>
        <a:lstStyle/>
        <a:p>
          <a:endParaRPr lang="en-US"/>
        </a:p>
      </dgm:t>
    </dgm:pt>
    <dgm:pt modelId="{97BADE30-A667-4272-AD1F-ADD72B975C03}" type="sibTrans" cxnId="{AAFF8F94-AE52-48D3-ADF3-87FFC26F7109}">
      <dgm:prSet/>
      <dgm:spPr/>
      <dgm:t>
        <a:bodyPr/>
        <a:lstStyle/>
        <a:p>
          <a:endParaRPr lang="en-US"/>
        </a:p>
      </dgm:t>
    </dgm:pt>
    <dgm:pt modelId="{9E12CC34-8EC8-40E5-B049-226C2EB23F5C}" type="pres">
      <dgm:prSet presAssocID="{369CD42A-42CA-4786-88E1-E14396E36836}" presName="root" presStyleCnt="0">
        <dgm:presLayoutVars>
          <dgm:dir/>
          <dgm:resizeHandles val="exact"/>
        </dgm:presLayoutVars>
      </dgm:prSet>
      <dgm:spPr/>
    </dgm:pt>
    <dgm:pt modelId="{AF4BE96E-07BC-42F5-A111-AAADE08AC375}" type="pres">
      <dgm:prSet presAssocID="{16F8DDBB-36EE-4545-9BC8-9B85E0A25E79}" presName="compNode" presStyleCnt="0"/>
      <dgm:spPr/>
    </dgm:pt>
    <dgm:pt modelId="{F66CE6C1-27B5-4970-9926-ED15EF2211E4}" type="pres">
      <dgm:prSet presAssocID="{16F8DDBB-36EE-4545-9BC8-9B85E0A25E79}" presName="bgRect" presStyleLbl="bgShp" presStyleIdx="0" presStyleCnt="4"/>
      <dgm:spPr/>
    </dgm:pt>
    <dgm:pt modelId="{309E7108-D6F8-4EA0-907C-712BB96D9D33}" type="pres">
      <dgm:prSet presAssocID="{16F8DDBB-36EE-4545-9BC8-9B85E0A25E7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559677A-E03E-4C3F-AB57-1B755A10B510}" type="pres">
      <dgm:prSet presAssocID="{16F8DDBB-36EE-4545-9BC8-9B85E0A25E79}" presName="spaceRect" presStyleCnt="0"/>
      <dgm:spPr/>
    </dgm:pt>
    <dgm:pt modelId="{599C0540-CA04-40BA-A7B3-A8A39116A0C4}" type="pres">
      <dgm:prSet presAssocID="{16F8DDBB-36EE-4545-9BC8-9B85E0A25E79}" presName="parTx" presStyleLbl="revTx" presStyleIdx="0" presStyleCnt="4">
        <dgm:presLayoutVars>
          <dgm:chMax val="0"/>
          <dgm:chPref val="0"/>
        </dgm:presLayoutVars>
      </dgm:prSet>
      <dgm:spPr/>
    </dgm:pt>
    <dgm:pt modelId="{E559F01D-D703-4C3D-B915-B8368AE4E26E}" type="pres">
      <dgm:prSet presAssocID="{9D2213F0-0EB2-4C11-81BE-BCA2C51225F2}" presName="sibTrans" presStyleCnt="0"/>
      <dgm:spPr/>
    </dgm:pt>
    <dgm:pt modelId="{76EAD0D1-D3A9-42FD-82C8-8060D63671F9}" type="pres">
      <dgm:prSet presAssocID="{61DAC9BD-E07F-4C56-881B-E605CDFFAAC7}" presName="compNode" presStyleCnt="0"/>
      <dgm:spPr/>
    </dgm:pt>
    <dgm:pt modelId="{F41E957A-4CBE-4196-A726-3EC70D68CEBF}" type="pres">
      <dgm:prSet presAssocID="{61DAC9BD-E07F-4C56-881B-E605CDFFAAC7}" presName="bgRect" presStyleLbl="bgShp" presStyleIdx="1" presStyleCnt="4"/>
      <dgm:spPr/>
    </dgm:pt>
    <dgm:pt modelId="{26DBB8FB-6B8B-42E5-9475-A310B44629A2}" type="pres">
      <dgm:prSet presAssocID="{61DAC9BD-E07F-4C56-881B-E605CDFFAAC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86545344-EAAD-42C4-B436-BE769426991F}" type="pres">
      <dgm:prSet presAssocID="{61DAC9BD-E07F-4C56-881B-E605CDFFAAC7}" presName="spaceRect" presStyleCnt="0"/>
      <dgm:spPr/>
    </dgm:pt>
    <dgm:pt modelId="{6D781913-9045-406A-8045-9E88B2B646CB}" type="pres">
      <dgm:prSet presAssocID="{61DAC9BD-E07F-4C56-881B-E605CDFFAAC7}" presName="parTx" presStyleLbl="revTx" presStyleIdx="1" presStyleCnt="4">
        <dgm:presLayoutVars>
          <dgm:chMax val="0"/>
          <dgm:chPref val="0"/>
        </dgm:presLayoutVars>
      </dgm:prSet>
      <dgm:spPr/>
    </dgm:pt>
    <dgm:pt modelId="{BB047DC0-A5D1-4CF1-9D92-C8965C63B854}" type="pres">
      <dgm:prSet presAssocID="{A792E73E-901B-4944-BE92-033D173578C0}" presName="sibTrans" presStyleCnt="0"/>
      <dgm:spPr/>
    </dgm:pt>
    <dgm:pt modelId="{AF9EFF86-D5A7-4A48-A6F5-60E0562818CA}" type="pres">
      <dgm:prSet presAssocID="{7A41C603-C076-4272-98BD-450432BB64FB}" presName="compNode" presStyleCnt="0"/>
      <dgm:spPr/>
    </dgm:pt>
    <dgm:pt modelId="{38FFF48E-7D5D-4610-8F4D-5EB333A235B1}" type="pres">
      <dgm:prSet presAssocID="{7A41C603-C076-4272-98BD-450432BB64FB}" presName="bgRect" presStyleLbl="bgShp" presStyleIdx="2" presStyleCnt="4"/>
      <dgm:spPr/>
    </dgm:pt>
    <dgm:pt modelId="{6C486F56-CD31-4FE4-83FB-571CA18C8A0E}" type="pres">
      <dgm:prSet presAssocID="{7A41C603-C076-4272-98BD-450432BB64F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FCE77E8D-49E4-4D57-BF8D-2CCD801FCD18}" type="pres">
      <dgm:prSet presAssocID="{7A41C603-C076-4272-98BD-450432BB64FB}" presName="spaceRect" presStyleCnt="0"/>
      <dgm:spPr/>
    </dgm:pt>
    <dgm:pt modelId="{622C12EC-A2DE-401D-A2DD-90068C56EEED}" type="pres">
      <dgm:prSet presAssocID="{7A41C603-C076-4272-98BD-450432BB64FB}" presName="parTx" presStyleLbl="revTx" presStyleIdx="2" presStyleCnt="4">
        <dgm:presLayoutVars>
          <dgm:chMax val="0"/>
          <dgm:chPref val="0"/>
        </dgm:presLayoutVars>
      </dgm:prSet>
      <dgm:spPr/>
    </dgm:pt>
    <dgm:pt modelId="{B11E4F69-5E0B-49A6-807E-D86794C33905}" type="pres">
      <dgm:prSet presAssocID="{BE213686-6E12-4FE2-AF54-9DA54F7F3FAB}" presName="sibTrans" presStyleCnt="0"/>
      <dgm:spPr/>
    </dgm:pt>
    <dgm:pt modelId="{F3DCC101-E067-4795-A0FF-501C0DE0608B}" type="pres">
      <dgm:prSet presAssocID="{D83C30C5-F416-4CCA-8BFC-215DE547E4C0}" presName="compNode" presStyleCnt="0"/>
      <dgm:spPr/>
    </dgm:pt>
    <dgm:pt modelId="{BB7ABA1E-4CFC-4ADF-9FEE-B3360F700B25}" type="pres">
      <dgm:prSet presAssocID="{D83C30C5-F416-4CCA-8BFC-215DE547E4C0}" presName="bgRect" presStyleLbl="bgShp" presStyleIdx="3" presStyleCnt="4"/>
      <dgm:spPr/>
    </dgm:pt>
    <dgm:pt modelId="{144BA538-1325-4D00-8D78-5A41ABBC7F31}" type="pres">
      <dgm:prSet presAssocID="{D83C30C5-F416-4CCA-8BFC-215DE547E4C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6872A09-9155-4844-B638-1BB0FEB30960}" type="pres">
      <dgm:prSet presAssocID="{D83C30C5-F416-4CCA-8BFC-215DE547E4C0}" presName="spaceRect" presStyleCnt="0"/>
      <dgm:spPr/>
    </dgm:pt>
    <dgm:pt modelId="{581435BD-1E41-490A-9AD6-E77195F1F154}" type="pres">
      <dgm:prSet presAssocID="{D83C30C5-F416-4CCA-8BFC-215DE547E4C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8D26D38-B1B0-4CD3-B398-AB5B84A2112F}" srcId="{369CD42A-42CA-4786-88E1-E14396E36836}" destId="{61DAC9BD-E07F-4C56-881B-E605CDFFAAC7}" srcOrd="1" destOrd="0" parTransId="{04034751-1B51-4394-83EA-0455D6873D1B}" sibTransId="{A792E73E-901B-4944-BE92-033D173578C0}"/>
    <dgm:cxn modelId="{0F9CE44E-19F3-4BFA-BA66-FFE2D536E8DF}" type="presOf" srcId="{7A41C603-C076-4272-98BD-450432BB64FB}" destId="{622C12EC-A2DE-401D-A2DD-90068C56EEED}" srcOrd="0" destOrd="0" presId="urn:microsoft.com/office/officeart/2018/2/layout/IconVerticalSolidList"/>
    <dgm:cxn modelId="{67F72C58-8A02-4E90-9121-D3A272EFB7B8}" type="presOf" srcId="{D83C30C5-F416-4CCA-8BFC-215DE547E4C0}" destId="{581435BD-1E41-490A-9AD6-E77195F1F154}" srcOrd="0" destOrd="0" presId="urn:microsoft.com/office/officeart/2018/2/layout/IconVerticalSolidList"/>
    <dgm:cxn modelId="{A2BA4979-6C69-4701-8BE3-723959EF5318}" type="presOf" srcId="{16F8DDBB-36EE-4545-9BC8-9B85E0A25E79}" destId="{599C0540-CA04-40BA-A7B3-A8A39116A0C4}" srcOrd="0" destOrd="0" presId="urn:microsoft.com/office/officeart/2018/2/layout/IconVerticalSolidList"/>
    <dgm:cxn modelId="{6776617C-F185-45EF-8ACC-69EDDFB80477}" type="presOf" srcId="{61DAC9BD-E07F-4C56-881B-E605CDFFAAC7}" destId="{6D781913-9045-406A-8045-9E88B2B646CB}" srcOrd="0" destOrd="0" presId="urn:microsoft.com/office/officeart/2018/2/layout/IconVerticalSolidList"/>
    <dgm:cxn modelId="{94B5F87E-01ED-4B65-9F0C-DAD1EDD02CED}" srcId="{369CD42A-42CA-4786-88E1-E14396E36836}" destId="{16F8DDBB-36EE-4545-9BC8-9B85E0A25E79}" srcOrd="0" destOrd="0" parTransId="{E9905C46-AAD2-496F-892B-1795DED4A577}" sibTransId="{9D2213F0-0EB2-4C11-81BE-BCA2C51225F2}"/>
    <dgm:cxn modelId="{AAFF8F94-AE52-48D3-ADF3-87FFC26F7109}" srcId="{369CD42A-42CA-4786-88E1-E14396E36836}" destId="{D83C30C5-F416-4CCA-8BFC-215DE547E4C0}" srcOrd="3" destOrd="0" parTransId="{520AA425-5DE6-4AFE-92C2-C36E59B51503}" sibTransId="{97BADE30-A667-4272-AD1F-ADD72B975C03}"/>
    <dgm:cxn modelId="{599535B4-7BFB-46DE-A411-9EC819812CFA}" type="presOf" srcId="{369CD42A-42CA-4786-88E1-E14396E36836}" destId="{9E12CC34-8EC8-40E5-B049-226C2EB23F5C}" srcOrd="0" destOrd="0" presId="urn:microsoft.com/office/officeart/2018/2/layout/IconVerticalSolidList"/>
    <dgm:cxn modelId="{D33F0BDB-CF5D-41BA-BF55-E6FE5054C339}" srcId="{369CD42A-42CA-4786-88E1-E14396E36836}" destId="{7A41C603-C076-4272-98BD-450432BB64FB}" srcOrd="2" destOrd="0" parTransId="{93857DB7-D853-4CD1-9E1C-3BF34416C9DA}" sibTransId="{BE213686-6E12-4FE2-AF54-9DA54F7F3FAB}"/>
    <dgm:cxn modelId="{4FBA7850-D897-4857-B759-8ED5CD2F85E3}" type="presParOf" srcId="{9E12CC34-8EC8-40E5-B049-226C2EB23F5C}" destId="{AF4BE96E-07BC-42F5-A111-AAADE08AC375}" srcOrd="0" destOrd="0" presId="urn:microsoft.com/office/officeart/2018/2/layout/IconVerticalSolidList"/>
    <dgm:cxn modelId="{CCF96EFA-8873-49AF-BAF8-C9C20560666D}" type="presParOf" srcId="{AF4BE96E-07BC-42F5-A111-AAADE08AC375}" destId="{F66CE6C1-27B5-4970-9926-ED15EF2211E4}" srcOrd="0" destOrd="0" presId="urn:microsoft.com/office/officeart/2018/2/layout/IconVerticalSolidList"/>
    <dgm:cxn modelId="{4EEFA93C-69CC-4DC0-A2BE-ACBA9FFE2CD6}" type="presParOf" srcId="{AF4BE96E-07BC-42F5-A111-AAADE08AC375}" destId="{309E7108-D6F8-4EA0-907C-712BB96D9D33}" srcOrd="1" destOrd="0" presId="urn:microsoft.com/office/officeart/2018/2/layout/IconVerticalSolidList"/>
    <dgm:cxn modelId="{65194C5E-A0E5-4F74-91A4-98CE454BA5DE}" type="presParOf" srcId="{AF4BE96E-07BC-42F5-A111-AAADE08AC375}" destId="{4559677A-E03E-4C3F-AB57-1B755A10B510}" srcOrd="2" destOrd="0" presId="urn:microsoft.com/office/officeart/2018/2/layout/IconVerticalSolidList"/>
    <dgm:cxn modelId="{C592F101-F221-4E23-ABDE-6DA663E20DAB}" type="presParOf" srcId="{AF4BE96E-07BC-42F5-A111-AAADE08AC375}" destId="{599C0540-CA04-40BA-A7B3-A8A39116A0C4}" srcOrd="3" destOrd="0" presId="urn:microsoft.com/office/officeart/2018/2/layout/IconVerticalSolidList"/>
    <dgm:cxn modelId="{B9DE4F25-ECCE-46A9-AB7F-83F84E9E8257}" type="presParOf" srcId="{9E12CC34-8EC8-40E5-B049-226C2EB23F5C}" destId="{E559F01D-D703-4C3D-B915-B8368AE4E26E}" srcOrd="1" destOrd="0" presId="urn:microsoft.com/office/officeart/2018/2/layout/IconVerticalSolidList"/>
    <dgm:cxn modelId="{4DD03B40-663A-4F44-BA81-286B50190CA9}" type="presParOf" srcId="{9E12CC34-8EC8-40E5-B049-226C2EB23F5C}" destId="{76EAD0D1-D3A9-42FD-82C8-8060D63671F9}" srcOrd="2" destOrd="0" presId="urn:microsoft.com/office/officeart/2018/2/layout/IconVerticalSolidList"/>
    <dgm:cxn modelId="{F6971FD2-0259-4341-8FF9-4858876FA50A}" type="presParOf" srcId="{76EAD0D1-D3A9-42FD-82C8-8060D63671F9}" destId="{F41E957A-4CBE-4196-A726-3EC70D68CEBF}" srcOrd="0" destOrd="0" presId="urn:microsoft.com/office/officeart/2018/2/layout/IconVerticalSolidList"/>
    <dgm:cxn modelId="{63B3ED0A-BF8E-470E-8845-E8D4A26F11A3}" type="presParOf" srcId="{76EAD0D1-D3A9-42FD-82C8-8060D63671F9}" destId="{26DBB8FB-6B8B-42E5-9475-A310B44629A2}" srcOrd="1" destOrd="0" presId="urn:microsoft.com/office/officeart/2018/2/layout/IconVerticalSolidList"/>
    <dgm:cxn modelId="{707DE77C-5EFE-4CC5-A94C-B7075E07FC92}" type="presParOf" srcId="{76EAD0D1-D3A9-42FD-82C8-8060D63671F9}" destId="{86545344-EAAD-42C4-B436-BE769426991F}" srcOrd="2" destOrd="0" presId="urn:microsoft.com/office/officeart/2018/2/layout/IconVerticalSolidList"/>
    <dgm:cxn modelId="{3C273C35-0BA7-4D2B-A16D-04ECFADAAC2B}" type="presParOf" srcId="{76EAD0D1-D3A9-42FD-82C8-8060D63671F9}" destId="{6D781913-9045-406A-8045-9E88B2B646CB}" srcOrd="3" destOrd="0" presId="urn:microsoft.com/office/officeart/2018/2/layout/IconVerticalSolidList"/>
    <dgm:cxn modelId="{8DC25116-0310-480E-854C-00EA289F6BA2}" type="presParOf" srcId="{9E12CC34-8EC8-40E5-B049-226C2EB23F5C}" destId="{BB047DC0-A5D1-4CF1-9D92-C8965C63B854}" srcOrd="3" destOrd="0" presId="urn:microsoft.com/office/officeart/2018/2/layout/IconVerticalSolidList"/>
    <dgm:cxn modelId="{5BC2367B-91CD-4E20-9126-33FFB578BB7B}" type="presParOf" srcId="{9E12CC34-8EC8-40E5-B049-226C2EB23F5C}" destId="{AF9EFF86-D5A7-4A48-A6F5-60E0562818CA}" srcOrd="4" destOrd="0" presId="urn:microsoft.com/office/officeart/2018/2/layout/IconVerticalSolidList"/>
    <dgm:cxn modelId="{FAA72C9C-17EE-42DD-BC24-716D2B7B205E}" type="presParOf" srcId="{AF9EFF86-D5A7-4A48-A6F5-60E0562818CA}" destId="{38FFF48E-7D5D-4610-8F4D-5EB333A235B1}" srcOrd="0" destOrd="0" presId="urn:microsoft.com/office/officeart/2018/2/layout/IconVerticalSolidList"/>
    <dgm:cxn modelId="{41FA333C-1F83-499C-888A-2B2B145415C6}" type="presParOf" srcId="{AF9EFF86-D5A7-4A48-A6F5-60E0562818CA}" destId="{6C486F56-CD31-4FE4-83FB-571CA18C8A0E}" srcOrd="1" destOrd="0" presId="urn:microsoft.com/office/officeart/2018/2/layout/IconVerticalSolidList"/>
    <dgm:cxn modelId="{3A681C56-60FF-4D07-9643-426DE06DBE60}" type="presParOf" srcId="{AF9EFF86-D5A7-4A48-A6F5-60E0562818CA}" destId="{FCE77E8D-49E4-4D57-BF8D-2CCD801FCD18}" srcOrd="2" destOrd="0" presId="urn:microsoft.com/office/officeart/2018/2/layout/IconVerticalSolidList"/>
    <dgm:cxn modelId="{DA444418-1D37-4E59-A3FD-AD5E816C5428}" type="presParOf" srcId="{AF9EFF86-D5A7-4A48-A6F5-60E0562818CA}" destId="{622C12EC-A2DE-401D-A2DD-90068C56EEED}" srcOrd="3" destOrd="0" presId="urn:microsoft.com/office/officeart/2018/2/layout/IconVerticalSolidList"/>
    <dgm:cxn modelId="{7B318B10-28B7-4A6F-B596-3E91C0956C06}" type="presParOf" srcId="{9E12CC34-8EC8-40E5-B049-226C2EB23F5C}" destId="{B11E4F69-5E0B-49A6-807E-D86794C33905}" srcOrd="5" destOrd="0" presId="urn:microsoft.com/office/officeart/2018/2/layout/IconVerticalSolidList"/>
    <dgm:cxn modelId="{F142843B-111C-45B4-B940-BD4A4AFDE925}" type="presParOf" srcId="{9E12CC34-8EC8-40E5-B049-226C2EB23F5C}" destId="{F3DCC101-E067-4795-A0FF-501C0DE0608B}" srcOrd="6" destOrd="0" presId="urn:microsoft.com/office/officeart/2018/2/layout/IconVerticalSolidList"/>
    <dgm:cxn modelId="{A494DA76-6C95-4D3E-B8B3-A20EB8E3A761}" type="presParOf" srcId="{F3DCC101-E067-4795-A0FF-501C0DE0608B}" destId="{BB7ABA1E-4CFC-4ADF-9FEE-B3360F700B25}" srcOrd="0" destOrd="0" presId="urn:microsoft.com/office/officeart/2018/2/layout/IconVerticalSolidList"/>
    <dgm:cxn modelId="{97033E30-EAC6-4B30-B3E1-F3B2D9E9DC14}" type="presParOf" srcId="{F3DCC101-E067-4795-A0FF-501C0DE0608B}" destId="{144BA538-1325-4D00-8D78-5A41ABBC7F31}" srcOrd="1" destOrd="0" presId="urn:microsoft.com/office/officeart/2018/2/layout/IconVerticalSolidList"/>
    <dgm:cxn modelId="{CC61CF51-F30B-45A1-82E8-645244E56B02}" type="presParOf" srcId="{F3DCC101-E067-4795-A0FF-501C0DE0608B}" destId="{66872A09-9155-4844-B638-1BB0FEB30960}" srcOrd="2" destOrd="0" presId="urn:microsoft.com/office/officeart/2018/2/layout/IconVerticalSolidList"/>
    <dgm:cxn modelId="{22325A71-85A6-4EDA-BED5-9F7FBAE82399}" type="presParOf" srcId="{F3DCC101-E067-4795-A0FF-501C0DE0608B}" destId="{581435BD-1E41-490A-9AD6-E77195F1F1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7A086-8212-483D-B1DD-3B18938160A2}">
      <dsp:nvSpPr>
        <dsp:cNvPr id="0" name=""/>
        <dsp:cNvSpPr/>
      </dsp:nvSpPr>
      <dsp:spPr>
        <a:xfrm>
          <a:off x="0" y="796"/>
          <a:ext cx="15773400" cy="18646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FAACA-516D-4FCF-B33C-4F4D9C858578}">
      <dsp:nvSpPr>
        <dsp:cNvPr id="0" name=""/>
        <dsp:cNvSpPr/>
      </dsp:nvSpPr>
      <dsp:spPr>
        <a:xfrm>
          <a:off x="564050" y="420338"/>
          <a:ext cx="1025546" cy="10255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592F6-EF12-42AD-84EC-7B424351E6ED}">
      <dsp:nvSpPr>
        <dsp:cNvPr id="0" name=""/>
        <dsp:cNvSpPr/>
      </dsp:nvSpPr>
      <dsp:spPr>
        <a:xfrm>
          <a:off x="2153648" y="796"/>
          <a:ext cx="13619751" cy="186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0" tIns="197340" rIns="197340" bIns="1973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 Azure you segment by subscriptions and resource groups — in Fabric, the </a:t>
          </a:r>
          <a:r>
            <a:rPr lang="en-US" sz="2500" b="1" kern="1200"/>
            <a:t>capacity</a:t>
          </a:r>
          <a:r>
            <a:rPr lang="en-US" sz="2500" kern="1200"/>
            <a:t> is your primary unit of isolation</a:t>
          </a:r>
        </a:p>
      </dsp:txBody>
      <dsp:txXfrm>
        <a:off x="2153648" y="796"/>
        <a:ext cx="13619751" cy="1864630"/>
      </dsp:txXfrm>
    </dsp:sp>
    <dsp:sp modelId="{C9936A4E-6117-430E-BF64-3C9E57A01868}">
      <dsp:nvSpPr>
        <dsp:cNvPr id="0" name=""/>
        <dsp:cNvSpPr/>
      </dsp:nvSpPr>
      <dsp:spPr>
        <a:xfrm>
          <a:off x="0" y="2331584"/>
          <a:ext cx="15773400" cy="18646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EF453-CDF5-40E9-9188-11BC6A405731}">
      <dsp:nvSpPr>
        <dsp:cNvPr id="0" name=""/>
        <dsp:cNvSpPr/>
      </dsp:nvSpPr>
      <dsp:spPr>
        <a:xfrm>
          <a:off x="564050" y="2751126"/>
          <a:ext cx="1025546" cy="10255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75560-CB34-4893-8EAB-540BFACFD4C3}">
      <dsp:nvSpPr>
        <dsp:cNvPr id="0" name=""/>
        <dsp:cNvSpPr/>
      </dsp:nvSpPr>
      <dsp:spPr>
        <a:xfrm>
          <a:off x="2153648" y="2331584"/>
          <a:ext cx="13619751" cy="186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0" tIns="197340" rIns="197340" bIns="1973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Capacities should be segmented by </a:t>
          </a:r>
          <a:r>
            <a:rPr lang="en-US" sz="2500" b="1" kern="1200" dirty="0"/>
            <a:t>business unit </a:t>
          </a:r>
          <a:r>
            <a:rPr lang="en-US" sz="2500" b="0" kern="1200" dirty="0"/>
            <a:t>(Sales/Finance),</a:t>
          </a:r>
          <a:r>
            <a:rPr lang="en-US" sz="2500" kern="1200" dirty="0"/>
            <a:t> </a:t>
          </a:r>
          <a:r>
            <a:rPr lang="en-US" sz="2500" b="1" kern="1200" dirty="0"/>
            <a:t>function </a:t>
          </a:r>
          <a:r>
            <a:rPr lang="en-US" sz="2500" b="0" kern="1200" dirty="0"/>
            <a:t>(Warehouse, Lakehouse, Real-Time),</a:t>
          </a:r>
          <a:r>
            <a:rPr lang="en-US" sz="2500" kern="1200" dirty="0"/>
            <a:t> and </a:t>
          </a:r>
          <a:r>
            <a:rPr lang="en-US" sz="2500" b="1" kern="1200" dirty="0"/>
            <a:t>environment</a:t>
          </a:r>
          <a:r>
            <a:rPr lang="en-US" sz="2500" kern="1200" dirty="0"/>
            <a:t> (Dev / Test / Prod)</a:t>
          </a:r>
        </a:p>
      </dsp:txBody>
      <dsp:txXfrm>
        <a:off x="2153648" y="2331584"/>
        <a:ext cx="13619751" cy="1864630"/>
      </dsp:txXfrm>
    </dsp:sp>
    <dsp:sp modelId="{702AED45-1197-4941-B0FF-DB329A07C512}">
      <dsp:nvSpPr>
        <dsp:cNvPr id="0" name=""/>
        <dsp:cNvSpPr/>
      </dsp:nvSpPr>
      <dsp:spPr>
        <a:xfrm>
          <a:off x="0" y="4662372"/>
          <a:ext cx="15773400" cy="18646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309AE5-C3D2-445A-AB50-159796ACBA9F}">
      <dsp:nvSpPr>
        <dsp:cNvPr id="0" name=""/>
        <dsp:cNvSpPr/>
      </dsp:nvSpPr>
      <dsp:spPr>
        <a:xfrm>
          <a:off x="564050" y="5081914"/>
          <a:ext cx="1025546" cy="10255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9F59B-8841-41DC-8431-382BC0082629}">
      <dsp:nvSpPr>
        <dsp:cNvPr id="0" name=""/>
        <dsp:cNvSpPr/>
      </dsp:nvSpPr>
      <dsp:spPr>
        <a:xfrm>
          <a:off x="2153648" y="4662372"/>
          <a:ext cx="13619751" cy="186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0" tIns="197340" rIns="197340" bIns="1973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Example topology: Sales-Analytics-Prod, Finance-ETL-Dev, Marketing-Reporting-Test</a:t>
          </a:r>
        </a:p>
      </dsp:txBody>
      <dsp:txXfrm>
        <a:off x="2153648" y="4662372"/>
        <a:ext cx="13619751" cy="18646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5670A-DEA7-2E48-ADB5-E6462B9329A2}">
      <dsp:nvSpPr>
        <dsp:cNvPr id="0" name=""/>
        <dsp:cNvSpPr/>
      </dsp:nvSpPr>
      <dsp:spPr>
        <a:xfrm>
          <a:off x="12546" y="1849839"/>
          <a:ext cx="4713535" cy="2828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Establish a standard early: {BU}-{Function}-{Env}-{Region} (e.g., fin-</a:t>
          </a:r>
          <a:r>
            <a:rPr lang="en-US" sz="3100" kern="1200" dirty="0" err="1"/>
            <a:t>dw</a:t>
          </a:r>
          <a:r>
            <a:rPr lang="en-US" sz="3100" kern="1200" dirty="0"/>
            <a:t>-prod-</a:t>
          </a:r>
          <a:r>
            <a:rPr lang="en-US" sz="3100" kern="1200" dirty="0" err="1"/>
            <a:t>eus</a:t>
          </a:r>
          <a:r>
            <a:rPr lang="en-US" sz="3100" kern="1200" dirty="0"/>
            <a:t>)</a:t>
          </a:r>
        </a:p>
      </dsp:txBody>
      <dsp:txXfrm>
        <a:off x="12546" y="1849839"/>
        <a:ext cx="4713535" cy="2828121"/>
      </dsp:txXfrm>
    </dsp:sp>
    <dsp:sp modelId="{F341ED89-82F9-724C-9BF6-17A4844D41FA}">
      <dsp:nvSpPr>
        <dsp:cNvPr id="0" name=""/>
        <dsp:cNvSpPr/>
      </dsp:nvSpPr>
      <dsp:spPr>
        <a:xfrm>
          <a:off x="4774491" y="3142400"/>
          <a:ext cx="707030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D4DC01D-6202-5F4F-B1E7-3CCCC7077957}">
      <dsp:nvSpPr>
        <dsp:cNvPr id="0" name=""/>
        <dsp:cNvSpPr/>
      </dsp:nvSpPr>
      <dsp:spPr>
        <a:xfrm>
          <a:off x="5529932" y="1849839"/>
          <a:ext cx="4713535" cy="2828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Apply consistently across capacities, workspaces, </a:t>
          </a:r>
          <a:r>
            <a:rPr lang="en-US" sz="3100" kern="1200" dirty="0" err="1"/>
            <a:t>lakehouses</a:t>
          </a:r>
          <a:r>
            <a:rPr lang="en-US" sz="3100" kern="1200" dirty="0"/>
            <a:t>, warehouses, and pipelines</a:t>
          </a:r>
        </a:p>
      </dsp:txBody>
      <dsp:txXfrm>
        <a:off x="5529932" y="1849839"/>
        <a:ext cx="4713535" cy="2828121"/>
      </dsp:txXfrm>
    </dsp:sp>
    <dsp:sp modelId="{92713B86-D2D8-1341-9663-185A0DE4A59B}">
      <dsp:nvSpPr>
        <dsp:cNvPr id="0" name=""/>
        <dsp:cNvSpPr/>
      </dsp:nvSpPr>
      <dsp:spPr>
        <a:xfrm>
          <a:off x="10291877" y="3142400"/>
          <a:ext cx="707030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EA8F335-A91C-D243-B6D2-3D25BB75F4F0}">
      <dsp:nvSpPr>
        <dsp:cNvPr id="0" name=""/>
        <dsp:cNvSpPr/>
      </dsp:nvSpPr>
      <dsp:spPr>
        <a:xfrm>
          <a:off x="11047318" y="1849839"/>
          <a:ext cx="4713535" cy="2828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Fabric has </a:t>
          </a:r>
          <a:r>
            <a:rPr lang="en-US" sz="3100" b="1" kern="1200" dirty="0"/>
            <a:t>no policy engine </a:t>
          </a:r>
          <a:r>
            <a:rPr lang="en-US" sz="3100" kern="1200" dirty="0"/>
            <a:t>to enforce naming — discipline and automation are your only tools</a:t>
          </a:r>
        </a:p>
      </dsp:txBody>
      <dsp:txXfrm>
        <a:off x="11047318" y="1849839"/>
        <a:ext cx="4713535" cy="28281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FB667-3948-224C-860C-DE8EB1924788}">
      <dsp:nvSpPr>
        <dsp:cNvPr id="0" name=""/>
        <dsp:cNvSpPr/>
      </dsp:nvSpPr>
      <dsp:spPr>
        <a:xfrm>
          <a:off x="1145" y="871368"/>
          <a:ext cx="4639749" cy="55676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8304" tIns="0" rIns="45830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Tag capacities and workspaces with: Owner, Cost Center, Environment, Data Classification</a:t>
          </a:r>
        </a:p>
      </dsp:txBody>
      <dsp:txXfrm>
        <a:off x="1145" y="3098448"/>
        <a:ext cx="4639749" cy="3340619"/>
      </dsp:txXfrm>
    </dsp:sp>
    <dsp:sp modelId="{C13F467B-0706-DA49-A7D0-05603093B272}">
      <dsp:nvSpPr>
        <dsp:cNvPr id="0" name=""/>
        <dsp:cNvSpPr/>
      </dsp:nvSpPr>
      <dsp:spPr>
        <a:xfrm>
          <a:off x="1145" y="871368"/>
          <a:ext cx="4639749" cy="222707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8304" tIns="165100" rIns="45830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1145" y="871368"/>
        <a:ext cx="4639749" cy="2227079"/>
      </dsp:txXfrm>
    </dsp:sp>
    <dsp:sp modelId="{AFACF110-4061-1148-99AD-8EC0A4AA4C73}">
      <dsp:nvSpPr>
        <dsp:cNvPr id="0" name=""/>
        <dsp:cNvSpPr/>
      </dsp:nvSpPr>
      <dsp:spPr>
        <a:xfrm>
          <a:off x="5012074" y="871368"/>
          <a:ext cx="4639749" cy="5567699"/>
        </a:xfrm>
        <a:prstGeom prst="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8304" tIns="0" rIns="45830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 tags to drive automation (e.g., auto-pause Dev capacities after hours)</a:t>
          </a:r>
        </a:p>
      </dsp:txBody>
      <dsp:txXfrm>
        <a:off x="5012074" y="3098448"/>
        <a:ext cx="4639749" cy="3340619"/>
      </dsp:txXfrm>
    </dsp:sp>
    <dsp:sp modelId="{62CEDCE1-1C12-2A42-89F4-27E3541C1641}">
      <dsp:nvSpPr>
        <dsp:cNvPr id="0" name=""/>
        <dsp:cNvSpPr/>
      </dsp:nvSpPr>
      <dsp:spPr>
        <a:xfrm>
          <a:off x="5012074" y="871368"/>
          <a:ext cx="4639749" cy="222707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8304" tIns="165100" rIns="45830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5012074" y="871368"/>
        <a:ext cx="4639749" cy="2227079"/>
      </dsp:txXfrm>
    </dsp:sp>
    <dsp:sp modelId="{53AD60C8-4297-F14F-A1D1-57C9BFFBEF7A}">
      <dsp:nvSpPr>
        <dsp:cNvPr id="0" name=""/>
        <dsp:cNvSpPr/>
      </dsp:nvSpPr>
      <dsp:spPr>
        <a:xfrm>
          <a:off x="10023004" y="871368"/>
          <a:ext cx="4639749" cy="5567699"/>
        </a:xfrm>
        <a:prstGeom prst="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8304" tIns="0" rIns="45830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Challenge: tagging support in Fabric is limited compared to Azure Resource Manager — supplement with a CMDB or metadata catalog</a:t>
          </a:r>
        </a:p>
      </dsp:txBody>
      <dsp:txXfrm>
        <a:off x="10023004" y="3098448"/>
        <a:ext cx="4639749" cy="3340619"/>
      </dsp:txXfrm>
    </dsp:sp>
    <dsp:sp modelId="{6D1BE343-E56B-AB45-BAEE-59A40B69021A}">
      <dsp:nvSpPr>
        <dsp:cNvPr id="0" name=""/>
        <dsp:cNvSpPr/>
      </dsp:nvSpPr>
      <dsp:spPr>
        <a:xfrm>
          <a:off x="10023004" y="871368"/>
          <a:ext cx="4639749" cy="222707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8304" tIns="165100" rIns="45830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10023004" y="871368"/>
        <a:ext cx="4639749" cy="22270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09BF1-E799-6D44-9954-E80457657C45}">
      <dsp:nvSpPr>
        <dsp:cNvPr id="0" name=""/>
        <dsp:cNvSpPr/>
      </dsp:nvSpPr>
      <dsp:spPr>
        <a:xfrm>
          <a:off x="0" y="0"/>
          <a:ext cx="157734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02E19-E1F2-D847-A8D5-30DC05C683E9}">
      <dsp:nvSpPr>
        <dsp:cNvPr id="0" name=""/>
        <dsp:cNvSpPr/>
      </dsp:nvSpPr>
      <dsp:spPr>
        <a:xfrm>
          <a:off x="0" y="0"/>
          <a:ext cx="15773400" cy="1631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Use Git integration as your single source of truth</a:t>
          </a:r>
        </a:p>
      </dsp:txBody>
      <dsp:txXfrm>
        <a:off x="0" y="0"/>
        <a:ext cx="15773400" cy="1631950"/>
      </dsp:txXfrm>
    </dsp:sp>
    <dsp:sp modelId="{4883BD48-6387-4948-A049-B88A0AB22BFF}">
      <dsp:nvSpPr>
        <dsp:cNvPr id="0" name=""/>
        <dsp:cNvSpPr/>
      </dsp:nvSpPr>
      <dsp:spPr>
        <a:xfrm>
          <a:off x="0" y="1631950"/>
          <a:ext cx="15773400" cy="0"/>
        </a:xfrm>
        <a:prstGeom prst="line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accent3">
              <a:hueOff val="1372388"/>
              <a:satOff val="8237"/>
              <a:lumOff val="6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34C65-CFDC-2C4D-A33E-335822D8324F}">
      <dsp:nvSpPr>
        <dsp:cNvPr id="0" name=""/>
        <dsp:cNvSpPr/>
      </dsp:nvSpPr>
      <dsp:spPr>
        <a:xfrm>
          <a:off x="0" y="1631950"/>
          <a:ext cx="15773400" cy="1631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Deploy through Fabric deployment pipelines, not manual promotion</a:t>
          </a:r>
        </a:p>
      </dsp:txBody>
      <dsp:txXfrm>
        <a:off x="0" y="1631950"/>
        <a:ext cx="15773400" cy="1631950"/>
      </dsp:txXfrm>
    </dsp:sp>
    <dsp:sp modelId="{F03596EC-7E28-4A43-8313-423804F3EC30}">
      <dsp:nvSpPr>
        <dsp:cNvPr id="0" name=""/>
        <dsp:cNvSpPr/>
      </dsp:nvSpPr>
      <dsp:spPr>
        <a:xfrm>
          <a:off x="0" y="3263900"/>
          <a:ext cx="15773400" cy="0"/>
        </a:xfrm>
        <a:prstGeom prst="line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accent3">
              <a:hueOff val="2744775"/>
              <a:satOff val="16475"/>
              <a:lumOff val="125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C8821-7340-3B4D-8548-B328C85B1A0C}">
      <dsp:nvSpPr>
        <dsp:cNvPr id="0" name=""/>
        <dsp:cNvSpPr/>
      </dsp:nvSpPr>
      <dsp:spPr>
        <a:xfrm>
          <a:off x="0" y="3263900"/>
          <a:ext cx="15773400" cy="1631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Parameterize everything that changes between environments </a:t>
          </a:r>
        </a:p>
      </dsp:txBody>
      <dsp:txXfrm>
        <a:off x="0" y="3263900"/>
        <a:ext cx="15773400" cy="1631950"/>
      </dsp:txXfrm>
    </dsp:sp>
    <dsp:sp modelId="{52108BEF-1078-FB4D-AB97-6475F628090D}">
      <dsp:nvSpPr>
        <dsp:cNvPr id="0" name=""/>
        <dsp:cNvSpPr/>
      </dsp:nvSpPr>
      <dsp:spPr>
        <a:xfrm>
          <a:off x="0" y="4895850"/>
          <a:ext cx="15773400" cy="0"/>
        </a:xfrm>
        <a:prstGeom prst="line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9A3382-B908-5244-A994-C88B24E0367C}">
      <dsp:nvSpPr>
        <dsp:cNvPr id="0" name=""/>
        <dsp:cNvSpPr/>
      </dsp:nvSpPr>
      <dsp:spPr>
        <a:xfrm>
          <a:off x="0" y="4895850"/>
          <a:ext cx="15773400" cy="1631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Automate with the Fabric REST APIs in your CI/CD pipeline </a:t>
          </a:r>
        </a:p>
      </dsp:txBody>
      <dsp:txXfrm>
        <a:off x="0" y="4895850"/>
        <a:ext cx="15773400" cy="16319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4A792C-4137-D148-A39C-BC90CF1B8F4D}">
      <dsp:nvSpPr>
        <dsp:cNvPr id="0" name=""/>
        <dsp:cNvSpPr/>
      </dsp:nvSpPr>
      <dsp:spPr>
        <a:xfrm>
          <a:off x="0" y="69888"/>
          <a:ext cx="9258300" cy="23095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Entra ID (Azure AD) is your identity plane — leverage Conditional Access and PIM, it’s all you’ve got.</a:t>
          </a:r>
        </a:p>
      </dsp:txBody>
      <dsp:txXfrm>
        <a:off x="112744" y="182632"/>
        <a:ext cx="9032812" cy="2084091"/>
      </dsp:txXfrm>
    </dsp:sp>
    <dsp:sp modelId="{9FD4BDE7-39F4-FE41-8FC7-7AAFD4F139F9}">
      <dsp:nvSpPr>
        <dsp:cNvPr id="0" name=""/>
        <dsp:cNvSpPr/>
      </dsp:nvSpPr>
      <dsp:spPr>
        <a:xfrm>
          <a:off x="0" y="2500428"/>
          <a:ext cx="9258300" cy="2309579"/>
        </a:xfrm>
        <a:prstGeom prst="round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Service principals for automation and CI/CD, but be aware of current Fabric SP limitations</a:t>
          </a:r>
        </a:p>
      </dsp:txBody>
      <dsp:txXfrm>
        <a:off x="112744" y="2613172"/>
        <a:ext cx="9032812" cy="2084091"/>
      </dsp:txXfrm>
    </dsp:sp>
    <dsp:sp modelId="{261EAE23-3597-8444-8BC6-81E458DB257B}">
      <dsp:nvSpPr>
        <dsp:cNvPr id="0" name=""/>
        <dsp:cNvSpPr/>
      </dsp:nvSpPr>
      <dsp:spPr>
        <a:xfrm>
          <a:off x="0" y="4930968"/>
          <a:ext cx="9258300" cy="2309579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Minimize personal accounts in production workspaces</a:t>
          </a:r>
        </a:p>
      </dsp:txBody>
      <dsp:txXfrm>
        <a:off x="112744" y="5043712"/>
        <a:ext cx="9032812" cy="20840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CE544-3DC3-4B87-ABAC-24BFFD521885}">
      <dsp:nvSpPr>
        <dsp:cNvPr id="0" name=""/>
        <dsp:cNvSpPr/>
      </dsp:nvSpPr>
      <dsp:spPr>
        <a:xfrm>
          <a:off x="0" y="0"/>
          <a:ext cx="15924914" cy="15555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DDCD91-C058-4138-B2B5-C1C09DD8F0D6}">
      <dsp:nvSpPr>
        <dsp:cNvPr id="0" name=""/>
        <dsp:cNvSpPr/>
      </dsp:nvSpPr>
      <dsp:spPr>
        <a:xfrm>
          <a:off x="470547" y="353063"/>
          <a:ext cx="855541" cy="8555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3E0B34-BFD4-4F74-B1C8-CEE1D4BA0A6C}">
      <dsp:nvSpPr>
        <dsp:cNvPr id="0" name=""/>
        <dsp:cNvSpPr/>
      </dsp:nvSpPr>
      <dsp:spPr>
        <a:xfrm>
          <a:off x="1796637" y="3069"/>
          <a:ext cx="14128276" cy="1555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27" tIns="164627" rIns="164627" bIns="164627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Fabric supports Managed Private Endpoints and Private Link for inbound connectivity</a:t>
          </a:r>
        </a:p>
      </dsp:txBody>
      <dsp:txXfrm>
        <a:off x="1796637" y="3069"/>
        <a:ext cx="14128276" cy="1555530"/>
      </dsp:txXfrm>
    </dsp:sp>
    <dsp:sp modelId="{0B098AF6-FFBF-49C3-B10C-861592EED6C4}">
      <dsp:nvSpPr>
        <dsp:cNvPr id="0" name=""/>
        <dsp:cNvSpPr/>
      </dsp:nvSpPr>
      <dsp:spPr>
        <a:xfrm>
          <a:off x="0" y="1947482"/>
          <a:ext cx="15924914" cy="15555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2EE32-A4AB-4F30-9644-EDD2D438F3A2}">
      <dsp:nvSpPr>
        <dsp:cNvPr id="0" name=""/>
        <dsp:cNvSpPr/>
      </dsp:nvSpPr>
      <dsp:spPr>
        <a:xfrm>
          <a:off x="470547" y="2297476"/>
          <a:ext cx="855541" cy="8555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3D03C-467C-4A5D-A6E2-C14D9059763D}">
      <dsp:nvSpPr>
        <dsp:cNvPr id="0" name=""/>
        <dsp:cNvSpPr/>
      </dsp:nvSpPr>
      <dsp:spPr>
        <a:xfrm>
          <a:off x="1796637" y="1947482"/>
          <a:ext cx="14128276" cy="1555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27" tIns="164627" rIns="164627" bIns="164627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Configure </a:t>
          </a:r>
          <a:r>
            <a:rPr lang="en-US" sz="3200" kern="1200" dirty="0" err="1"/>
            <a:t>VNet</a:t>
          </a:r>
          <a:r>
            <a:rPr lang="en-US" sz="3200" kern="1200" dirty="0"/>
            <a:t> data gateways for secure access to on-prem and IaaS data sources</a:t>
          </a:r>
        </a:p>
      </dsp:txBody>
      <dsp:txXfrm>
        <a:off x="1796637" y="1947482"/>
        <a:ext cx="14128276" cy="1555530"/>
      </dsp:txXfrm>
    </dsp:sp>
    <dsp:sp modelId="{C184A2E2-947C-468D-9549-00D0BF6E73D9}">
      <dsp:nvSpPr>
        <dsp:cNvPr id="0" name=""/>
        <dsp:cNvSpPr/>
      </dsp:nvSpPr>
      <dsp:spPr>
        <a:xfrm>
          <a:off x="0" y="3891895"/>
          <a:ext cx="15924914" cy="15555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B7F60A-2DE2-4C19-B73A-0427E8B4C180}">
      <dsp:nvSpPr>
        <dsp:cNvPr id="0" name=""/>
        <dsp:cNvSpPr/>
      </dsp:nvSpPr>
      <dsp:spPr>
        <a:xfrm>
          <a:off x="470547" y="4241889"/>
          <a:ext cx="855541" cy="8555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64CC8-64D1-43A6-9622-D997B0D9EF8B}">
      <dsp:nvSpPr>
        <dsp:cNvPr id="0" name=""/>
        <dsp:cNvSpPr/>
      </dsp:nvSpPr>
      <dsp:spPr>
        <a:xfrm>
          <a:off x="1796637" y="3891895"/>
          <a:ext cx="14128276" cy="1555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27" tIns="164627" rIns="164627" bIns="164627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Disable public access to capacities where compliance requires it</a:t>
          </a:r>
        </a:p>
      </dsp:txBody>
      <dsp:txXfrm>
        <a:off x="1796637" y="3891895"/>
        <a:ext cx="14128276" cy="1555530"/>
      </dsp:txXfrm>
    </dsp:sp>
    <dsp:sp modelId="{08B4A668-2371-4F97-B724-3E812A318087}">
      <dsp:nvSpPr>
        <dsp:cNvPr id="0" name=""/>
        <dsp:cNvSpPr/>
      </dsp:nvSpPr>
      <dsp:spPr>
        <a:xfrm>
          <a:off x="0" y="5836308"/>
          <a:ext cx="15924914" cy="15555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AE8CF0-6725-4A4E-AE08-1BCAC0028F14}">
      <dsp:nvSpPr>
        <dsp:cNvPr id="0" name=""/>
        <dsp:cNvSpPr/>
      </dsp:nvSpPr>
      <dsp:spPr>
        <a:xfrm>
          <a:off x="470547" y="6186302"/>
          <a:ext cx="855541" cy="85554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DB2F1-992C-4C2D-B84C-37DBE4F171C8}">
      <dsp:nvSpPr>
        <dsp:cNvPr id="0" name=""/>
        <dsp:cNvSpPr/>
      </dsp:nvSpPr>
      <dsp:spPr>
        <a:xfrm>
          <a:off x="1796637" y="5836308"/>
          <a:ext cx="14128276" cy="1555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27" tIns="164627" rIns="164627" bIns="164627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Challenge: not all Fabric experiences support private networking equally — know the gaps</a:t>
          </a:r>
        </a:p>
      </dsp:txBody>
      <dsp:txXfrm>
        <a:off x="1796637" y="5836308"/>
        <a:ext cx="14128276" cy="155553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D2595E-CF6B-5C43-8C35-3272E99349CF}">
      <dsp:nvSpPr>
        <dsp:cNvPr id="0" name=""/>
        <dsp:cNvSpPr/>
      </dsp:nvSpPr>
      <dsp:spPr>
        <a:xfrm>
          <a:off x="0" y="3693"/>
          <a:ext cx="157734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A66CC-7649-5246-9934-553F1393C8D4}">
      <dsp:nvSpPr>
        <dsp:cNvPr id="0" name=""/>
        <dsp:cNvSpPr/>
      </dsp:nvSpPr>
      <dsp:spPr>
        <a:xfrm>
          <a:off x="0" y="3693"/>
          <a:ext cx="15773400" cy="2519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dirty="0"/>
            <a:t>Azure has Activity Log, Diagnostic Settings, Defender for Cloud — Fabric has the Admin Monitoring workspace and activity log APIs</a:t>
          </a:r>
        </a:p>
      </dsp:txBody>
      <dsp:txXfrm>
        <a:off x="0" y="3693"/>
        <a:ext cx="15773400" cy="2519213"/>
      </dsp:txXfrm>
    </dsp:sp>
    <dsp:sp modelId="{1D17C230-08C4-A04C-A50E-08504740F85A}">
      <dsp:nvSpPr>
        <dsp:cNvPr id="0" name=""/>
        <dsp:cNvSpPr/>
      </dsp:nvSpPr>
      <dsp:spPr>
        <a:xfrm>
          <a:off x="0" y="2522907"/>
          <a:ext cx="15773400" cy="0"/>
        </a:xfrm>
        <a:prstGeom prst="line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F861C-D486-604A-9143-EA2F96FEDCC4}">
      <dsp:nvSpPr>
        <dsp:cNvPr id="0" name=""/>
        <dsp:cNvSpPr/>
      </dsp:nvSpPr>
      <dsp:spPr>
        <a:xfrm>
          <a:off x="0" y="2522907"/>
          <a:ext cx="15773400" cy="2519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Audit footprint is narrower: limited event types, no native SIEM integration out of the box</a:t>
          </a:r>
        </a:p>
      </dsp:txBody>
      <dsp:txXfrm>
        <a:off x="0" y="2522907"/>
        <a:ext cx="15773400" cy="2519213"/>
      </dsp:txXfrm>
    </dsp:sp>
    <dsp:sp modelId="{7BC08CB8-2FF6-F448-A259-C09D9C4B24BB}">
      <dsp:nvSpPr>
        <dsp:cNvPr id="0" name=""/>
        <dsp:cNvSpPr/>
      </dsp:nvSpPr>
      <dsp:spPr>
        <a:xfrm>
          <a:off x="0" y="5042121"/>
          <a:ext cx="15773400" cy="0"/>
        </a:xfrm>
        <a:prstGeom prst="line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F7534-267A-F74E-85B9-2188BD374B0C}">
      <dsp:nvSpPr>
        <dsp:cNvPr id="0" name=""/>
        <dsp:cNvSpPr/>
      </dsp:nvSpPr>
      <dsp:spPr>
        <a:xfrm>
          <a:off x="0" y="5042121"/>
          <a:ext cx="15773400" cy="2519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1" kern="1200"/>
            <a:t>Recommendation: </a:t>
          </a:r>
          <a:r>
            <a:rPr lang="en-US" sz="5000" kern="1200"/>
            <a:t>export Fabric activity logs to Log Analytics or Sentinel and build custom detection rules</a:t>
          </a:r>
        </a:p>
      </dsp:txBody>
      <dsp:txXfrm>
        <a:off x="0" y="5042121"/>
        <a:ext cx="15773400" cy="251921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7AD66-DBE9-4955-B0E3-A250BA04FBCD}">
      <dsp:nvSpPr>
        <dsp:cNvPr id="0" name=""/>
        <dsp:cNvSpPr/>
      </dsp:nvSpPr>
      <dsp:spPr>
        <a:xfrm>
          <a:off x="0" y="5296"/>
          <a:ext cx="15773400" cy="84594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817C3F-4D39-4937-BA41-070CA8F363F8}">
      <dsp:nvSpPr>
        <dsp:cNvPr id="0" name=""/>
        <dsp:cNvSpPr/>
      </dsp:nvSpPr>
      <dsp:spPr>
        <a:xfrm>
          <a:off x="255898" y="195633"/>
          <a:ext cx="465724" cy="4652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8CC76-5F93-49C7-995A-E8A7CC6B3FA1}">
      <dsp:nvSpPr>
        <dsp:cNvPr id="0" name=""/>
        <dsp:cNvSpPr/>
      </dsp:nvSpPr>
      <dsp:spPr>
        <a:xfrm>
          <a:off x="977520" y="5296"/>
          <a:ext cx="14766271" cy="898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125" tIns="95125" rIns="95125" bIns="9512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Workspace-per-security-boundary</a:t>
          </a:r>
          <a:r>
            <a:rPr lang="en-US" sz="2400" kern="1200" dirty="0"/>
            <a:t>: Split items that need different access into separate workspaces rather than trying to share one workspace with complex item-level permissions </a:t>
          </a:r>
        </a:p>
      </dsp:txBody>
      <dsp:txXfrm>
        <a:off x="977520" y="5296"/>
        <a:ext cx="14766271" cy="898815"/>
      </dsp:txXfrm>
    </dsp:sp>
    <dsp:sp modelId="{2CDE6A46-C00B-49F7-9324-47A5EE60B961}">
      <dsp:nvSpPr>
        <dsp:cNvPr id="0" name=""/>
        <dsp:cNvSpPr/>
      </dsp:nvSpPr>
      <dsp:spPr>
        <a:xfrm>
          <a:off x="0" y="1128816"/>
          <a:ext cx="15773400" cy="84594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FDC027-EC87-4338-841C-28F52C0CB5E3}">
      <dsp:nvSpPr>
        <dsp:cNvPr id="0" name=""/>
        <dsp:cNvSpPr/>
      </dsp:nvSpPr>
      <dsp:spPr>
        <a:xfrm>
          <a:off x="255898" y="1319153"/>
          <a:ext cx="465724" cy="4652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ED3AB-F0C8-479B-A152-95A1659A49F7}">
      <dsp:nvSpPr>
        <dsp:cNvPr id="0" name=""/>
        <dsp:cNvSpPr/>
      </dsp:nvSpPr>
      <dsp:spPr>
        <a:xfrm>
          <a:off x="977520" y="1128816"/>
          <a:ext cx="14766271" cy="898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125" tIns="95125" rIns="95125" bIns="9512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Security groups over individuals</a:t>
          </a:r>
          <a:r>
            <a:rPr lang="en-US" sz="2400" kern="1200"/>
            <a:t>: Assign Entra security groups to workspace roles, not individual users — easier to audit and rotate </a:t>
          </a:r>
        </a:p>
      </dsp:txBody>
      <dsp:txXfrm>
        <a:off x="977520" y="1128816"/>
        <a:ext cx="14766271" cy="898815"/>
      </dsp:txXfrm>
    </dsp:sp>
    <dsp:sp modelId="{92954BFC-C118-48DE-8E38-D67243745AE9}">
      <dsp:nvSpPr>
        <dsp:cNvPr id="0" name=""/>
        <dsp:cNvSpPr/>
      </dsp:nvSpPr>
      <dsp:spPr>
        <a:xfrm>
          <a:off x="0" y="2252335"/>
          <a:ext cx="15773400" cy="84594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DC0DA-C4C5-410A-8BE0-D0E3C6BF36E6}">
      <dsp:nvSpPr>
        <dsp:cNvPr id="0" name=""/>
        <dsp:cNvSpPr/>
      </dsp:nvSpPr>
      <dsp:spPr>
        <a:xfrm>
          <a:off x="255898" y="2442673"/>
          <a:ext cx="465724" cy="4652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C80F1-F5EE-48DD-909F-1E12B97F0650}">
      <dsp:nvSpPr>
        <dsp:cNvPr id="0" name=""/>
        <dsp:cNvSpPr/>
      </dsp:nvSpPr>
      <dsp:spPr>
        <a:xfrm>
          <a:off x="977520" y="2252335"/>
          <a:ext cx="14766271" cy="898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125" tIns="95125" rIns="95125" bIns="9512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Least privilege by default</a:t>
          </a:r>
          <a:r>
            <a:rPr lang="en-US" sz="2400" kern="1200"/>
            <a:t>: Default to Viewer; elevate to Contributor only for specific needs with documented justification </a:t>
          </a:r>
        </a:p>
      </dsp:txBody>
      <dsp:txXfrm>
        <a:off x="977520" y="2252335"/>
        <a:ext cx="14766271" cy="898815"/>
      </dsp:txXfrm>
    </dsp:sp>
    <dsp:sp modelId="{F0AF6446-6D2E-4CAA-8588-E0084665D56B}">
      <dsp:nvSpPr>
        <dsp:cNvPr id="0" name=""/>
        <dsp:cNvSpPr/>
      </dsp:nvSpPr>
      <dsp:spPr>
        <a:xfrm>
          <a:off x="0" y="3375855"/>
          <a:ext cx="15773400" cy="84594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274118-FD27-4C3F-9870-CB8162BC0C12}">
      <dsp:nvSpPr>
        <dsp:cNvPr id="0" name=""/>
        <dsp:cNvSpPr/>
      </dsp:nvSpPr>
      <dsp:spPr>
        <a:xfrm>
          <a:off x="255898" y="3566192"/>
          <a:ext cx="465724" cy="4652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2B1E5C-7B93-44A1-BC94-11DAD64120F0}">
      <dsp:nvSpPr>
        <dsp:cNvPr id="0" name=""/>
        <dsp:cNvSpPr/>
      </dsp:nvSpPr>
      <dsp:spPr>
        <a:xfrm>
          <a:off x="977520" y="3375855"/>
          <a:ext cx="14766271" cy="898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125" tIns="95125" rIns="95125" bIns="9512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Automated audits</a:t>
          </a:r>
          <a:r>
            <a:rPr lang="en-US" sz="2400" kern="1200"/>
            <a:t>: Use the Fabric Admin REST API to scan workspace memberships on a schedule and flag Contributor+ sprawl </a:t>
          </a:r>
        </a:p>
      </dsp:txBody>
      <dsp:txXfrm>
        <a:off x="977520" y="3375855"/>
        <a:ext cx="14766271" cy="898815"/>
      </dsp:txXfrm>
    </dsp:sp>
    <dsp:sp modelId="{C78C4A43-0565-468A-8509-0DC30AEE2BCB}">
      <dsp:nvSpPr>
        <dsp:cNvPr id="0" name=""/>
        <dsp:cNvSpPr/>
      </dsp:nvSpPr>
      <dsp:spPr>
        <a:xfrm>
          <a:off x="0" y="4499375"/>
          <a:ext cx="15773400" cy="84594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4DBD53-D32A-48A3-B5CE-11068D8375E3}">
      <dsp:nvSpPr>
        <dsp:cNvPr id="0" name=""/>
        <dsp:cNvSpPr/>
      </dsp:nvSpPr>
      <dsp:spPr>
        <a:xfrm>
          <a:off x="255898" y="4689712"/>
          <a:ext cx="465724" cy="4652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BC103-60C3-4181-91F4-2D76D8C1198F}">
      <dsp:nvSpPr>
        <dsp:cNvPr id="0" name=""/>
        <dsp:cNvSpPr/>
      </dsp:nvSpPr>
      <dsp:spPr>
        <a:xfrm>
          <a:off x="977520" y="4499375"/>
          <a:ext cx="14766271" cy="898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125" tIns="95125" rIns="95125" bIns="9512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Separate prod from dev</a:t>
          </a:r>
          <a:r>
            <a:rPr lang="en-US" sz="2400" kern="1200"/>
            <a:t>: Never give developers Contributor on production workspaces — use deployment pipelines to promote content instead </a:t>
          </a:r>
        </a:p>
      </dsp:txBody>
      <dsp:txXfrm>
        <a:off x="977520" y="4499375"/>
        <a:ext cx="14766271" cy="898815"/>
      </dsp:txXfrm>
    </dsp:sp>
    <dsp:sp modelId="{8CC19D6F-C3D8-49F7-85E7-22274F399C00}">
      <dsp:nvSpPr>
        <dsp:cNvPr id="0" name=""/>
        <dsp:cNvSpPr/>
      </dsp:nvSpPr>
      <dsp:spPr>
        <a:xfrm>
          <a:off x="0" y="5622894"/>
          <a:ext cx="15773400" cy="84594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00B671-937D-44E8-8DBA-08EB8EFEFF49}">
      <dsp:nvSpPr>
        <dsp:cNvPr id="0" name=""/>
        <dsp:cNvSpPr/>
      </dsp:nvSpPr>
      <dsp:spPr>
        <a:xfrm>
          <a:off x="255898" y="5813232"/>
          <a:ext cx="465724" cy="4652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DF25C-6D5D-4645-9E89-540DE491681D}">
      <dsp:nvSpPr>
        <dsp:cNvPr id="0" name=""/>
        <dsp:cNvSpPr/>
      </dsp:nvSpPr>
      <dsp:spPr>
        <a:xfrm>
          <a:off x="977520" y="5622894"/>
          <a:ext cx="14766271" cy="898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125" tIns="95125" rIns="95125" bIns="9512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Document everything</a:t>
          </a:r>
          <a:r>
            <a:rPr lang="en-US" sz="2400" kern="1200" dirty="0"/>
            <a:t>: Since there's no policy engine to encode your rules, write them down and socialize them relentlessly</a:t>
          </a:r>
        </a:p>
      </dsp:txBody>
      <dsp:txXfrm>
        <a:off x="977520" y="5622894"/>
        <a:ext cx="14766271" cy="89881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423610-B422-E14C-970D-59F5B6C1A3A2}">
      <dsp:nvSpPr>
        <dsp:cNvPr id="0" name=""/>
        <dsp:cNvSpPr/>
      </dsp:nvSpPr>
      <dsp:spPr>
        <a:xfrm>
          <a:off x="0" y="574249"/>
          <a:ext cx="15773400" cy="17105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Fabric capacities can throttle and even suspend under sustained overload — understand the smoothing and throttling model</a:t>
          </a:r>
        </a:p>
      </dsp:txBody>
      <dsp:txXfrm>
        <a:off x="83502" y="657751"/>
        <a:ext cx="15606396" cy="1543536"/>
      </dsp:txXfrm>
    </dsp:sp>
    <dsp:sp modelId="{096E2345-A7E1-6744-BC10-78A2EA642D29}">
      <dsp:nvSpPr>
        <dsp:cNvPr id="0" name=""/>
        <dsp:cNvSpPr/>
      </dsp:nvSpPr>
      <dsp:spPr>
        <a:xfrm>
          <a:off x="0" y="2408630"/>
          <a:ext cx="15773400" cy="1710540"/>
        </a:xfrm>
        <a:prstGeom prst="round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Separate workloads by criticality: don't run exploratory notebooks on the same capacity as mission-critical reporting</a:t>
          </a:r>
        </a:p>
      </dsp:txBody>
      <dsp:txXfrm>
        <a:off x="83502" y="2492132"/>
        <a:ext cx="15606396" cy="1543536"/>
      </dsp:txXfrm>
    </dsp:sp>
    <dsp:sp modelId="{BDFDF849-79DF-5F44-9981-1CB4AA0879B0}">
      <dsp:nvSpPr>
        <dsp:cNvPr id="0" name=""/>
        <dsp:cNvSpPr/>
      </dsp:nvSpPr>
      <dsp:spPr>
        <a:xfrm>
          <a:off x="0" y="4243010"/>
          <a:ext cx="15773400" cy="171054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This reinforces the BU / Function / Environment segmentation argument</a:t>
          </a:r>
        </a:p>
      </dsp:txBody>
      <dsp:txXfrm>
        <a:off x="83502" y="4326512"/>
        <a:ext cx="15606396" cy="154353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16C0AB-5DFB-5049-83E8-B28B88206770}">
      <dsp:nvSpPr>
        <dsp:cNvPr id="0" name=""/>
        <dsp:cNvSpPr/>
      </dsp:nvSpPr>
      <dsp:spPr>
        <a:xfrm>
          <a:off x="5928359" y="81597"/>
          <a:ext cx="3916680" cy="3916680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Fabric is region-pinned — understand your BCDR story for regional outages</a:t>
          </a:r>
        </a:p>
      </dsp:txBody>
      <dsp:txXfrm>
        <a:off x="6450583" y="767016"/>
        <a:ext cx="2872232" cy="1762506"/>
      </dsp:txXfrm>
    </dsp:sp>
    <dsp:sp modelId="{9858E061-64F0-E847-AFFD-190D4F810014}">
      <dsp:nvSpPr>
        <dsp:cNvPr id="0" name=""/>
        <dsp:cNvSpPr/>
      </dsp:nvSpPr>
      <dsp:spPr>
        <a:xfrm>
          <a:off x="7341628" y="2529522"/>
          <a:ext cx="3916680" cy="3916680"/>
        </a:xfrm>
        <a:prstGeom prst="ellipse">
          <a:avLst/>
        </a:prstGeom>
        <a:solidFill>
          <a:schemeClr val="accent3">
            <a:alpha val="50000"/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OneLake data replication options and workspace-level BCDR are still maturing</a:t>
          </a:r>
        </a:p>
      </dsp:txBody>
      <dsp:txXfrm>
        <a:off x="8539480" y="3541331"/>
        <a:ext cx="2350008" cy="2154174"/>
      </dsp:txXfrm>
    </dsp:sp>
    <dsp:sp modelId="{0923CC8E-C1F6-1F42-9EC2-999CF6CFAC9C}">
      <dsp:nvSpPr>
        <dsp:cNvPr id="0" name=""/>
        <dsp:cNvSpPr/>
      </dsp:nvSpPr>
      <dsp:spPr>
        <a:xfrm>
          <a:off x="4515091" y="2529522"/>
          <a:ext cx="3916680" cy="3916680"/>
        </a:xfrm>
        <a:prstGeom prst="ellipse">
          <a:avLst/>
        </a:prstGeom>
        <a:solidFill>
          <a:schemeClr val="accent3">
            <a:alpha val="50000"/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Maintain pipeline definitions and semantic model metadata in source control (Git integration) as your recovery baseline</a:t>
          </a:r>
        </a:p>
      </dsp:txBody>
      <dsp:txXfrm>
        <a:off x="4883911" y="3541331"/>
        <a:ext cx="2350008" cy="215417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6287E2-4883-478D-928D-ABCEA334E4AF}">
      <dsp:nvSpPr>
        <dsp:cNvPr id="0" name=""/>
        <dsp:cNvSpPr/>
      </dsp:nvSpPr>
      <dsp:spPr>
        <a:xfrm>
          <a:off x="0" y="64585"/>
          <a:ext cx="15773400" cy="18646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8F3328-D407-4D55-AFCC-8EF4FFB0F457}">
      <dsp:nvSpPr>
        <dsp:cNvPr id="0" name=""/>
        <dsp:cNvSpPr/>
      </dsp:nvSpPr>
      <dsp:spPr>
        <a:xfrm>
          <a:off x="564050" y="420338"/>
          <a:ext cx="1025546" cy="10255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6F804D-0178-42BF-BA49-4A29729C8D7D}">
      <dsp:nvSpPr>
        <dsp:cNvPr id="0" name=""/>
        <dsp:cNvSpPr/>
      </dsp:nvSpPr>
      <dsp:spPr>
        <a:xfrm>
          <a:off x="2153648" y="796"/>
          <a:ext cx="13619751" cy="186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0" tIns="197340" rIns="197340" bIns="19734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Capacity Units (CUs) are your currency — consumed differently by Spark, SQL, Power BI, Data Pipelines</a:t>
          </a:r>
        </a:p>
      </dsp:txBody>
      <dsp:txXfrm>
        <a:off x="2153648" y="796"/>
        <a:ext cx="13619751" cy="1864630"/>
      </dsp:txXfrm>
    </dsp:sp>
    <dsp:sp modelId="{C436909B-C46B-465A-8C33-BE7F46887A13}">
      <dsp:nvSpPr>
        <dsp:cNvPr id="0" name=""/>
        <dsp:cNvSpPr/>
      </dsp:nvSpPr>
      <dsp:spPr>
        <a:xfrm>
          <a:off x="0" y="2331584"/>
          <a:ext cx="15773400" cy="18646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B8632-5AE9-46A3-ADA6-108E47338E29}">
      <dsp:nvSpPr>
        <dsp:cNvPr id="0" name=""/>
        <dsp:cNvSpPr/>
      </dsp:nvSpPr>
      <dsp:spPr>
        <a:xfrm>
          <a:off x="564050" y="2751126"/>
          <a:ext cx="1025546" cy="10255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5AF01-D8B5-468B-8624-657795941679}">
      <dsp:nvSpPr>
        <dsp:cNvPr id="0" name=""/>
        <dsp:cNvSpPr/>
      </dsp:nvSpPr>
      <dsp:spPr>
        <a:xfrm>
          <a:off x="2153648" y="2331584"/>
          <a:ext cx="13619751" cy="186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0" tIns="197340" rIns="197340" bIns="19734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Segmented capacities make cost attribution straightforward via Azure Cost Management</a:t>
          </a:r>
        </a:p>
      </dsp:txBody>
      <dsp:txXfrm>
        <a:off x="2153648" y="2331584"/>
        <a:ext cx="13619751" cy="1864630"/>
      </dsp:txXfrm>
    </dsp:sp>
    <dsp:sp modelId="{3BF05F13-5BEB-4D8D-A520-0C7FF91729D8}">
      <dsp:nvSpPr>
        <dsp:cNvPr id="0" name=""/>
        <dsp:cNvSpPr/>
      </dsp:nvSpPr>
      <dsp:spPr>
        <a:xfrm>
          <a:off x="0" y="4662372"/>
          <a:ext cx="15773400" cy="18646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FEAFB-4072-4075-8B16-C70BF512DF3C}">
      <dsp:nvSpPr>
        <dsp:cNvPr id="0" name=""/>
        <dsp:cNvSpPr/>
      </dsp:nvSpPr>
      <dsp:spPr>
        <a:xfrm>
          <a:off x="564050" y="5081914"/>
          <a:ext cx="1025546" cy="10255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B1F74-17C5-4A10-B4BC-9CB161CEB4B6}">
      <dsp:nvSpPr>
        <dsp:cNvPr id="0" name=""/>
        <dsp:cNvSpPr/>
      </dsp:nvSpPr>
      <dsp:spPr>
        <a:xfrm>
          <a:off x="2153648" y="4662372"/>
          <a:ext cx="13619751" cy="1864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0" tIns="197340" rIns="197340" bIns="19734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Right-size capacities per environment: Prod might be F64, Dev might be F2</a:t>
          </a:r>
        </a:p>
      </dsp:txBody>
      <dsp:txXfrm>
        <a:off x="2153648" y="4662372"/>
        <a:ext cx="13619751" cy="186463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A1DEE8-29B1-6C42-AEBE-6376292F17A5}">
      <dsp:nvSpPr>
        <dsp:cNvPr id="0" name=""/>
        <dsp:cNvSpPr/>
      </dsp:nvSpPr>
      <dsp:spPr>
        <a:xfrm>
          <a:off x="0" y="3187"/>
          <a:ext cx="157734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57B7C4-181C-F249-A463-54FC0DDA554B}">
      <dsp:nvSpPr>
        <dsp:cNvPr id="0" name=""/>
        <dsp:cNvSpPr/>
      </dsp:nvSpPr>
      <dsp:spPr>
        <a:xfrm>
          <a:off x="0" y="3187"/>
          <a:ext cx="15773400" cy="2173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2410" tIns="232410" rIns="232410" bIns="232410" numCol="1" spcCol="1270" anchor="t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Auto-pause / auto-scale strategies for non-production capacities</a:t>
          </a:r>
        </a:p>
      </dsp:txBody>
      <dsp:txXfrm>
        <a:off x="0" y="3187"/>
        <a:ext cx="15773400" cy="2173808"/>
      </dsp:txXfrm>
    </dsp:sp>
    <dsp:sp modelId="{75622EA1-576A-B041-867C-7A6073F06C02}">
      <dsp:nvSpPr>
        <dsp:cNvPr id="0" name=""/>
        <dsp:cNvSpPr/>
      </dsp:nvSpPr>
      <dsp:spPr>
        <a:xfrm>
          <a:off x="0" y="2176995"/>
          <a:ext cx="15773400" cy="0"/>
        </a:xfrm>
        <a:prstGeom prst="line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1FA59-3B97-BC44-B78F-C150A0D98A91}">
      <dsp:nvSpPr>
        <dsp:cNvPr id="0" name=""/>
        <dsp:cNvSpPr/>
      </dsp:nvSpPr>
      <dsp:spPr>
        <a:xfrm>
          <a:off x="0" y="2176995"/>
          <a:ext cx="15773400" cy="2173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2410" tIns="232410" rIns="232410" bIns="232410" numCol="1" spcCol="1270" anchor="t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Monitor CU consumption with the Fabric Capacity Metrics app (or use FUAM)</a:t>
          </a:r>
        </a:p>
      </dsp:txBody>
      <dsp:txXfrm>
        <a:off x="0" y="2176995"/>
        <a:ext cx="15773400" cy="2173808"/>
      </dsp:txXfrm>
    </dsp:sp>
    <dsp:sp modelId="{151AB03C-4784-844E-A43A-F26A987E006C}">
      <dsp:nvSpPr>
        <dsp:cNvPr id="0" name=""/>
        <dsp:cNvSpPr/>
      </dsp:nvSpPr>
      <dsp:spPr>
        <a:xfrm>
          <a:off x="0" y="4350804"/>
          <a:ext cx="15773400" cy="0"/>
        </a:xfrm>
        <a:prstGeom prst="line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3EAEFB-0156-4C4E-99F2-42FF07B69BE4}">
      <dsp:nvSpPr>
        <dsp:cNvPr id="0" name=""/>
        <dsp:cNvSpPr/>
      </dsp:nvSpPr>
      <dsp:spPr>
        <a:xfrm>
          <a:off x="0" y="4350804"/>
          <a:ext cx="15773400" cy="2173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2410" tIns="232410" rIns="232410" bIns="232410" numCol="1" spcCol="1270" anchor="t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Set budgets and alerts at the Azure resource level (the capacity itself is an ARM resource)</a:t>
          </a:r>
        </a:p>
      </dsp:txBody>
      <dsp:txXfrm>
        <a:off x="0" y="4350804"/>
        <a:ext cx="15773400" cy="217380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19E36-0E1E-7948-A4FB-3ADB491C9099}">
      <dsp:nvSpPr>
        <dsp:cNvPr id="0" name=""/>
        <dsp:cNvSpPr/>
      </dsp:nvSpPr>
      <dsp:spPr>
        <a:xfrm>
          <a:off x="0" y="76459"/>
          <a:ext cx="17030701" cy="15116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Co-located workloads compete for the same CU pool — isolation by capacity is your primary lever</a:t>
          </a:r>
        </a:p>
      </dsp:txBody>
      <dsp:txXfrm>
        <a:off x="73792" y="150251"/>
        <a:ext cx="16883117" cy="1364056"/>
      </dsp:txXfrm>
    </dsp:sp>
    <dsp:sp modelId="{4C050E43-DF3A-7248-B425-CE4C2238BEC6}">
      <dsp:nvSpPr>
        <dsp:cNvPr id="0" name=""/>
        <dsp:cNvSpPr/>
      </dsp:nvSpPr>
      <dsp:spPr>
        <a:xfrm>
          <a:off x="0" y="1697540"/>
          <a:ext cx="17030701" cy="1511640"/>
        </a:xfrm>
        <a:prstGeom prst="round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Use capacity segmentation to guarantee SLAs for Prod analytics</a:t>
          </a:r>
        </a:p>
      </dsp:txBody>
      <dsp:txXfrm>
        <a:off x="73792" y="1771332"/>
        <a:ext cx="16883117" cy="1364056"/>
      </dsp:txXfrm>
    </dsp:sp>
    <dsp:sp modelId="{EEF57CFA-4553-FB4D-A64E-DBA858F9EB7D}">
      <dsp:nvSpPr>
        <dsp:cNvPr id="0" name=""/>
        <dsp:cNvSpPr/>
      </dsp:nvSpPr>
      <dsp:spPr>
        <a:xfrm>
          <a:off x="0" y="3318620"/>
          <a:ext cx="17030701" cy="1511640"/>
        </a:xfrm>
        <a:prstGeom prst="round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Monitor for background operations (OneLake indexing, table maintenance) consuming capacity</a:t>
          </a:r>
        </a:p>
      </dsp:txBody>
      <dsp:txXfrm>
        <a:off x="73792" y="3392412"/>
        <a:ext cx="16883117" cy="1364056"/>
      </dsp:txXfrm>
    </dsp:sp>
    <dsp:sp modelId="{076C5010-8DF0-9548-B7C9-14D9E9F6A8F4}">
      <dsp:nvSpPr>
        <dsp:cNvPr id="0" name=""/>
        <dsp:cNvSpPr/>
      </dsp:nvSpPr>
      <dsp:spPr>
        <a:xfrm>
          <a:off x="0" y="4939700"/>
          <a:ext cx="17030701" cy="151164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Use Surge Protection to set a maximum capacity unit (CU) spend per workspace, expressed as a percentage, within a rolling 24-hour window.</a:t>
          </a:r>
        </a:p>
      </dsp:txBody>
      <dsp:txXfrm>
        <a:off x="73792" y="5013492"/>
        <a:ext cx="16883117" cy="136405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1F2938-5B1D-BA43-8A41-EA0F15C62F7B}">
      <dsp:nvSpPr>
        <dsp:cNvPr id="0" name=""/>
        <dsp:cNvSpPr/>
      </dsp:nvSpPr>
      <dsp:spPr>
        <a:xfrm>
          <a:off x="0" y="3187"/>
          <a:ext cx="78105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36A03-790A-D144-B5A0-35095F963ECE}">
      <dsp:nvSpPr>
        <dsp:cNvPr id="0" name=""/>
        <dsp:cNvSpPr/>
      </dsp:nvSpPr>
      <dsp:spPr>
        <a:xfrm>
          <a:off x="0" y="3187"/>
          <a:ext cx="7810500" cy="2173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Medallion architecture (Bronze/Silver/Gold) as an organizational best practice</a:t>
          </a:r>
        </a:p>
      </dsp:txBody>
      <dsp:txXfrm>
        <a:off x="0" y="3187"/>
        <a:ext cx="7810500" cy="2173808"/>
      </dsp:txXfrm>
    </dsp:sp>
    <dsp:sp modelId="{449880D3-38C5-E34A-A4EE-355259F3ADF0}">
      <dsp:nvSpPr>
        <dsp:cNvPr id="0" name=""/>
        <dsp:cNvSpPr/>
      </dsp:nvSpPr>
      <dsp:spPr>
        <a:xfrm>
          <a:off x="0" y="2176995"/>
          <a:ext cx="7810500" cy="0"/>
        </a:xfrm>
        <a:prstGeom prst="line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F885E0-1E36-0642-8BEB-9649940512CF}">
      <dsp:nvSpPr>
        <dsp:cNvPr id="0" name=""/>
        <dsp:cNvSpPr/>
      </dsp:nvSpPr>
      <dsp:spPr>
        <a:xfrm>
          <a:off x="0" y="2176995"/>
          <a:ext cx="7810500" cy="2173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V-Order and file compaction for read-optimized performance</a:t>
          </a:r>
        </a:p>
      </dsp:txBody>
      <dsp:txXfrm>
        <a:off x="0" y="2176995"/>
        <a:ext cx="7810500" cy="2173808"/>
      </dsp:txXfrm>
    </dsp:sp>
    <dsp:sp modelId="{6A27C52A-BB20-0541-B870-4F0D10BB0B99}">
      <dsp:nvSpPr>
        <dsp:cNvPr id="0" name=""/>
        <dsp:cNvSpPr/>
      </dsp:nvSpPr>
      <dsp:spPr>
        <a:xfrm>
          <a:off x="0" y="4350804"/>
          <a:ext cx="7810500" cy="0"/>
        </a:xfrm>
        <a:prstGeom prst="line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077CE2-2B05-F747-9471-29F471BCDC63}">
      <dsp:nvSpPr>
        <dsp:cNvPr id="0" name=""/>
        <dsp:cNvSpPr/>
      </dsp:nvSpPr>
      <dsp:spPr>
        <a:xfrm>
          <a:off x="0" y="4350804"/>
          <a:ext cx="7810500" cy="2173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Choose Warehouse vs. Lakehouse based on query pattern, not just habit</a:t>
          </a:r>
        </a:p>
      </dsp:txBody>
      <dsp:txXfrm>
        <a:off x="0" y="4350804"/>
        <a:ext cx="7810500" cy="217380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E0169-F3DA-0C45-98A1-FFEA8BC21B43}">
      <dsp:nvSpPr>
        <dsp:cNvPr id="0" name=""/>
        <dsp:cNvSpPr/>
      </dsp:nvSpPr>
      <dsp:spPr>
        <a:xfrm>
          <a:off x="0" y="148560"/>
          <a:ext cx="7650080" cy="95099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Lakehouse when your workload is Spark-heavy, schema-on-read, or you need to store unstructured/semi-structured data alongside tables </a:t>
          </a:r>
        </a:p>
      </dsp:txBody>
      <dsp:txXfrm>
        <a:off x="46424" y="194984"/>
        <a:ext cx="7557232" cy="858142"/>
      </dsp:txXfrm>
    </dsp:sp>
    <dsp:sp modelId="{A59125EB-D681-5A47-89AC-3635D5B89C2C}">
      <dsp:nvSpPr>
        <dsp:cNvPr id="0" name=""/>
        <dsp:cNvSpPr/>
      </dsp:nvSpPr>
      <dsp:spPr>
        <a:xfrm>
          <a:off x="0" y="1148510"/>
          <a:ext cx="7650080" cy="950990"/>
        </a:xfrm>
        <a:prstGeom prst="roundRect">
          <a:avLst/>
        </a:prstGeom>
        <a:solidFill>
          <a:schemeClr val="accent3">
            <a:hueOff val="823433"/>
            <a:satOff val="4942"/>
            <a:lumOff val="3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Warehouse when your team thinks in T-SQL, needs full DML (UPDATE/DELETE/MERGE), or you're migrating from a traditional SQL DW </a:t>
          </a:r>
        </a:p>
      </dsp:txBody>
      <dsp:txXfrm>
        <a:off x="46424" y="1194934"/>
        <a:ext cx="7557232" cy="858142"/>
      </dsp:txXfrm>
    </dsp:sp>
    <dsp:sp modelId="{285D17CB-FFDB-5F49-AFCD-19042F2C5654}">
      <dsp:nvSpPr>
        <dsp:cNvPr id="0" name=""/>
        <dsp:cNvSpPr/>
      </dsp:nvSpPr>
      <dsp:spPr>
        <a:xfrm>
          <a:off x="0" y="2148461"/>
          <a:ext cx="7650080" cy="950990"/>
        </a:xfrm>
        <a:prstGeom prst="roundRect">
          <a:avLst/>
        </a:prstGeom>
        <a:solidFill>
          <a:schemeClr val="accent3">
            <a:hueOff val="1646865"/>
            <a:satOff val="9885"/>
            <a:lumOff val="7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You can use both in the same workspace — lakehouse for ingestion and transformation, warehouse for curated serving. They share OneLake storage underneath.</a:t>
          </a:r>
        </a:p>
      </dsp:txBody>
      <dsp:txXfrm>
        <a:off x="46424" y="2194885"/>
        <a:ext cx="7557232" cy="858142"/>
      </dsp:txXfrm>
    </dsp:sp>
    <dsp:sp modelId="{1E9B9E62-ACA3-5149-824E-2C3ABD198F24}">
      <dsp:nvSpPr>
        <dsp:cNvPr id="0" name=""/>
        <dsp:cNvSpPr/>
      </dsp:nvSpPr>
      <dsp:spPr>
        <a:xfrm>
          <a:off x="0" y="3148411"/>
          <a:ext cx="7650080" cy="950990"/>
        </a:xfrm>
        <a:prstGeom prst="roundRect">
          <a:avLst/>
        </a:prstGeom>
        <a:solidFill>
          <a:schemeClr val="accent3">
            <a:hueOff val="2470298"/>
            <a:satOff val="14827"/>
            <a:lumOff val="112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 OneLake shortcuts to reference data across lakehouses instead of copying it — one physical copy, many logical access points</a:t>
          </a:r>
        </a:p>
      </dsp:txBody>
      <dsp:txXfrm>
        <a:off x="46424" y="3194835"/>
        <a:ext cx="7557232" cy="858142"/>
      </dsp:txXfrm>
    </dsp:sp>
    <dsp:sp modelId="{FE05CD07-BADD-B04E-8481-FD3765E72BF0}">
      <dsp:nvSpPr>
        <dsp:cNvPr id="0" name=""/>
        <dsp:cNvSpPr/>
      </dsp:nvSpPr>
      <dsp:spPr>
        <a:xfrm>
          <a:off x="0" y="4148362"/>
          <a:ext cx="7650080" cy="950990"/>
        </a:xfrm>
        <a:prstGeom prst="roundRect">
          <a:avLst/>
        </a:prstGeom>
        <a:solidFill>
          <a:schemeClr val="accent3">
            <a:hueOff val="3293730"/>
            <a:satOff val="19770"/>
            <a:lumOff val="150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Don't create one mega-lakehouse with everything — you lose the ability to apply different security, lifecycle, and capacity boundaries</a:t>
          </a:r>
        </a:p>
      </dsp:txBody>
      <dsp:txXfrm>
        <a:off x="46424" y="4194786"/>
        <a:ext cx="7557232" cy="858142"/>
      </dsp:txXfrm>
    </dsp:sp>
    <dsp:sp modelId="{2B51E4BE-1A18-274A-8373-6A6716E2DBFF}">
      <dsp:nvSpPr>
        <dsp:cNvPr id="0" name=""/>
        <dsp:cNvSpPr/>
      </dsp:nvSpPr>
      <dsp:spPr>
        <a:xfrm>
          <a:off x="0" y="5148313"/>
          <a:ext cx="7650080" cy="95099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Resist the temptation to put all three layers in one lakehouse — separation gives you independent RBAC, cleaner lineage, and simpler OneLake security roles</a:t>
          </a:r>
        </a:p>
      </dsp:txBody>
      <dsp:txXfrm>
        <a:off x="46424" y="5194737"/>
        <a:ext cx="7557232" cy="85814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141EB-253E-304B-92BE-9C1BF8B2BD6F}">
      <dsp:nvSpPr>
        <dsp:cNvPr id="0" name=""/>
        <dsp:cNvSpPr/>
      </dsp:nvSpPr>
      <dsp:spPr>
        <a:xfrm>
          <a:off x="0" y="892"/>
          <a:ext cx="92583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CF78B-92F8-DF4F-B38A-4DA09440D6C1}">
      <dsp:nvSpPr>
        <dsp:cNvPr id="0" name=""/>
        <dsp:cNvSpPr/>
      </dsp:nvSpPr>
      <dsp:spPr>
        <a:xfrm>
          <a:off x="0" y="892"/>
          <a:ext cx="9258300" cy="1461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Honest assessment: Fabric governance is still catching up to Azure (and other platforms)</a:t>
          </a:r>
        </a:p>
      </dsp:txBody>
      <dsp:txXfrm>
        <a:off x="0" y="892"/>
        <a:ext cx="9258300" cy="1461730"/>
      </dsp:txXfrm>
    </dsp:sp>
    <dsp:sp modelId="{3CC5268E-58D8-354D-A07D-1382944116D0}">
      <dsp:nvSpPr>
        <dsp:cNvPr id="0" name=""/>
        <dsp:cNvSpPr/>
      </dsp:nvSpPr>
      <dsp:spPr>
        <a:xfrm>
          <a:off x="0" y="1462622"/>
          <a:ext cx="92583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BC89A-1882-CE46-A5BF-CDAB27282089}">
      <dsp:nvSpPr>
        <dsp:cNvPr id="0" name=""/>
        <dsp:cNvSpPr/>
      </dsp:nvSpPr>
      <dsp:spPr>
        <a:xfrm>
          <a:off x="0" y="1462622"/>
          <a:ext cx="9258300" cy="1461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Key gaps to watch: granular RBAC, enhanced auditing, BC/DR maturity</a:t>
          </a:r>
        </a:p>
      </dsp:txBody>
      <dsp:txXfrm>
        <a:off x="0" y="1462622"/>
        <a:ext cx="9258300" cy="1461730"/>
      </dsp:txXfrm>
    </dsp:sp>
    <dsp:sp modelId="{FB2C078A-EB27-2E42-829B-845D183FFD25}">
      <dsp:nvSpPr>
        <dsp:cNvPr id="0" name=""/>
        <dsp:cNvSpPr/>
      </dsp:nvSpPr>
      <dsp:spPr>
        <a:xfrm>
          <a:off x="0" y="2924353"/>
          <a:ext cx="92583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6D73D-EC6C-EA4E-87B5-5EA0FB63C264}">
      <dsp:nvSpPr>
        <dsp:cNvPr id="0" name=""/>
        <dsp:cNvSpPr/>
      </dsp:nvSpPr>
      <dsp:spPr>
        <a:xfrm>
          <a:off x="0" y="2924353"/>
          <a:ext cx="9258300" cy="1461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Gaps to ask for: Azure Policy, Azure Monitor </a:t>
          </a:r>
        </a:p>
      </dsp:txBody>
      <dsp:txXfrm>
        <a:off x="0" y="2924353"/>
        <a:ext cx="9258300" cy="1461730"/>
      </dsp:txXfrm>
    </dsp:sp>
    <dsp:sp modelId="{3AA7DA9A-74BF-E44D-8BB2-BA0F4F5CDADB}">
      <dsp:nvSpPr>
        <dsp:cNvPr id="0" name=""/>
        <dsp:cNvSpPr/>
      </dsp:nvSpPr>
      <dsp:spPr>
        <a:xfrm>
          <a:off x="0" y="4386083"/>
          <a:ext cx="92583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907A5-8787-0B42-811F-26E4CFC12FED}">
      <dsp:nvSpPr>
        <dsp:cNvPr id="0" name=""/>
        <dsp:cNvSpPr/>
      </dsp:nvSpPr>
      <dsp:spPr>
        <a:xfrm>
          <a:off x="0" y="4386083"/>
          <a:ext cx="9258300" cy="1461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The framework you build now positions you to adopt these features as they ship</a:t>
          </a:r>
        </a:p>
      </dsp:txBody>
      <dsp:txXfrm>
        <a:off x="0" y="4386083"/>
        <a:ext cx="9258300" cy="1461730"/>
      </dsp:txXfrm>
    </dsp:sp>
    <dsp:sp modelId="{673C8B00-D2DA-DF4C-8D9C-02EC37BD5F96}">
      <dsp:nvSpPr>
        <dsp:cNvPr id="0" name=""/>
        <dsp:cNvSpPr/>
      </dsp:nvSpPr>
      <dsp:spPr>
        <a:xfrm>
          <a:off x="0" y="5847814"/>
          <a:ext cx="92583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203B9F-EBA8-7845-B814-41E9F7FD53D6}">
      <dsp:nvSpPr>
        <dsp:cNvPr id="0" name=""/>
        <dsp:cNvSpPr/>
      </dsp:nvSpPr>
      <dsp:spPr>
        <a:xfrm>
          <a:off x="0" y="5847814"/>
          <a:ext cx="9258300" cy="1461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It only took three years to get workspace identity fixed </a:t>
          </a:r>
          <a:r>
            <a:rPr lang="en-US" sz="3500" kern="1200" dirty="0">
              <a:sym typeface="Wingdings" pitchFamily="2" charset="2"/>
            </a:rPr>
            <a:t> </a:t>
          </a:r>
          <a:endParaRPr lang="en-US" sz="3500" kern="1200" dirty="0"/>
        </a:p>
      </dsp:txBody>
      <dsp:txXfrm>
        <a:off x="0" y="5847814"/>
        <a:ext cx="9258300" cy="146173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6CE6C1-27B5-4970-9926-ED15EF2211E4}">
      <dsp:nvSpPr>
        <dsp:cNvPr id="0" name=""/>
        <dsp:cNvSpPr/>
      </dsp:nvSpPr>
      <dsp:spPr>
        <a:xfrm>
          <a:off x="0" y="2709"/>
          <a:ext cx="15773400" cy="137313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E7108-D6F8-4EA0-907C-712BB96D9D33}">
      <dsp:nvSpPr>
        <dsp:cNvPr id="0" name=""/>
        <dsp:cNvSpPr/>
      </dsp:nvSpPr>
      <dsp:spPr>
        <a:xfrm>
          <a:off x="415372" y="311664"/>
          <a:ext cx="755223" cy="7552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C0540-CA04-40BA-A7B3-A8A39116A0C4}">
      <dsp:nvSpPr>
        <dsp:cNvPr id="0" name=""/>
        <dsp:cNvSpPr/>
      </dsp:nvSpPr>
      <dsp:spPr>
        <a:xfrm>
          <a:off x="1585968" y="2709"/>
          <a:ext cx="14187431" cy="1373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323" tIns="145323" rIns="145323" bIns="145323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Treat capacities like subscriptions — segment deliberately by BU, function, and environment</a:t>
          </a:r>
        </a:p>
      </dsp:txBody>
      <dsp:txXfrm>
        <a:off x="1585968" y="2709"/>
        <a:ext cx="14187431" cy="1373132"/>
      </dsp:txXfrm>
    </dsp:sp>
    <dsp:sp modelId="{F41E957A-4CBE-4196-A726-3EC70D68CEBF}">
      <dsp:nvSpPr>
        <dsp:cNvPr id="0" name=""/>
        <dsp:cNvSpPr/>
      </dsp:nvSpPr>
      <dsp:spPr>
        <a:xfrm>
          <a:off x="0" y="1719125"/>
          <a:ext cx="15773400" cy="137313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BB8FB-6B8B-42E5-9475-A310B44629A2}">
      <dsp:nvSpPr>
        <dsp:cNvPr id="0" name=""/>
        <dsp:cNvSpPr/>
      </dsp:nvSpPr>
      <dsp:spPr>
        <a:xfrm>
          <a:off x="415372" y="2028080"/>
          <a:ext cx="755223" cy="7552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81913-9045-406A-8045-9E88B2B646CB}">
      <dsp:nvSpPr>
        <dsp:cNvPr id="0" name=""/>
        <dsp:cNvSpPr/>
      </dsp:nvSpPr>
      <dsp:spPr>
        <a:xfrm>
          <a:off x="1585968" y="1719125"/>
          <a:ext cx="14187431" cy="1373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323" tIns="145323" rIns="145323" bIns="145323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Don't assume Azure governance patterns work in Fabric — know the gaps</a:t>
          </a:r>
        </a:p>
      </dsp:txBody>
      <dsp:txXfrm>
        <a:off x="1585968" y="1719125"/>
        <a:ext cx="14187431" cy="1373132"/>
      </dsp:txXfrm>
    </dsp:sp>
    <dsp:sp modelId="{38FFF48E-7D5D-4610-8F4D-5EB333A235B1}">
      <dsp:nvSpPr>
        <dsp:cNvPr id="0" name=""/>
        <dsp:cNvSpPr/>
      </dsp:nvSpPr>
      <dsp:spPr>
        <a:xfrm>
          <a:off x="0" y="3435541"/>
          <a:ext cx="15773400" cy="137313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86F56-CD31-4FE4-83FB-571CA18C8A0E}">
      <dsp:nvSpPr>
        <dsp:cNvPr id="0" name=""/>
        <dsp:cNvSpPr/>
      </dsp:nvSpPr>
      <dsp:spPr>
        <a:xfrm>
          <a:off x="415372" y="3744496"/>
          <a:ext cx="755223" cy="7552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C12EC-A2DE-401D-A2DD-90068C56EEED}">
      <dsp:nvSpPr>
        <dsp:cNvPr id="0" name=""/>
        <dsp:cNvSpPr/>
      </dsp:nvSpPr>
      <dsp:spPr>
        <a:xfrm>
          <a:off x="1585968" y="3435541"/>
          <a:ext cx="14187431" cy="1373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323" tIns="145323" rIns="145323" bIns="145323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Compensate with naming standards, tagging, automation, and monitoring</a:t>
          </a:r>
        </a:p>
      </dsp:txBody>
      <dsp:txXfrm>
        <a:off x="1585968" y="3435541"/>
        <a:ext cx="14187431" cy="1373132"/>
      </dsp:txXfrm>
    </dsp:sp>
    <dsp:sp modelId="{BB7ABA1E-4CFC-4ADF-9FEE-B3360F700B25}">
      <dsp:nvSpPr>
        <dsp:cNvPr id="0" name=""/>
        <dsp:cNvSpPr/>
      </dsp:nvSpPr>
      <dsp:spPr>
        <a:xfrm>
          <a:off x="0" y="5151957"/>
          <a:ext cx="15773400" cy="137313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BA538-1325-4D00-8D78-5A41ABBC7F31}">
      <dsp:nvSpPr>
        <dsp:cNvPr id="0" name=""/>
        <dsp:cNvSpPr/>
      </dsp:nvSpPr>
      <dsp:spPr>
        <a:xfrm>
          <a:off x="415372" y="5460912"/>
          <a:ext cx="755223" cy="7552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1435BD-1E41-490A-9AD6-E77195F1F154}">
      <dsp:nvSpPr>
        <dsp:cNvPr id="0" name=""/>
        <dsp:cNvSpPr/>
      </dsp:nvSpPr>
      <dsp:spPr>
        <a:xfrm>
          <a:off x="1585968" y="5151957"/>
          <a:ext cx="14187431" cy="1373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323" tIns="145323" rIns="145323" bIns="145323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Build the framework now; the platform will grow into it</a:t>
          </a:r>
        </a:p>
      </dsp:txBody>
      <dsp:txXfrm>
        <a:off x="1585968" y="5151957"/>
        <a:ext cx="14187431" cy="13731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ABCONSQL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0E4C8BF8-029D-A293-B311-2F92FAE8B866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1" t="-23436" r="-17895" b="-171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F9BE6328-A51C-E66B-550E-BCFC66329F41}"/>
              </a:ext>
            </a:extLst>
          </p:cNvPr>
          <p:cNvSpPr/>
          <p:nvPr userDrawn="1"/>
        </p:nvSpPr>
        <p:spPr>
          <a:xfrm rot="-10800000" flipH="1" flipV="1">
            <a:off x="8352024" y="2119509"/>
            <a:ext cx="9935976" cy="8092718"/>
          </a:xfrm>
          <a:custGeom>
            <a:avLst/>
            <a:gdLst/>
            <a:ahLst/>
            <a:cxnLst/>
            <a:rect l="l" t="t" r="r" b="b"/>
            <a:pathLst>
              <a:path w="9935976" h="8092718">
                <a:moveTo>
                  <a:pt x="9935976" y="8092717"/>
                </a:moveTo>
                <a:lnTo>
                  <a:pt x="0" y="8092717"/>
                </a:lnTo>
                <a:lnTo>
                  <a:pt x="0" y="0"/>
                </a:lnTo>
                <a:lnTo>
                  <a:pt x="9935976" y="0"/>
                </a:lnTo>
                <a:lnTo>
                  <a:pt x="9935976" y="8092717"/>
                </a:lnTo>
                <a:close/>
              </a:path>
            </a:pathLst>
          </a:custGeom>
          <a:blipFill>
            <a:blip r:embed="rId3"/>
            <a:stretch>
              <a:fillRect l="-151907" t="-3054" b="-4617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B6774A66-7FB6-FCCA-A825-6850DCCD33ED}"/>
              </a:ext>
            </a:extLst>
          </p:cNvPr>
          <p:cNvGrpSpPr/>
          <p:nvPr userDrawn="1"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4A34BB2-1322-04B8-1BBE-41C316DC4763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B354B1E3-D903-E756-6CDA-EBBD9D49C5A2}"/>
                </a:ext>
              </a:extLst>
            </p:cNvPr>
            <p:cNvSpPr txBox="1"/>
            <p:nvPr/>
          </p:nvSpPr>
          <p:spPr>
            <a:xfrm>
              <a:off x="0" y="-28575"/>
              <a:ext cx="481659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2"/>
                </a:lnSpc>
              </a:pPr>
              <a:endParaRPr/>
            </a:p>
          </p:txBody>
        </p:sp>
      </p:grpSp>
      <p:sp>
        <p:nvSpPr>
          <p:cNvPr id="10" name="TextBox 7">
            <a:extLst>
              <a:ext uri="{FF2B5EF4-FFF2-40B4-BE49-F238E27FC236}">
                <a16:creationId xmlns:a16="http://schemas.microsoft.com/office/drawing/2014/main" id="{0779E1F6-CF36-A033-1874-DEB840027B1D}"/>
              </a:ext>
            </a:extLst>
          </p:cNvPr>
          <p:cNvSpPr txBox="1"/>
          <p:nvPr userDrawn="1"/>
        </p:nvSpPr>
        <p:spPr>
          <a:xfrm>
            <a:off x="1028700" y="7733835"/>
            <a:ext cx="8572500" cy="664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8" b="1">
                <a:solidFill>
                  <a:srgbClr val="2AAC9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ATLANTA</a:t>
            </a:r>
            <a:r>
              <a:rPr lang="en-US" sz="39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MARCH 16 - 20, 2026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4ADCCDCC-A7EF-21E9-212E-88C98E861BEB}"/>
              </a:ext>
            </a:extLst>
          </p:cNvPr>
          <p:cNvSpPr txBox="1"/>
          <p:nvPr userDrawn="1"/>
        </p:nvSpPr>
        <p:spPr>
          <a:xfrm>
            <a:off x="1028700" y="2052834"/>
            <a:ext cx="5753100" cy="599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055"/>
              </a:lnSpc>
            </a:pPr>
            <a:r>
              <a:rPr lang="en-US" sz="3611">
                <a:solidFill>
                  <a:srgbClr val="E3F7EF"/>
                </a:solidFill>
                <a:latin typeface="Montserrat"/>
                <a:ea typeface="Montserrat"/>
                <a:cs typeface="Montserrat"/>
                <a:sym typeface="Montserrat"/>
              </a:rPr>
              <a:t>#FABCONSQLCON2026</a:t>
            </a:r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id="{B289876D-FB3F-0385-0025-FBC552AFEC16}"/>
              </a:ext>
            </a:extLst>
          </p:cNvPr>
          <p:cNvGrpSpPr/>
          <p:nvPr userDrawn="1"/>
        </p:nvGrpSpPr>
        <p:grpSpPr>
          <a:xfrm>
            <a:off x="1028700" y="4027243"/>
            <a:ext cx="14346130" cy="2672227"/>
            <a:chOff x="0" y="0"/>
            <a:chExt cx="19128173" cy="3562969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9C8A7191-891D-8208-B31B-30F5D0407EAF}"/>
                </a:ext>
              </a:extLst>
            </p:cNvPr>
            <p:cNvSpPr/>
            <p:nvPr/>
          </p:nvSpPr>
          <p:spPr>
            <a:xfrm>
              <a:off x="0" y="0"/>
              <a:ext cx="8838779" cy="3562969"/>
            </a:xfrm>
            <a:custGeom>
              <a:avLst/>
              <a:gdLst/>
              <a:ahLst/>
              <a:cxnLst/>
              <a:rect l="l" t="t" r="r" b="b"/>
              <a:pathLst>
                <a:path w="8838779" h="3562969">
                  <a:moveTo>
                    <a:pt x="0" y="0"/>
                  </a:moveTo>
                  <a:lnTo>
                    <a:pt x="8838779" y="0"/>
                  </a:lnTo>
                  <a:lnTo>
                    <a:pt x="8838779" y="3562969"/>
                  </a:lnTo>
                  <a:lnTo>
                    <a:pt x="0" y="3562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065F690-FD92-492E-B303-AA6B05EDBB4B}"/>
                </a:ext>
              </a:extLst>
            </p:cNvPr>
            <p:cNvSpPr/>
            <p:nvPr/>
          </p:nvSpPr>
          <p:spPr>
            <a:xfrm>
              <a:off x="10285701" y="0"/>
              <a:ext cx="8842473" cy="3562969"/>
            </a:xfrm>
            <a:custGeom>
              <a:avLst/>
              <a:gdLst/>
              <a:ahLst/>
              <a:cxnLst/>
              <a:rect l="l" t="t" r="r" b="b"/>
              <a:pathLst>
                <a:path w="8842473" h="3562969">
                  <a:moveTo>
                    <a:pt x="0" y="0"/>
                  </a:moveTo>
                  <a:lnTo>
                    <a:pt x="8842472" y="0"/>
                  </a:lnTo>
                  <a:lnTo>
                    <a:pt x="8842472" y="3562969"/>
                  </a:lnTo>
                  <a:lnTo>
                    <a:pt x="0" y="3562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AutoShape 12">
              <a:extLst>
                <a:ext uri="{FF2B5EF4-FFF2-40B4-BE49-F238E27FC236}">
                  <a16:creationId xmlns:a16="http://schemas.microsoft.com/office/drawing/2014/main" id="{3139F297-CFD3-1054-7839-148662C87C9E}"/>
                </a:ext>
              </a:extLst>
            </p:cNvPr>
            <p:cNvSpPr/>
            <p:nvPr/>
          </p:nvSpPr>
          <p:spPr>
            <a:xfrm flipV="1">
              <a:off x="9562240" y="561"/>
              <a:ext cx="0" cy="3561847"/>
            </a:xfrm>
            <a:prstGeom prst="line">
              <a:avLst/>
            </a:prstGeom>
            <a:ln w="6514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8253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BDCF-FD7D-65A7-41F7-F75AFA5DC8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91400" y="1752600"/>
            <a:ext cx="7391400" cy="3581400"/>
          </a:xfrm>
          <a:prstGeom prst="rect">
            <a:avLst/>
          </a:prstGeo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CE82B-20CF-9368-77F6-F77D6B30EE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91400" y="6057900"/>
            <a:ext cx="7391400" cy="18589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Name</a:t>
            </a:r>
          </a:p>
          <a:p>
            <a:r>
              <a:rPr lang="en-US"/>
              <a:t>Title, Company Name, Country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30A09D7-7DA5-BA2A-1760-411370A82D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00" y="1752600"/>
            <a:ext cx="5410200" cy="3581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5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6BB3-8A7F-81DF-3556-2C8A6106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9CD59-4094-DDC2-A708-2B684F37D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614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14A0-C9FE-DBEF-1760-F79D91C91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CBB7-0E97-6ED8-27E4-6BC369D11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75D53-05C1-A4E3-7376-13A71AF13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100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1011-CA50-F53C-4B4B-F9104B7B3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221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50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B0931-04B8-D239-662C-26C2C6BEC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10614-13C9-6DC7-17EF-C84640605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13A05-82D3-F673-9E29-E92ADD2E3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326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vey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65F8B7B-136E-A28A-3F77-5B9B38DCF0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11800" cy="937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53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bric Certifie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ertificate with a qr code&#10;&#10;AI-generated content may be incorrect.">
            <a:extLst>
              <a:ext uri="{FF2B5EF4-FFF2-40B4-BE49-F238E27FC236}">
                <a16:creationId xmlns:a16="http://schemas.microsoft.com/office/drawing/2014/main" id="{F3E3AE7C-F2F2-B446-E567-43B68D7EE7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6764001" cy="942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51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BDCF-FD7D-65A7-41F7-F75AFA5DC8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91400" y="1752600"/>
            <a:ext cx="7391400" cy="3581400"/>
          </a:xfrm>
          <a:prstGeom prst="rect">
            <a:avLst/>
          </a:prstGeo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CE82B-20CF-9368-77F6-F77D6B30EE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91400" y="6057900"/>
            <a:ext cx="7391400" cy="18589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Name</a:t>
            </a:r>
          </a:p>
          <a:p>
            <a:r>
              <a:rPr lang="en-US"/>
              <a:t>Title, Company Name, Country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30A09D7-7DA5-BA2A-1760-411370A82D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00" y="1752600"/>
            <a:ext cx="5410200" cy="3581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66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rvey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65F8B7B-136E-A28A-3F77-5B9B38DCF0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11800" cy="937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06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8CE82B-20CF-9368-77F6-F77D6B30EE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91400" y="6057900"/>
            <a:ext cx="7391400" cy="18589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Name</a:t>
            </a:r>
          </a:p>
          <a:p>
            <a:r>
              <a:rPr lang="en-US"/>
              <a:t>Title, Company Name, Country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C4008E-ACEE-3C29-D0A2-9A3D05C840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91400" y="1752600"/>
            <a:ext cx="7391400" cy="3581400"/>
          </a:xfrm>
          <a:prstGeom prst="rect">
            <a:avLst/>
          </a:prstGeo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59929E11-B97A-39B6-C09B-302C1E7D54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00" y="1752600"/>
            <a:ext cx="5410200" cy="3581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78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1AB8F-4BB8-3196-B74C-96CE6A259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B4EB3-6E32-E9E5-5F75-03EF2F342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738438"/>
            <a:ext cx="15773400" cy="61075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4146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9A23-D710-FB93-CB0B-5B03169E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B2A43-C043-B3E4-B66E-A6F83318E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09961-6040-A8A9-F703-2F591B2BE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6953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0234D93-2D28-4D2C-2295-83C53D364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4DE67B4-6587-E8BF-7B59-DE1C9F48C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738438"/>
            <a:ext cx="15773400" cy="6107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5261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247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B61D-F187-BB54-AB26-6EDC658B3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C3BB7-2627-8FC5-FBC6-E22EEE0C9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DFC4A-4504-39C5-5049-E9A8D3615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9014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veySlide">
    <p:bg>
      <p:bgPr>
        <a:gradFill>
          <a:gsLst>
            <a:gs pos="0">
              <a:srgbClr val="130F40"/>
            </a:gs>
            <a:gs pos="47000">
              <a:srgbClr val="12103A"/>
            </a:gs>
            <a:gs pos="93000">
              <a:srgbClr val="111135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9B6DAD10-6821-3A63-457F-7B52DE7D9F32}"/>
              </a:ext>
            </a:extLst>
          </p:cNvPr>
          <p:cNvSpPr txBox="1"/>
          <p:nvPr userDrawn="1"/>
        </p:nvSpPr>
        <p:spPr>
          <a:xfrm>
            <a:off x="1913046" y="857250"/>
            <a:ext cx="8588442" cy="7832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2"/>
              </a:lnSpc>
            </a:pPr>
            <a:r>
              <a:rPr lang="en-US" sz="5823" b="1" spc="25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was </a:t>
            </a:r>
          </a:p>
          <a:p>
            <a:pPr algn="l">
              <a:lnSpc>
                <a:spcPts val="8792"/>
              </a:lnSpc>
            </a:pPr>
            <a:r>
              <a:rPr lang="en-US" sz="5823" b="1" spc="25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session? </a:t>
            </a:r>
          </a:p>
          <a:p>
            <a:pPr algn="l">
              <a:lnSpc>
                <a:spcPts val="5458"/>
              </a:lnSpc>
            </a:pPr>
            <a:endParaRPr lang="en-US" sz="5823" b="1" spc="25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5458"/>
              </a:lnSpc>
            </a:pPr>
            <a:endParaRPr lang="en-US" sz="5823" b="1" spc="25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5458"/>
              </a:lnSpc>
            </a:pPr>
            <a:endParaRPr lang="en-US" sz="5823" b="1" spc="25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5458"/>
              </a:lnSpc>
            </a:pPr>
            <a:endParaRPr lang="en-US" sz="5823" b="1" spc="25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5458"/>
              </a:lnSpc>
            </a:pPr>
            <a:endParaRPr lang="en-US" sz="5823" b="1" spc="25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5458"/>
              </a:lnSpc>
            </a:pPr>
            <a:r>
              <a:rPr lang="en-US" sz="3614" spc="155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Complete Session Surveys in </a:t>
            </a:r>
          </a:p>
          <a:p>
            <a:pPr algn="l">
              <a:lnSpc>
                <a:spcPts val="5458"/>
              </a:lnSpc>
            </a:pPr>
            <a:r>
              <a:rPr lang="en-US" sz="3614" spc="155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for your chance to WIN PRIZES!</a:t>
            </a: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807E8C1E-61CE-311A-A248-D7977A6716A4}"/>
              </a:ext>
            </a:extLst>
          </p:cNvPr>
          <p:cNvGrpSpPr/>
          <p:nvPr userDrawn="1"/>
        </p:nvGrpSpPr>
        <p:grpSpPr>
          <a:xfrm>
            <a:off x="12099761" y="1212936"/>
            <a:ext cx="4005586" cy="7557310"/>
            <a:chOff x="0" y="0"/>
            <a:chExt cx="5340781" cy="10076414"/>
          </a:xfrm>
        </p:grpSpPr>
        <p:sp>
          <p:nvSpPr>
            <p:cNvPr id="4" name="Freeform 14">
              <a:extLst>
                <a:ext uri="{FF2B5EF4-FFF2-40B4-BE49-F238E27FC236}">
                  <a16:creationId xmlns:a16="http://schemas.microsoft.com/office/drawing/2014/main" id="{A64B0BA2-3B75-4F81-04CB-B24F54E299BF}"/>
                </a:ext>
              </a:extLst>
            </p:cNvPr>
            <p:cNvSpPr/>
            <p:nvPr/>
          </p:nvSpPr>
          <p:spPr>
            <a:xfrm>
              <a:off x="0" y="0"/>
              <a:ext cx="5340781" cy="10076414"/>
            </a:xfrm>
            <a:custGeom>
              <a:avLst/>
              <a:gdLst/>
              <a:ahLst/>
              <a:cxnLst/>
              <a:rect l="l" t="t" r="r" b="b"/>
              <a:pathLst>
                <a:path w="5340781" h="10076414">
                  <a:moveTo>
                    <a:pt x="0" y="0"/>
                  </a:moveTo>
                  <a:lnTo>
                    <a:pt x="5340781" y="0"/>
                  </a:lnTo>
                  <a:lnTo>
                    <a:pt x="5340781" y="10076414"/>
                  </a:lnTo>
                  <a:lnTo>
                    <a:pt x="0" y="10076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9925" t="-8618" r="-12967" b="-78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90F57D38-6F68-B2F4-AFE4-807DE879EA59}"/>
                </a:ext>
              </a:extLst>
            </p:cNvPr>
            <p:cNvSpPr/>
            <p:nvPr/>
          </p:nvSpPr>
          <p:spPr>
            <a:xfrm>
              <a:off x="611971" y="845155"/>
              <a:ext cx="4019856" cy="8416121"/>
            </a:xfrm>
            <a:custGeom>
              <a:avLst/>
              <a:gdLst/>
              <a:ahLst/>
              <a:cxnLst/>
              <a:rect l="l" t="t" r="r" b="b"/>
              <a:pathLst>
                <a:path w="4019856" h="8416121">
                  <a:moveTo>
                    <a:pt x="0" y="0"/>
                  </a:moveTo>
                  <a:lnTo>
                    <a:pt x="4019856" y="0"/>
                  </a:lnTo>
                  <a:lnTo>
                    <a:pt x="4019856" y="8416122"/>
                  </a:lnTo>
                  <a:lnTo>
                    <a:pt x="0" y="8416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415" t="-7654" r="-8415" b="-39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C51BB73F-6829-0021-6C08-814C2AE04998}"/>
                </a:ext>
              </a:extLst>
            </p:cNvPr>
            <p:cNvSpPr/>
            <p:nvPr/>
          </p:nvSpPr>
          <p:spPr>
            <a:xfrm>
              <a:off x="611971" y="845155"/>
              <a:ext cx="4019856" cy="2200284"/>
            </a:xfrm>
            <a:custGeom>
              <a:avLst/>
              <a:gdLst/>
              <a:ahLst/>
              <a:cxnLst/>
              <a:rect l="l" t="t" r="r" b="b"/>
              <a:pathLst>
                <a:path w="4019856" h="2200284">
                  <a:moveTo>
                    <a:pt x="0" y="0"/>
                  </a:moveTo>
                  <a:lnTo>
                    <a:pt x="4019856" y="0"/>
                  </a:lnTo>
                  <a:lnTo>
                    <a:pt x="4019856" y="2200284"/>
                  </a:lnTo>
                  <a:lnTo>
                    <a:pt x="0" y="2200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302" b="-783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17">
              <a:extLst>
                <a:ext uri="{FF2B5EF4-FFF2-40B4-BE49-F238E27FC236}">
                  <a16:creationId xmlns:a16="http://schemas.microsoft.com/office/drawing/2014/main" id="{154813C2-7FEE-3E12-9091-F6B1E7E42AFF}"/>
                </a:ext>
              </a:extLst>
            </p:cNvPr>
            <p:cNvSpPr/>
            <p:nvPr/>
          </p:nvSpPr>
          <p:spPr>
            <a:xfrm>
              <a:off x="3071904" y="5348577"/>
              <a:ext cx="1677462" cy="821957"/>
            </a:xfrm>
            <a:custGeom>
              <a:avLst/>
              <a:gdLst/>
              <a:ahLst/>
              <a:cxnLst/>
              <a:rect l="l" t="t" r="r" b="b"/>
              <a:pathLst>
                <a:path w="1677462" h="821957">
                  <a:moveTo>
                    <a:pt x="0" y="0"/>
                  </a:moveTo>
                  <a:lnTo>
                    <a:pt x="1677463" y="0"/>
                  </a:lnTo>
                  <a:lnTo>
                    <a:pt x="1677463" y="821956"/>
                  </a:lnTo>
                  <a:lnTo>
                    <a:pt x="0" y="821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19">
            <a:extLst>
              <a:ext uri="{FF2B5EF4-FFF2-40B4-BE49-F238E27FC236}">
                <a16:creationId xmlns:a16="http://schemas.microsoft.com/office/drawing/2014/main" id="{CA744602-BC5A-55D2-0BA8-0DCF5CF35167}"/>
              </a:ext>
            </a:extLst>
          </p:cNvPr>
          <p:cNvGrpSpPr/>
          <p:nvPr userDrawn="1"/>
        </p:nvGrpSpPr>
        <p:grpSpPr>
          <a:xfrm>
            <a:off x="1913046" y="3454873"/>
            <a:ext cx="2672711" cy="2672711"/>
            <a:chOff x="0" y="0"/>
            <a:chExt cx="3563614" cy="3563614"/>
          </a:xfrm>
        </p:grpSpPr>
        <p:grpSp>
          <p:nvGrpSpPr>
            <p:cNvPr id="9" name="Group 20">
              <a:extLst>
                <a:ext uri="{FF2B5EF4-FFF2-40B4-BE49-F238E27FC236}">
                  <a16:creationId xmlns:a16="http://schemas.microsoft.com/office/drawing/2014/main" id="{19648B42-9670-55C2-5195-32401DEC1272}"/>
                </a:ext>
              </a:extLst>
            </p:cNvPr>
            <p:cNvGrpSpPr/>
            <p:nvPr/>
          </p:nvGrpSpPr>
          <p:grpSpPr>
            <a:xfrm>
              <a:off x="0" y="0"/>
              <a:ext cx="3563614" cy="3563614"/>
              <a:chOff x="0" y="0"/>
              <a:chExt cx="531282" cy="531282"/>
            </a:xfrm>
          </p:grpSpPr>
          <p:sp>
            <p:nvSpPr>
              <p:cNvPr id="11" name="Freeform 21">
                <a:extLst>
                  <a:ext uri="{FF2B5EF4-FFF2-40B4-BE49-F238E27FC236}">
                    <a16:creationId xmlns:a16="http://schemas.microsoft.com/office/drawing/2014/main" id="{B4EB73C7-5AAB-BF5C-647F-0B7A84A19E20}"/>
                  </a:ext>
                </a:extLst>
              </p:cNvPr>
              <p:cNvSpPr/>
              <p:nvPr/>
            </p:nvSpPr>
            <p:spPr>
              <a:xfrm>
                <a:off x="0" y="0"/>
                <a:ext cx="531282" cy="531282"/>
              </a:xfrm>
              <a:custGeom>
                <a:avLst/>
                <a:gdLst/>
                <a:ahLst/>
                <a:cxnLst/>
                <a:rect l="l" t="t" r="r" b="b"/>
                <a:pathLst>
                  <a:path w="531282" h="531282">
                    <a:moveTo>
                      <a:pt x="0" y="0"/>
                    </a:moveTo>
                    <a:lnTo>
                      <a:pt x="531282" y="0"/>
                    </a:lnTo>
                    <a:lnTo>
                      <a:pt x="531282" y="531282"/>
                    </a:lnTo>
                    <a:lnTo>
                      <a:pt x="0" y="53128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22">
                <a:extLst>
                  <a:ext uri="{FF2B5EF4-FFF2-40B4-BE49-F238E27FC236}">
                    <a16:creationId xmlns:a16="http://schemas.microsoft.com/office/drawing/2014/main" id="{FF41D511-09A2-7E08-25F6-718C64E1C37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31282" cy="5598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02"/>
                  </a:lnSpc>
                </a:pPr>
                <a:endParaRPr/>
              </a:p>
            </p:txBody>
          </p:sp>
        </p:grp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673AD062-EC3E-5AE7-EF65-588FB2729E34}"/>
                </a:ext>
              </a:extLst>
            </p:cNvPr>
            <p:cNvSpPr/>
            <p:nvPr/>
          </p:nvSpPr>
          <p:spPr>
            <a:xfrm>
              <a:off x="0" y="43001"/>
              <a:ext cx="3477612" cy="3347696"/>
            </a:xfrm>
            <a:custGeom>
              <a:avLst/>
              <a:gdLst/>
              <a:ahLst/>
              <a:cxnLst/>
              <a:rect l="l" t="t" r="r" b="b"/>
              <a:pathLst>
                <a:path w="3477612" h="3347696">
                  <a:moveTo>
                    <a:pt x="0" y="0"/>
                  </a:moveTo>
                  <a:lnTo>
                    <a:pt x="3477612" y="0"/>
                  </a:lnTo>
                  <a:lnTo>
                    <a:pt x="3477612" y="3347696"/>
                  </a:lnTo>
                  <a:lnTo>
                    <a:pt x="0" y="3347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388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8">
            <a:extLst>
              <a:ext uri="{FF2B5EF4-FFF2-40B4-BE49-F238E27FC236}">
                <a16:creationId xmlns:a16="http://schemas.microsoft.com/office/drawing/2014/main" id="{34A80EEE-FEFF-2A87-FE50-ACFEA58E5EE9}"/>
              </a:ext>
            </a:extLst>
          </p:cNvPr>
          <p:cNvSpPr/>
          <p:nvPr userDrawn="1"/>
        </p:nvSpPr>
        <p:spPr>
          <a:xfrm>
            <a:off x="1941602" y="7180826"/>
            <a:ext cx="2088354" cy="704819"/>
          </a:xfrm>
          <a:custGeom>
            <a:avLst/>
            <a:gdLst/>
            <a:ahLst/>
            <a:cxnLst/>
            <a:rect l="l" t="t" r="r" b="b"/>
            <a:pathLst>
              <a:path w="2088354" h="704819">
                <a:moveTo>
                  <a:pt x="0" y="0"/>
                </a:moveTo>
                <a:lnTo>
                  <a:pt x="2088353" y="0"/>
                </a:lnTo>
                <a:lnTo>
                  <a:pt x="2088353" y="704819"/>
                </a:lnTo>
                <a:lnTo>
                  <a:pt x="0" y="7048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525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bric Certified Slide ">
    <p:bg>
      <p:bgPr>
        <a:gradFill>
          <a:gsLst>
            <a:gs pos="0">
              <a:srgbClr val="130F40"/>
            </a:gs>
            <a:gs pos="47000">
              <a:srgbClr val="12103A"/>
            </a:gs>
            <a:gs pos="93000">
              <a:srgbClr val="111135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background with a qr code and a shield&#10;&#10;AI-generated content may be incorrect.">
            <a:extLst>
              <a:ext uri="{FF2B5EF4-FFF2-40B4-BE49-F238E27FC236}">
                <a16:creationId xmlns:a16="http://schemas.microsoft.com/office/drawing/2014/main" id="{1877C2EC-1A79-3086-4E85-5CB869C71E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6840200" cy="947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16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A8AD42F8-1B56-280C-AC01-F2EAE17CE008}"/>
              </a:ext>
            </a:extLst>
          </p:cNvPr>
          <p:cNvSpPr txBox="1">
            <a:spLocks/>
          </p:cNvSpPr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8BD707-D9CF-40AE-B4C6-C98DA3205C09}" type="datetimeFigureOut">
              <a:rPr lang="en-US" smtClean="0"/>
              <a:pPr/>
              <a:t>10/10/26</a:t>
            </a:fld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5B93828-750E-B91F-2CD0-911316D2DED5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C9CA0AA5-97BF-B3E1-AD0C-2EE19D0D1A93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1" t="-23436" r="-17895" b="-171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BBCD8F5D-7FE9-64AF-C2A4-0096E05166BA}"/>
              </a:ext>
            </a:extLst>
          </p:cNvPr>
          <p:cNvSpPr/>
          <p:nvPr userDrawn="1"/>
        </p:nvSpPr>
        <p:spPr>
          <a:xfrm rot="-10800000" flipH="1" flipV="1">
            <a:off x="8352024" y="2119509"/>
            <a:ext cx="9935976" cy="8092718"/>
          </a:xfrm>
          <a:custGeom>
            <a:avLst/>
            <a:gdLst/>
            <a:ahLst/>
            <a:cxnLst/>
            <a:rect l="l" t="t" r="r" b="b"/>
            <a:pathLst>
              <a:path w="9935976" h="8092718">
                <a:moveTo>
                  <a:pt x="9935976" y="8092717"/>
                </a:moveTo>
                <a:lnTo>
                  <a:pt x="0" y="8092717"/>
                </a:lnTo>
                <a:lnTo>
                  <a:pt x="0" y="0"/>
                </a:lnTo>
                <a:lnTo>
                  <a:pt x="9935976" y="0"/>
                </a:lnTo>
                <a:lnTo>
                  <a:pt x="9935976" y="8092717"/>
                </a:lnTo>
                <a:close/>
              </a:path>
            </a:pathLst>
          </a:custGeom>
          <a:blipFill>
            <a:blip r:embed="rId4"/>
            <a:stretch>
              <a:fillRect l="-151907" t="-3054" b="-4617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78524E82-3ED8-96D7-7E13-51CD558A2142}"/>
              </a:ext>
            </a:extLst>
          </p:cNvPr>
          <p:cNvGrpSpPr/>
          <p:nvPr userDrawn="1"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FB5FEE8E-2824-98A6-0A76-6D9ADD419D35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6588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FA5E35EC-FAD7-C12E-BA95-6CD587B0E868}"/>
                </a:ext>
              </a:extLst>
            </p:cNvPr>
            <p:cNvSpPr txBox="1"/>
            <p:nvPr/>
          </p:nvSpPr>
          <p:spPr>
            <a:xfrm>
              <a:off x="0" y="-28575"/>
              <a:ext cx="481659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2"/>
                </a:lnSpc>
              </a:pPr>
              <a:endParaRPr/>
            </a:p>
          </p:txBody>
        </p:sp>
      </p:grpSp>
      <p:sp>
        <p:nvSpPr>
          <p:cNvPr id="14" name="TextBox 7">
            <a:extLst>
              <a:ext uri="{FF2B5EF4-FFF2-40B4-BE49-F238E27FC236}">
                <a16:creationId xmlns:a16="http://schemas.microsoft.com/office/drawing/2014/main" id="{A3C6E095-E8DD-FEA8-A3B2-12BED0634AB6}"/>
              </a:ext>
            </a:extLst>
          </p:cNvPr>
          <p:cNvSpPr txBox="1"/>
          <p:nvPr userDrawn="1"/>
        </p:nvSpPr>
        <p:spPr>
          <a:xfrm>
            <a:off x="1028700" y="7733835"/>
            <a:ext cx="8572500" cy="664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8" b="1">
                <a:solidFill>
                  <a:srgbClr val="2AAC9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ATLANTA</a:t>
            </a:r>
            <a:r>
              <a:rPr lang="en-US" sz="39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99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MARCH 16 - 20, 2026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81B95A94-84BF-AEAE-2CE8-32A1B051CCD8}"/>
              </a:ext>
            </a:extLst>
          </p:cNvPr>
          <p:cNvSpPr txBox="1"/>
          <p:nvPr userDrawn="1"/>
        </p:nvSpPr>
        <p:spPr>
          <a:xfrm>
            <a:off x="1028700" y="2052834"/>
            <a:ext cx="5753100" cy="599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055"/>
              </a:lnSpc>
            </a:pPr>
            <a:r>
              <a:rPr lang="en-US" sz="3611">
                <a:solidFill>
                  <a:srgbClr val="E3F7EF"/>
                </a:solidFill>
                <a:latin typeface="Montserrat"/>
                <a:ea typeface="Montserrat"/>
                <a:cs typeface="Montserrat"/>
                <a:sym typeface="Montserrat"/>
              </a:rPr>
              <a:t>#FABCONSQLCON2026</a:t>
            </a:r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45E4CDCA-8D31-CEC9-5DCF-460733C8BD38}"/>
              </a:ext>
            </a:extLst>
          </p:cNvPr>
          <p:cNvGrpSpPr/>
          <p:nvPr userDrawn="1"/>
        </p:nvGrpSpPr>
        <p:grpSpPr>
          <a:xfrm>
            <a:off x="1028700" y="4027243"/>
            <a:ext cx="14346130" cy="2672227"/>
            <a:chOff x="0" y="0"/>
            <a:chExt cx="19128173" cy="3562969"/>
          </a:xfrm>
        </p:grpSpPr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A2C3BA32-6153-0C84-F1E8-45E51328350A}"/>
                </a:ext>
              </a:extLst>
            </p:cNvPr>
            <p:cNvSpPr/>
            <p:nvPr/>
          </p:nvSpPr>
          <p:spPr>
            <a:xfrm>
              <a:off x="0" y="0"/>
              <a:ext cx="8838779" cy="3562969"/>
            </a:xfrm>
            <a:custGeom>
              <a:avLst/>
              <a:gdLst/>
              <a:ahLst/>
              <a:cxnLst/>
              <a:rect l="l" t="t" r="r" b="b"/>
              <a:pathLst>
                <a:path w="8838779" h="3562969">
                  <a:moveTo>
                    <a:pt x="0" y="0"/>
                  </a:moveTo>
                  <a:lnTo>
                    <a:pt x="8838779" y="0"/>
                  </a:lnTo>
                  <a:lnTo>
                    <a:pt x="8838779" y="3562969"/>
                  </a:lnTo>
                  <a:lnTo>
                    <a:pt x="0" y="3562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8B8B3220-EB46-4D66-4276-5B30822833DA}"/>
                </a:ext>
              </a:extLst>
            </p:cNvPr>
            <p:cNvSpPr/>
            <p:nvPr/>
          </p:nvSpPr>
          <p:spPr>
            <a:xfrm>
              <a:off x="10285701" y="0"/>
              <a:ext cx="8842473" cy="3562969"/>
            </a:xfrm>
            <a:custGeom>
              <a:avLst/>
              <a:gdLst/>
              <a:ahLst/>
              <a:cxnLst/>
              <a:rect l="l" t="t" r="r" b="b"/>
              <a:pathLst>
                <a:path w="8842473" h="3562969">
                  <a:moveTo>
                    <a:pt x="0" y="0"/>
                  </a:moveTo>
                  <a:lnTo>
                    <a:pt x="8842472" y="0"/>
                  </a:lnTo>
                  <a:lnTo>
                    <a:pt x="8842472" y="3562969"/>
                  </a:lnTo>
                  <a:lnTo>
                    <a:pt x="0" y="3562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AutoShape 12">
              <a:extLst>
                <a:ext uri="{FF2B5EF4-FFF2-40B4-BE49-F238E27FC236}">
                  <a16:creationId xmlns:a16="http://schemas.microsoft.com/office/drawing/2014/main" id="{3297DFB0-F62D-9895-2DDF-9BBE13E1EEBF}"/>
                </a:ext>
              </a:extLst>
            </p:cNvPr>
            <p:cNvSpPr/>
            <p:nvPr/>
          </p:nvSpPr>
          <p:spPr>
            <a:xfrm flipV="1">
              <a:off x="9562240" y="561"/>
              <a:ext cx="0" cy="3561847"/>
            </a:xfrm>
            <a:prstGeom prst="line">
              <a:avLst/>
            </a:prstGeom>
            <a:ln w="6514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87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>
            <a:extLst>
              <a:ext uri="{FF2B5EF4-FFF2-40B4-BE49-F238E27FC236}">
                <a16:creationId xmlns:a16="http://schemas.microsoft.com/office/drawing/2014/main" id="{B73A0AEB-59D9-B34E-A713-EA67B842AD77}"/>
              </a:ext>
            </a:extLst>
          </p:cNvPr>
          <p:cNvSpPr/>
          <p:nvPr userDrawn="1"/>
        </p:nvSpPr>
        <p:spPr>
          <a:xfrm rot="-10800000">
            <a:off x="4514543" y="9489362"/>
            <a:ext cx="5168580" cy="797638"/>
          </a:xfrm>
          <a:custGeom>
            <a:avLst/>
            <a:gdLst/>
            <a:ahLst/>
            <a:cxnLst/>
            <a:rect l="l" t="t" r="r" b="b"/>
            <a:pathLst>
              <a:path w="5168580" h="797638">
                <a:moveTo>
                  <a:pt x="0" y="0"/>
                </a:moveTo>
                <a:lnTo>
                  <a:pt x="5168580" y="0"/>
                </a:lnTo>
                <a:lnTo>
                  <a:pt x="5168580" y="797638"/>
                </a:lnTo>
                <a:lnTo>
                  <a:pt x="0" y="7976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67752" t="-472544" r="-30431" b="-3597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1BBE92BD-1023-A2A8-6DE3-1D3B741EB4B4}"/>
              </a:ext>
            </a:extLst>
          </p:cNvPr>
          <p:cNvSpPr/>
          <p:nvPr userDrawn="1"/>
        </p:nvSpPr>
        <p:spPr>
          <a:xfrm flipV="1">
            <a:off x="12438275" y="9472693"/>
            <a:ext cx="0" cy="814307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C2EE9507-7729-C868-1726-EFE8A6E9275F}"/>
              </a:ext>
            </a:extLst>
          </p:cNvPr>
          <p:cNvSpPr/>
          <p:nvPr userDrawn="1"/>
        </p:nvSpPr>
        <p:spPr>
          <a:xfrm>
            <a:off x="2520468" y="9689186"/>
            <a:ext cx="1765476" cy="350239"/>
          </a:xfrm>
          <a:custGeom>
            <a:avLst/>
            <a:gdLst/>
            <a:ahLst/>
            <a:cxnLst/>
            <a:rect l="l" t="t" r="r" b="b"/>
            <a:pathLst>
              <a:path w="1765476" h="350239">
                <a:moveTo>
                  <a:pt x="0" y="0"/>
                </a:moveTo>
                <a:lnTo>
                  <a:pt x="1765475" y="0"/>
                </a:lnTo>
                <a:lnTo>
                  <a:pt x="1765475" y="350239"/>
                </a:lnTo>
                <a:lnTo>
                  <a:pt x="0" y="3502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023" t="-116316" r="-1416" b="-2207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935B4E22-DB0E-4380-3CB7-3F37A818512A}"/>
              </a:ext>
            </a:extLst>
          </p:cNvPr>
          <p:cNvSpPr/>
          <p:nvPr userDrawn="1"/>
        </p:nvSpPr>
        <p:spPr>
          <a:xfrm>
            <a:off x="325473" y="9689186"/>
            <a:ext cx="1736602" cy="350239"/>
          </a:xfrm>
          <a:custGeom>
            <a:avLst/>
            <a:gdLst/>
            <a:ahLst/>
            <a:cxnLst/>
            <a:rect l="l" t="t" r="r" b="b"/>
            <a:pathLst>
              <a:path w="1736602" h="350239">
                <a:moveTo>
                  <a:pt x="0" y="0"/>
                </a:moveTo>
                <a:lnTo>
                  <a:pt x="1736602" y="0"/>
                </a:lnTo>
                <a:lnTo>
                  <a:pt x="1736602" y="350239"/>
                </a:lnTo>
                <a:lnTo>
                  <a:pt x="0" y="3502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b="-100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94FBEB28-640B-69AD-9D09-3724F1EDD9CD}"/>
              </a:ext>
            </a:extLst>
          </p:cNvPr>
          <p:cNvSpPr/>
          <p:nvPr userDrawn="1"/>
        </p:nvSpPr>
        <p:spPr>
          <a:xfrm flipV="1">
            <a:off x="2291271" y="9625562"/>
            <a:ext cx="0" cy="477488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95B093C3-0BAE-593C-7F40-0109CA798D1D}"/>
              </a:ext>
            </a:extLst>
          </p:cNvPr>
          <p:cNvSpPr txBox="1"/>
          <p:nvPr userDrawn="1"/>
        </p:nvSpPr>
        <p:spPr>
          <a:xfrm>
            <a:off x="10114079" y="9664436"/>
            <a:ext cx="2128934" cy="37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8"/>
              </a:lnSpc>
            </a:pPr>
            <a:r>
              <a:rPr lang="en-US" sz="232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ATLANTA26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B0A2AE4-52AF-2819-C9FE-EA67B1DD0409}"/>
              </a:ext>
            </a:extLst>
          </p:cNvPr>
          <p:cNvSpPr txBox="1"/>
          <p:nvPr userDrawn="1"/>
        </p:nvSpPr>
        <p:spPr>
          <a:xfrm>
            <a:off x="12708990" y="9653025"/>
            <a:ext cx="2128934" cy="470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358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JOIN THE</a:t>
            </a:r>
          </a:p>
          <a:p>
            <a:pPr algn="l">
              <a:lnSpc>
                <a:spcPts val="1902"/>
              </a:lnSpc>
            </a:pPr>
            <a:r>
              <a:rPr lang="en-US" sz="1358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CONVERSATION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A798755-B3B8-4D92-C183-7752C1144E3B}"/>
              </a:ext>
            </a:extLst>
          </p:cNvPr>
          <p:cNvSpPr txBox="1"/>
          <p:nvPr userDrawn="1"/>
        </p:nvSpPr>
        <p:spPr>
          <a:xfrm>
            <a:off x="14260672" y="9630824"/>
            <a:ext cx="376386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9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#FABCONSQLCON26</a:t>
            </a:r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F9D27ED7-2111-8E80-DFC0-546473B5F1D0}"/>
              </a:ext>
            </a:extLst>
          </p:cNvPr>
          <p:cNvSpPr/>
          <p:nvPr userDrawn="1"/>
        </p:nvSpPr>
        <p:spPr>
          <a:xfrm flipH="1">
            <a:off x="0" y="9489362"/>
            <a:ext cx="182880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2DC85C-F7BB-F305-F6ED-47E7FC05862E}"/>
              </a:ext>
            </a:extLst>
          </p:cNvPr>
          <p:cNvCxnSpPr/>
          <p:nvPr userDrawn="1"/>
        </p:nvCxnSpPr>
        <p:spPr>
          <a:xfrm>
            <a:off x="0" y="9489361"/>
            <a:ext cx="18288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982885-2E20-0063-7834-3207031DBB1B}"/>
              </a:ext>
            </a:extLst>
          </p:cNvPr>
          <p:cNvCxnSpPr>
            <a:cxnSpLocks/>
          </p:cNvCxnSpPr>
          <p:nvPr userDrawn="1"/>
        </p:nvCxnSpPr>
        <p:spPr>
          <a:xfrm flipV="1">
            <a:off x="12438275" y="9503973"/>
            <a:ext cx="0" cy="783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07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8" r:id="rId3"/>
    <p:sldLayoutId id="2147483690" r:id="rId4"/>
    <p:sldLayoutId id="2147483691" r:id="rId5"/>
    <p:sldLayoutId id="2147483720" r:id="rId6"/>
    <p:sldLayoutId id="2147483692" r:id="rId7"/>
    <p:sldLayoutId id="2147483732" r:id="rId8"/>
    <p:sldLayoutId id="2147483746" r:id="rId9"/>
    <p:sldLayoutId id="214748374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130F40"/>
            </a:gs>
            <a:gs pos="47000">
              <a:srgbClr val="12103A"/>
            </a:gs>
            <a:gs pos="93000">
              <a:srgbClr val="111135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>
            <a:extLst>
              <a:ext uri="{FF2B5EF4-FFF2-40B4-BE49-F238E27FC236}">
                <a16:creationId xmlns:a16="http://schemas.microsoft.com/office/drawing/2014/main" id="{851E6E58-D0C8-75CB-E464-A135CD1CC5E2}"/>
              </a:ext>
            </a:extLst>
          </p:cNvPr>
          <p:cNvSpPr/>
          <p:nvPr userDrawn="1"/>
        </p:nvSpPr>
        <p:spPr>
          <a:xfrm rot="-10800000">
            <a:off x="4514543" y="9489362"/>
            <a:ext cx="5168580" cy="797638"/>
          </a:xfrm>
          <a:custGeom>
            <a:avLst/>
            <a:gdLst/>
            <a:ahLst/>
            <a:cxnLst/>
            <a:rect l="l" t="t" r="r" b="b"/>
            <a:pathLst>
              <a:path w="5168580" h="797638">
                <a:moveTo>
                  <a:pt x="0" y="0"/>
                </a:moveTo>
                <a:lnTo>
                  <a:pt x="5168580" y="0"/>
                </a:lnTo>
                <a:lnTo>
                  <a:pt x="5168580" y="797638"/>
                </a:lnTo>
                <a:lnTo>
                  <a:pt x="0" y="797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67752" t="-472544" r="-30431" b="-3597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F96984F7-80BE-E6F0-AC12-919A84B5FE54}"/>
              </a:ext>
            </a:extLst>
          </p:cNvPr>
          <p:cNvSpPr/>
          <p:nvPr userDrawn="1"/>
        </p:nvSpPr>
        <p:spPr>
          <a:xfrm flipV="1">
            <a:off x="12438275" y="9472693"/>
            <a:ext cx="0" cy="814307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C0B267A2-CB54-F47B-489F-713AABB6212F}"/>
              </a:ext>
            </a:extLst>
          </p:cNvPr>
          <p:cNvSpPr/>
          <p:nvPr userDrawn="1"/>
        </p:nvSpPr>
        <p:spPr>
          <a:xfrm>
            <a:off x="2520468" y="9689186"/>
            <a:ext cx="1765476" cy="350239"/>
          </a:xfrm>
          <a:custGeom>
            <a:avLst/>
            <a:gdLst/>
            <a:ahLst/>
            <a:cxnLst/>
            <a:rect l="l" t="t" r="r" b="b"/>
            <a:pathLst>
              <a:path w="1765476" h="350239">
                <a:moveTo>
                  <a:pt x="0" y="0"/>
                </a:moveTo>
                <a:lnTo>
                  <a:pt x="1765475" y="0"/>
                </a:lnTo>
                <a:lnTo>
                  <a:pt x="1765475" y="350239"/>
                </a:lnTo>
                <a:lnTo>
                  <a:pt x="0" y="3502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023" t="-116316" r="-1416" b="-2207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DA907770-5C54-C78E-AC2D-C5934A744196}"/>
              </a:ext>
            </a:extLst>
          </p:cNvPr>
          <p:cNvSpPr/>
          <p:nvPr userDrawn="1"/>
        </p:nvSpPr>
        <p:spPr>
          <a:xfrm>
            <a:off x="325473" y="9689186"/>
            <a:ext cx="1736602" cy="350239"/>
          </a:xfrm>
          <a:custGeom>
            <a:avLst/>
            <a:gdLst/>
            <a:ahLst/>
            <a:cxnLst/>
            <a:rect l="l" t="t" r="r" b="b"/>
            <a:pathLst>
              <a:path w="1736602" h="350239">
                <a:moveTo>
                  <a:pt x="0" y="0"/>
                </a:moveTo>
                <a:lnTo>
                  <a:pt x="1736602" y="0"/>
                </a:lnTo>
                <a:lnTo>
                  <a:pt x="1736602" y="350239"/>
                </a:lnTo>
                <a:lnTo>
                  <a:pt x="0" y="3502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b="-100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9F82236E-D185-63C0-61BB-B97526D904F0}"/>
              </a:ext>
            </a:extLst>
          </p:cNvPr>
          <p:cNvSpPr/>
          <p:nvPr userDrawn="1"/>
        </p:nvSpPr>
        <p:spPr>
          <a:xfrm flipV="1">
            <a:off x="2291271" y="9625562"/>
            <a:ext cx="0" cy="477488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DAD0799F-0531-B757-298B-B0FC87154976}"/>
              </a:ext>
            </a:extLst>
          </p:cNvPr>
          <p:cNvSpPr txBox="1"/>
          <p:nvPr userDrawn="1"/>
        </p:nvSpPr>
        <p:spPr>
          <a:xfrm>
            <a:off x="10114079" y="9664436"/>
            <a:ext cx="2128934" cy="37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8"/>
              </a:lnSpc>
            </a:pPr>
            <a:r>
              <a:rPr lang="en-US" sz="232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ATLANTA26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F222A13D-6746-6F6B-A7AB-34F8BBD3B70E}"/>
              </a:ext>
            </a:extLst>
          </p:cNvPr>
          <p:cNvSpPr txBox="1"/>
          <p:nvPr userDrawn="1"/>
        </p:nvSpPr>
        <p:spPr>
          <a:xfrm>
            <a:off x="12708990" y="9653025"/>
            <a:ext cx="2128934" cy="470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358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JOIN THE</a:t>
            </a:r>
          </a:p>
          <a:p>
            <a:pPr algn="l">
              <a:lnSpc>
                <a:spcPts val="1902"/>
              </a:lnSpc>
            </a:pPr>
            <a:r>
              <a:rPr lang="en-US" sz="1358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CONVERSATION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4CDC4F05-B508-1763-E568-F86BB19397D5}"/>
              </a:ext>
            </a:extLst>
          </p:cNvPr>
          <p:cNvSpPr txBox="1"/>
          <p:nvPr userDrawn="1"/>
        </p:nvSpPr>
        <p:spPr>
          <a:xfrm>
            <a:off x="14260672" y="9630824"/>
            <a:ext cx="3763863" cy="40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9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#FABCONSQLCON26</a:t>
            </a:r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14375F45-140E-6472-9751-23B25F855B0D}"/>
              </a:ext>
            </a:extLst>
          </p:cNvPr>
          <p:cNvSpPr/>
          <p:nvPr userDrawn="1"/>
        </p:nvSpPr>
        <p:spPr>
          <a:xfrm flipH="1">
            <a:off x="0" y="9489362"/>
            <a:ext cx="182880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7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3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mailto:joey@joeydantoni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5.xml"/><Relationship Id="rId3" Type="http://schemas.openxmlformats.org/officeDocument/2006/relationships/diagramLayout" Target="../diagrams/layout14.xml"/><Relationship Id="rId7" Type="http://schemas.openxmlformats.org/officeDocument/2006/relationships/image" Target="../media/image48.jpeg"/><Relationship Id="rId12" Type="http://schemas.microsoft.com/office/2007/relationships/diagramDrawing" Target="../diagrams/drawing15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11" Type="http://schemas.openxmlformats.org/officeDocument/2006/relationships/diagramColors" Target="../diagrams/colors15.xml"/><Relationship Id="rId5" Type="http://schemas.openxmlformats.org/officeDocument/2006/relationships/diagramColors" Target="../diagrams/colors14.xml"/><Relationship Id="rId10" Type="http://schemas.openxmlformats.org/officeDocument/2006/relationships/diagramQuickStyle" Target="../diagrams/quickStyle15.xml"/><Relationship Id="rId4" Type="http://schemas.openxmlformats.org/officeDocument/2006/relationships/diagramQuickStyle" Target="../diagrams/quickStyle14.xml"/><Relationship Id="rId9" Type="http://schemas.openxmlformats.org/officeDocument/2006/relationships/diagramLayout" Target="../diagrams/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825D69-2D40-2541-0F5C-FF65F153B9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/>
          <a:lstStyle/>
          <a:p>
            <a:r>
              <a:rPr lang="en-US" i="1" dirty="0"/>
              <a:t>Building the Well-Architected Framework for Microsoft Fabric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D126F2D-8730-89A0-276A-4E21B555B1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/>
              <a:t>Joey D’Antoni</a:t>
            </a:r>
          </a:p>
          <a:p>
            <a:r>
              <a:rPr lang="en-US" sz="3200" dirty="0" err="1"/>
              <a:t>Joeydantoni.com</a:t>
            </a:r>
            <a:endParaRPr lang="en-US" sz="3200" dirty="0"/>
          </a:p>
          <a:p>
            <a:r>
              <a:rPr lang="en-US" sz="3200" dirty="0">
                <a:hlinkClick r:id="rId2"/>
              </a:rPr>
              <a:t>joey@joeydantoni.com</a:t>
            </a:r>
            <a:r>
              <a:rPr lang="en-US" dirty="0"/>
              <a:t>	</a:t>
            </a:r>
          </a:p>
        </p:txBody>
      </p:sp>
      <p:pic>
        <p:nvPicPr>
          <p:cNvPr id="3" name="Picture Placeholder 2" descr="A person in a black turtleneck&#10;&#10;AI-generated content may be incorrect.">
            <a:extLst>
              <a:ext uri="{FF2B5EF4-FFF2-40B4-BE49-F238E27FC236}">
                <a16:creationId xmlns:a16="http://schemas.microsoft.com/office/drawing/2014/main" id="{DC8B2418-77B5-F7D9-F5E6-E87445EE8FE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01" b="188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07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A279B2-3089-A564-B9D3-D74D71C75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Downloads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80F3D-1015-48AC-742B-9863076B1555}"/>
              </a:ext>
            </a:extLst>
          </p:cNvPr>
          <p:cNvSpPr txBox="1"/>
          <p:nvPr/>
        </p:nvSpPr>
        <p:spPr>
          <a:xfrm>
            <a:off x="1257300" y="2738437"/>
            <a:ext cx="7772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1371600">
              <a:lnSpc>
                <a:spcPct val="90000"/>
              </a:lnSpc>
              <a:spcBef>
                <a:spcPts val="1500"/>
              </a:spcBef>
            </a:pPr>
            <a:r>
              <a:rPr lang="en-US" sz="7200" b="1" dirty="0" err="1"/>
              <a:t>bit.ly</a:t>
            </a:r>
            <a:r>
              <a:rPr lang="en-US" sz="7200" b="1" dirty="0"/>
              <a:t>/</a:t>
            </a:r>
            <a:r>
              <a:rPr lang="en-US" sz="7200" b="1" dirty="0" err="1"/>
              <a:t>FabricWAF</a:t>
            </a:r>
            <a:endParaRPr lang="en-US" sz="7200" b="1" dirty="0"/>
          </a:p>
          <a:p>
            <a:pPr defTabSz="1371600">
              <a:lnSpc>
                <a:spcPct val="90000"/>
              </a:lnSpc>
              <a:spcBef>
                <a:spcPts val="1500"/>
              </a:spcBef>
            </a:pPr>
            <a:endParaRPr lang="en-US" sz="7200" b="1" dirty="0"/>
          </a:p>
          <a:p>
            <a:pPr defTabSz="1371600">
              <a:lnSpc>
                <a:spcPct val="90000"/>
              </a:lnSpc>
              <a:spcBef>
                <a:spcPts val="1500"/>
              </a:spcBef>
            </a:pPr>
            <a:r>
              <a:rPr lang="en-US" sz="4800" b="1" dirty="0"/>
              <a:t>(also </a:t>
            </a:r>
            <a:r>
              <a:rPr lang="en-US" sz="4800" b="1" dirty="0" err="1"/>
              <a:t>github.com</a:t>
            </a:r>
            <a:r>
              <a:rPr lang="en-US" sz="4800" b="1" dirty="0"/>
              <a:t>/</a:t>
            </a:r>
            <a:r>
              <a:rPr lang="en-US" sz="4800" b="1" dirty="0" err="1"/>
              <a:t>jdanton</a:t>
            </a:r>
            <a:r>
              <a:rPr lang="en-US" sz="4800" b="1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767D56-70A4-2B10-C859-D427F5CB1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58" y="2738437"/>
            <a:ext cx="6684284" cy="65270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04262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25D3F-9ED3-602A-38D6-127ABEFF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>
                <a:effectLst/>
              </a:rPr>
              <a:t>Why This Talk?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79F84-C661-F3BE-6070-30D6480830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Azure WAF is mature — Fabric is still the Wild West</a:t>
            </a:r>
          </a:p>
          <a:p>
            <a:r>
              <a:rPr lang="en-US" dirty="0"/>
              <a:t>Fabric collapses compute, storage, and services into a single platform — different architectural thinking required</a:t>
            </a:r>
          </a:p>
          <a:p>
            <a:r>
              <a:rPr lang="en-US" dirty="0"/>
              <a:t>Governance patterns that work in Azure don't translate 1:1</a:t>
            </a:r>
          </a:p>
          <a:p>
            <a:endParaRPr lang="en-US" dirty="0"/>
          </a:p>
        </p:txBody>
      </p:sp>
      <p:pic>
        <p:nvPicPr>
          <p:cNvPr id="5" name="Picture 4" descr="Blue checked fabric">
            <a:extLst>
              <a:ext uri="{FF2B5EF4-FFF2-40B4-BE49-F238E27FC236}">
                <a16:creationId xmlns:a16="http://schemas.microsoft.com/office/drawing/2014/main" id="{6AB519DE-FC36-A80D-F087-0319DEC7CE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9" r="15305" b="1"/>
          <a:stretch>
            <a:fillRect/>
          </a:stretch>
        </p:blipFill>
        <p:spPr>
          <a:xfrm>
            <a:off x="9220200" y="2738438"/>
            <a:ext cx="7810500" cy="6527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19040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270A97-3D32-0ACC-E85C-B313CAD8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Couple of Things to Note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1F524-F566-BD2B-4D73-2D1C0631E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738437"/>
            <a:ext cx="7886700" cy="6527007"/>
          </a:xfrm>
        </p:spPr>
        <p:txBody>
          <a:bodyPr/>
          <a:lstStyle/>
          <a:p>
            <a:r>
              <a:rPr lang="en-US" dirty="0"/>
              <a:t>Don’t let perfect be the enemy of good. </a:t>
            </a:r>
          </a:p>
          <a:p>
            <a:r>
              <a:rPr lang="en-US" dirty="0"/>
              <a:t>Getting to ”good” will be hard enough.</a:t>
            </a:r>
          </a:p>
          <a:p>
            <a:r>
              <a:rPr lang="en-US" dirty="0"/>
              <a:t>If you are coming from administrating/engineering similar systems you will get frustrated.</a:t>
            </a:r>
          </a:p>
          <a:p>
            <a:r>
              <a:rPr lang="en-US" dirty="0"/>
              <a:t>Balance security and controls with user productivity</a:t>
            </a:r>
          </a:p>
        </p:txBody>
      </p:sp>
      <p:pic>
        <p:nvPicPr>
          <p:cNvPr id="10" name="Picture 9" descr="Serenity Now : r/MechanicalKeyboards">
            <a:extLst>
              <a:ext uri="{FF2B5EF4-FFF2-40B4-BE49-F238E27FC236}">
                <a16:creationId xmlns:a16="http://schemas.microsoft.com/office/drawing/2014/main" id="{FCD7B20D-21A9-7BDD-789F-A8FFF2C33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536033"/>
            <a:ext cx="8749338" cy="652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54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93FA-A618-7124-DC8F-2D7AA3215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 this Your Fabric </a:t>
            </a:r>
            <a:br>
              <a:rPr lang="en-US" dirty="0"/>
            </a:br>
            <a:r>
              <a:rPr lang="en-US" dirty="0"/>
              <a:t>Environment?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7017E-1415-1459-F059-A2B2297FEC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54" b="27841"/>
          <a:stretch>
            <a:fillRect/>
          </a:stretch>
        </p:blipFill>
        <p:spPr>
          <a:xfrm>
            <a:off x="1257300" y="2738438"/>
            <a:ext cx="7810500" cy="6527800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EEA4DF-E270-832E-3680-77F327780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5692" y="340522"/>
            <a:ext cx="4827850" cy="892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38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CB2267A-A71B-FB02-7DE0-07BE3539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 dirty="0"/>
              <a:t> Azure Well-Architected Framework (WAF) Refresher: The Five Pillars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D73906-FE5A-B03B-70F4-A8DF15A507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900" b="1" dirty="0"/>
              <a:t>Operational Excellence</a:t>
            </a:r>
          </a:p>
          <a:p>
            <a:r>
              <a:rPr lang="en-US" sz="2900" b="1" dirty="0"/>
              <a:t>Security</a:t>
            </a:r>
          </a:p>
          <a:p>
            <a:r>
              <a:rPr lang="en-US" sz="2900" b="1" dirty="0"/>
              <a:t>Reliability</a:t>
            </a:r>
          </a:p>
          <a:p>
            <a:r>
              <a:rPr lang="en-US" sz="2900" b="1" dirty="0"/>
              <a:t>Cost Optimization</a:t>
            </a:r>
          </a:p>
          <a:p>
            <a:r>
              <a:rPr lang="en-US" sz="2900" b="1" dirty="0"/>
              <a:t>Performance Efficiency</a:t>
            </a:r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sz="2900" dirty="0"/>
              <a:t>Brief reminder of how these apply in Azure </a:t>
            </a:r>
          </a:p>
          <a:p>
            <a:pPr lvl="1"/>
            <a:r>
              <a:rPr lang="en-US" sz="2900" dirty="0"/>
              <a:t>Resource groups</a:t>
            </a:r>
          </a:p>
          <a:p>
            <a:pPr lvl="1"/>
            <a:r>
              <a:rPr lang="en-US" sz="2900" dirty="0"/>
              <a:t>Management Groups</a:t>
            </a:r>
          </a:p>
          <a:p>
            <a:pPr lvl="1"/>
            <a:r>
              <a:rPr lang="en-US" sz="2900" dirty="0"/>
              <a:t>Subscriptions</a:t>
            </a:r>
          </a:p>
          <a:p>
            <a:pPr lvl="1"/>
            <a:r>
              <a:rPr lang="en-US" sz="2900" dirty="0"/>
              <a:t>Azure Policy</a:t>
            </a:r>
          </a:p>
          <a:p>
            <a:pPr lvl="1"/>
            <a:r>
              <a:rPr lang="en-US" sz="2900" dirty="0"/>
              <a:t>Role-based access control (RBAC)</a:t>
            </a:r>
          </a:p>
        </p:txBody>
      </p:sp>
      <p:pic>
        <p:nvPicPr>
          <p:cNvPr id="8" name="Picture 7" descr="Angled shot of pen on a graph">
            <a:extLst>
              <a:ext uri="{FF2B5EF4-FFF2-40B4-BE49-F238E27FC236}">
                <a16:creationId xmlns:a16="http://schemas.microsoft.com/office/drawing/2014/main" id="{889D155F-8F28-C274-90EE-3EE26DB304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515" b="1"/>
          <a:stretch>
            <a:fillRect/>
          </a:stretch>
        </p:blipFill>
        <p:spPr>
          <a:xfrm>
            <a:off x="9258300" y="2738437"/>
            <a:ext cx="7772400" cy="65270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730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C4FC64-D609-558C-272B-3B541F6E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61" y="622332"/>
            <a:ext cx="15773400" cy="1988345"/>
          </a:xfrm>
        </p:spPr>
        <p:txBody>
          <a:bodyPr>
            <a:normAutofit/>
          </a:bodyPr>
          <a:lstStyle/>
          <a:p>
            <a:r>
              <a:rPr lang="en-US" sz="4400" dirty="0"/>
              <a:t>Key Differences </a:t>
            </a:r>
            <a:br>
              <a:rPr lang="en-US" sz="4400" dirty="0"/>
            </a:br>
            <a:r>
              <a:rPr lang="en-US" sz="4400" dirty="0"/>
              <a:t>Between Fabric and Azure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A1A41-B5E7-ABA7-610F-0D5B9F8C8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542" y="0"/>
            <a:ext cx="11320458" cy="9480884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2D2DBF-0664-A552-5BCF-1A04012F4391}"/>
              </a:ext>
            </a:extLst>
          </p:cNvPr>
          <p:cNvSpPr txBox="1"/>
          <p:nvPr/>
        </p:nvSpPr>
        <p:spPr>
          <a:xfrm>
            <a:off x="1845129" y="5143500"/>
            <a:ext cx="3022943" cy="11079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6600" dirty="0">
                <a:solidFill>
                  <a:srgbClr val="FF0000"/>
                </a:solidFill>
              </a:rPr>
              <a:t>Preview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F43222-5BA6-843B-DD9B-7AC780CE1A05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4868072" y="5697498"/>
            <a:ext cx="6447628" cy="507359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C61E09-232A-208B-7F28-401490429D4F}"/>
              </a:ext>
            </a:extLst>
          </p:cNvPr>
          <p:cNvCxnSpPr/>
          <p:nvPr/>
        </p:nvCxnSpPr>
        <p:spPr>
          <a:xfrm>
            <a:off x="11054443" y="5697498"/>
            <a:ext cx="7511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246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E274C8-DD91-5B64-0038-189057472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 dirty="0"/>
              <a:t>Pillar 1: Operational Excellence</a:t>
            </a:r>
            <a:br>
              <a:rPr lang="en-US" b="1" dirty="0"/>
            </a:br>
            <a:endParaRPr lang="en-US" dirty="0"/>
          </a:p>
        </p:txBody>
      </p:sp>
      <p:pic>
        <p:nvPicPr>
          <p:cNvPr id="2" name="Picture 1" descr="Drew Brees named SI 'Sportsman of the Year.' Who else could have been  picked? - CSMonitor.com">
            <a:extLst>
              <a:ext uri="{FF2B5EF4-FFF2-40B4-BE49-F238E27FC236}">
                <a16:creationId xmlns:a16="http://schemas.microsoft.com/office/drawing/2014/main" id="{322F1ECE-4591-2C09-471D-96AEF2F8F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38009"/>
          <a:stretch>
            <a:fillRect/>
          </a:stretch>
        </p:blipFill>
        <p:spPr>
          <a:xfrm>
            <a:off x="1257300" y="2738437"/>
            <a:ext cx="15773400" cy="65270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14284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D3C8-DB8E-21E5-0543-32DC5F777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Capacity as the New Subscription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33F333-BE08-DCE9-2A65-E042381C28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7942857"/>
              </p:ext>
            </p:extLst>
          </p:nvPr>
        </p:nvGraphicFramePr>
        <p:xfrm>
          <a:off x="1257300" y="2738438"/>
          <a:ext cx="15773400" cy="652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9458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DF201-FC7E-C3A8-45E7-44FB1252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Capacity Segmentation Matters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62B1E-D82E-390B-2C12-EAF5C86C72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isolation: a runaway Spark job in Dev shouldn't throttle Prod dashboards</a:t>
            </a:r>
          </a:p>
          <a:p>
            <a:r>
              <a:rPr lang="en-US" dirty="0"/>
              <a:t>Cost attribution: chargeback/</a:t>
            </a:r>
            <a:r>
              <a:rPr lang="en-US" dirty="0" err="1"/>
              <a:t>showback</a:t>
            </a:r>
            <a:r>
              <a:rPr lang="en-US" dirty="0"/>
              <a:t> per business unit becomes possible</a:t>
            </a:r>
          </a:p>
          <a:p>
            <a:r>
              <a:rPr lang="en-US" dirty="0"/>
              <a:t>Governance boundary: permissions and workspace assignment scoped per capacity</a:t>
            </a:r>
          </a:p>
          <a:p>
            <a:endParaRPr lang="en-US" dirty="0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EE086925-AF9D-AEC1-B299-2A83049C2A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4" r="18721" b="1"/>
          <a:stretch>
            <a:fillRect/>
          </a:stretch>
        </p:blipFill>
        <p:spPr>
          <a:xfrm>
            <a:off x="9220200" y="2738438"/>
            <a:ext cx="7810500" cy="6527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54727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E3516-419D-AE8C-80DC-DC8097EDF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Naming Conventions</a:t>
            </a:r>
            <a:endParaRPr lang="en-US" dirty="0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FA5793F7-58AF-1BE2-34C1-06965A8A8E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954311"/>
              </p:ext>
            </p:extLst>
          </p:nvPr>
        </p:nvGraphicFramePr>
        <p:xfrm>
          <a:off x="1257300" y="2738438"/>
          <a:ext cx="15773400" cy="652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62D11F4-34F5-F536-397B-38CD773412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67824" y="955675"/>
            <a:ext cx="3238500" cy="3162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3EF3A9-9F99-E0CD-9D73-5F379D201749}"/>
              </a:ext>
            </a:extLst>
          </p:cNvPr>
          <p:cNvSpPr txBox="1"/>
          <p:nvPr/>
        </p:nvSpPr>
        <p:spPr>
          <a:xfrm>
            <a:off x="9400674" y="1138989"/>
            <a:ext cx="3336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bit.ly</a:t>
            </a:r>
            <a:r>
              <a:rPr lang="en-US" sz="3200" b="1" dirty="0"/>
              <a:t>/</a:t>
            </a:r>
            <a:r>
              <a:rPr lang="en-US" sz="3200" b="1" dirty="0" err="1"/>
              <a:t>FabricWAF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9945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332E-38C5-04AB-421D-6C525BE41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991" y="361507"/>
            <a:ext cx="15587330" cy="1306285"/>
          </a:xfrm>
        </p:spPr>
        <p:txBody>
          <a:bodyPr anchor="b">
            <a:noAutofit/>
          </a:bodyPr>
          <a:lstStyle/>
          <a:p>
            <a:r>
              <a:rPr lang="en-US" sz="5400" dirty="0"/>
              <a:t>Tagging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864F0E-BA54-3D24-0F34-FCDE7EA214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333539"/>
              </p:ext>
            </p:extLst>
          </p:nvPr>
        </p:nvGraphicFramePr>
        <p:xfrm>
          <a:off x="1588302" y="1859570"/>
          <a:ext cx="14663899" cy="7310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0402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51E1B9-DFBD-0836-8F36-D2AFE914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Code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4685780-F74D-6E25-69A8-97092954C0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8046913"/>
              </p:ext>
            </p:extLst>
          </p:nvPr>
        </p:nvGraphicFramePr>
        <p:xfrm>
          <a:off x="1257300" y="2738438"/>
          <a:ext cx="15773400" cy="652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2401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87C322-794B-90C2-212D-9A81751D2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/>
              <a:t>The Governance Gap: No Azure Policy for Fabric</a:t>
            </a:r>
            <a:br>
              <a:rPr lang="en-US" sz="3400"/>
            </a:br>
            <a:br>
              <a:rPr lang="en-US" sz="3400"/>
            </a:br>
            <a:br>
              <a:rPr lang="en-US" sz="3400"/>
            </a:br>
            <a:endParaRPr lang="en-US" sz="340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00FD2B5-7704-00FD-7AC7-CFBEF53346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br>
              <a:rPr lang="en-US"/>
            </a:br>
            <a:r>
              <a:rPr lang="en-US"/>
              <a:t>Azure Policy can't enforce rules inside Fabric workspaces today</a:t>
            </a:r>
          </a:p>
          <a:p>
            <a:r>
              <a:rPr lang="en-US"/>
              <a:t>No built-in guardrails for workspace creation, </a:t>
            </a:r>
            <a:r>
              <a:rPr lang="en-US" err="1"/>
              <a:t>lakehouse</a:t>
            </a:r>
            <a:r>
              <a:rPr lang="en-US"/>
              <a:t> proliferation, or configuration drift</a:t>
            </a:r>
          </a:p>
          <a:p>
            <a:r>
              <a:rPr lang="en-US"/>
              <a:t>Mitigations: Fabric REST APIs + automation, admin monitoring APIs, and organizational process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6407B5-A1FB-7B88-5D58-2FD4B79B1D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66" r="14130" b="-2"/>
          <a:stretch>
            <a:fillRect/>
          </a:stretch>
        </p:blipFill>
        <p:spPr>
          <a:xfrm>
            <a:off x="1257300" y="2738438"/>
            <a:ext cx="7810500" cy="652780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F2609F-BAC6-8E5F-200A-1E857EB50459}"/>
              </a:ext>
            </a:extLst>
          </p:cNvPr>
          <p:cNvSpPr txBox="1"/>
          <p:nvPr/>
        </p:nvSpPr>
        <p:spPr>
          <a:xfrm>
            <a:off x="10954139" y="2202024"/>
            <a:ext cx="55797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Update: There is policy. Let’s do a demo.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59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CE7C7D-A7D1-3247-F136-0B85138A2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Pillar 2: Security</a:t>
            </a:r>
          </a:p>
        </p:txBody>
      </p:sp>
      <p:pic>
        <p:nvPicPr>
          <p:cNvPr id="8" name="Picture 7" descr="Stone pillars">
            <a:extLst>
              <a:ext uri="{FF2B5EF4-FFF2-40B4-BE49-F238E27FC236}">
                <a16:creationId xmlns:a16="http://schemas.microsoft.com/office/drawing/2014/main" id="{D89F0810-DC49-AE2D-6507-3609F6D44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54" r="1" b="23421"/>
          <a:stretch>
            <a:fillRect/>
          </a:stretch>
        </p:blipFill>
        <p:spPr>
          <a:xfrm>
            <a:off x="1257300" y="2738438"/>
            <a:ext cx="15773400" cy="6527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7397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7F0D-78D0-68A8-2059-427B11954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RBAC: The Fabric Reality Check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76071-F25F-5585-B820-7BD4EA111A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Azure has hundreds of granular built-in roles — Fabric has a handful (Admin, Member, Contributor, Viewer)</a:t>
            </a:r>
          </a:p>
          <a:p>
            <a:r>
              <a:rPr lang="en-US" dirty="0"/>
              <a:t>Workspace-level RBAC is coarse; item-level permissions are limited and inconsistent across item types</a:t>
            </a:r>
          </a:p>
          <a:p>
            <a:r>
              <a:rPr lang="en-US" dirty="0"/>
              <a:t>Plan for this: use workspace segmentation as a proxy for fine-grained access control</a:t>
            </a:r>
          </a:p>
          <a:p>
            <a:endParaRPr lang="en-US" dirty="0"/>
          </a:p>
        </p:txBody>
      </p:sp>
      <p:pic>
        <p:nvPicPr>
          <p:cNvPr id="7" name="Picture 6" descr="A row of brown band-aids">
            <a:extLst>
              <a:ext uri="{FF2B5EF4-FFF2-40B4-BE49-F238E27FC236}">
                <a16:creationId xmlns:a16="http://schemas.microsoft.com/office/drawing/2014/main" id="{B93D0AA1-DF4D-D5A9-4180-6FFF5BECCA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49" r="3986" b="1"/>
          <a:stretch>
            <a:fillRect/>
          </a:stretch>
        </p:blipFill>
        <p:spPr>
          <a:xfrm>
            <a:off x="1257300" y="2738438"/>
            <a:ext cx="7810500" cy="652780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8C7EE7-6E25-9DAA-9957-0ED4E39C9FDC}"/>
              </a:ext>
            </a:extLst>
          </p:cNvPr>
          <p:cNvSpPr txBox="1"/>
          <p:nvPr/>
        </p:nvSpPr>
        <p:spPr>
          <a:xfrm>
            <a:off x="10026316" y="2525137"/>
            <a:ext cx="787667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b="1" dirty="0"/>
              <a:t>No permission inheritance </a:t>
            </a:r>
            <a:r>
              <a:rPr lang="en-US" sz="2400" dirty="0"/>
              <a:t>— each workspace is a silo; no assign-once-flow-down model</a:t>
            </a:r>
          </a:p>
          <a:p>
            <a:r>
              <a:rPr lang="en-US" sz="2400" b="1" dirty="0"/>
              <a:t>Only 4 roles, no custom roles </a:t>
            </a:r>
            <a:r>
              <a:rPr lang="en-US" sz="2400" dirty="0"/>
              <a:t>— can't separate "pipeline operator" from "</a:t>
            </a:r>
            <a:r>
              <a:rPr lang="en-US" sz="2400" dirty="0" err="1"/>
              <a:t>lakehouse</a:t>
            </a:r>
            <a:r>
              <a:rPr lang="en-US" sz="2400" dirty="0"/>
              <a:t> editor"</a:t>
            </a:r>
          </a:p>
          <a:p>
            <a:r>
              <a:rPr lang="en-US" sz="2400" b="1" dirty="0"/>
              <a:t>Contributor+ bypasses data security </a:t>
            </a:r>
            <a:r>
              <a:rPr lang="en-US" sz="2400" dirty="0"/>
              <a:t>— OneLake RLS/CLS only constrains Viewers</a:t>
            </a:r>
          </a:p>
          <a:p>
            <a:r>
              <a:rPr lang="en-US" sz="2400" b="1" dirty="0"/>
              <a:t>OneLake security gaps </a:t>
            </a:r>
            <a:r>
              <a:rPr lang="en-US" sz="2400" dirty="0"/>
              <a:t>— RLS is static, limited to Delta tables, engine-dependent</a:t>
            </a:r>
          </a:p>
          <a:p>
            <a:r>
              <a:rPr lang="en-US" sz="2400" b="1" dirty="0"/>
              <a:t>No deny assignments </a:t>
            </a:r>
            <a:r>
              <a:rPr lang="en-US" sz="2400" dirty="0"/>
              <a:t>— can't explicitly block access granted by a group</a:t>
            </a:r>
          </a:p>
          <a:p>
            <a:r>
              <a:rPr lang="en-US" sz="2400" b="1" dirty="0"/>
              <a:t>No built-in access reviews </a:t>
            </a:r>
            <a:r>
              <a:rPr lang="en-US" sz="2400" dirty="0"/>
              <a:t>— permission sprawl is invisible without custom tooling</a:t>
            </a:r>
          </a:p>
          <a:p>
            <a:r>
              <a:rPr lang="en-US" sz="2400" b="1" dirty="0"/>
              <a:t>No ABAC or PIM </a:t>
            </a:r>
            <a:r>
              <a:rPr lang="en-US" sz="2400" dirty="0"/>
              <a:t>— no attribute-based conditions, no just-in-time elevation</a:t>
            </a:r>
          </a:p>
          <a:p>
            <a:r>
              <a:rPr lang="en-US" sz="2400" b="1" dirty="0"/>
              <a:t>No dynamic RLS </a:t>
            </a:r>
            <a:r>
              <a:rPr lang="en-US" sz="2400" dirty="0"/>
              <a:t>— can't resolve user attributes at query time for row filtering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1001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B55128-C163-4E9F-70B9-FAE1FA9E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b="1" dirty="0"/>
              <a:t>Identity and Access Patterns</a:t>
            </a:r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5DFA64A8-8894-A2D7-5910-E99D55216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7217192"/>
              </p:ext>
            </p:extLst>
          </p:nvPr>
        </p:nvGraphicFramePr>
        <p:xfrm>
          <a:off x="7775575" y="1481138"/>
          <a:ext cx="9258300" cy="7310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48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C3BBAE-BDB0-2776-B300-63160009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877075"/>
          </a:xfrm>
        </p:spPr>
        <p:txBody>
          <a:bodyPr>
            <a:normAutofit/>
          </a:bodyPr>
          <a:lstStyle/>
          <a:p>
            <a:r>
              <a:rPr lang="en-US" b="1" dirty="0"/>
              <a:t>Private Networking &amp; Data Exfiltration</a:t>
            </a:r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50221B25-6DB7-52BC-72DC-51B87598DB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0263917"/>
              </p:ext>
            </p:extLst>
          </p:nvPr>
        </p:nvGraphicFramePr>
        <p:xfrm>
          <a:off x="1105786" y="1871330"/>
          <a:ext cx="15924914" cy="7394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0309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7A7F-91FC-18A2-6E89-4C743B887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005" y="26589"/>
            <a:ext cx="15773400" cy="1988345"/>
          </a:xfrm>
        </p:spPr>
        <p:txBody>
          <a:bodyPr/>
          <a:lstStyle/>
          <a:p>
            <a:r>
              <a:rPr lang="en-US" b="1" dirty="0"/>
              <a:t> Audit &amp; Compliance Shortfalls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F762ADF-7FCD-2916-E55C-662B940231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175507"/>
              </p:ext>
            </p:extLst>
          </p:nvPr>
        </p:nvGraphicFramePr>
        <p:xfrm>
          <a:off x="1257300" y="1701209"/>
          <a:ext cx="15773400" cy="7565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8354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64443-2773-D8D9-DF91-19620161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0310"/>
            <a:ext cx="15773400" cy="1988345"/>
          </a:xfrm>
        </p:spPr>
        <p:txBody>
          <a:bodyPr anchor="ctr">
            <a:normAutofit/>
          </a:bodyPr>
          <a:lstStyle/>
          <a:p>
            <a:r>
              <a:rPr lang="en-US" dirty="0"/>
              <a:t>Security Recommendations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7FB6276-B247-A88C-7880-3E8011D839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674231"/>
              </p:ext>
            </p:extLst>
          </p:nvPr>
        </p:nvGraphicFramePr>
        <p:xfrm>
          <a:off x="1257300" y="2385510"/>
          <a:ext cx="15773400" cy="6527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170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120F32-DA22-45F3-392B-BB6BA9D5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Pillar 3: Reliability</a:t>
            </a:r>
          </a:p>
        </p:txBody>
      </p:sp>
      <p:pic>
        <p:nvPicPr>
          <p:cNvPr id="7" name="Picture 6" descr="A row of white marble pillars">
            <a:extLst>
              <a:ext uri="{FF2B5EF4-FFF2-40B4-BE49-F238E27FC236}">
                <a16:creationId xmlns:a16="http://schemas.microsoft.com/office/drawing/2014/main" id="{BE189D59-CABC-1D87-6129-272E4870A1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867" r="1" b="23049"/>
          <a:stretch>
            <a:fillRect/>
          </a:stretch>
        </p:blipFill>
        <p:spPr>
          <a:xfrm>
            <a:off x="1257300" y="2738438"/>
            <a:ext cx="15773400" cy="6527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8195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63A42-C65B-AC01-9339-65679EE91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Capacity Reliability Considerations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E222A0-A7AE-CDBB-32A4-B3D69F3CC8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7995550"/>
              </p:ext>
            </p:extLst>
          </p:nvPr>
        </p:nvGraphicFramePr>
        <p:xfrm>
          <a:off x="1257300" y="2738438"/>
          <a:ext cx="15773400" cy="652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5403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72160-C015-3080-87C8-55B3E0CE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Disaster Recovery &amp; Business Continuity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D4E2A4-D5CD-9DE3-6E18-616ACED0B7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079238"/>
              </p:ext>
            </p:extLst>
          </p:nvPr>
        </p:nvGraphicFramePr>
        <p:xfrm>
          <a:off x="1257300" y="2738438"/>
          <a:ext cx="15773400" cy="652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2800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9136BA-1A02-80A5-3D63-02AC8933C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Pillar 4: Cost Optimization</a:t>
            </a:r>
          </a:p>
        </p:txBody>
      </p:sp>
      <p:pic>
        <p:nvPicPr>
          <p:cNvPr id="7" name="Picture 6" descr="Different numbers in 3D">
            <a:extLst>
              <a:ext uri="{FF2B5EF4-FFF2-40B4-BE49-F238E27FC236}">
                <a16:creationId xmlns:a16="http://schemas.microsoft.com/office/drawing/2014/main" id="{2D568159-3936-2D19-0AEA-07BB5292D7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60" r="1" b="18968"/>
          <a:stretch>
            <a:fillRect/>
          </a:stretch>
        </p:blipFill>
        <p:spPr>
          <a:xfrm>
            <a:off x="1257300" y="2738438"/>
            <a:ext cx="15773400" cy="6527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0565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5535E-EF48-A1C9-9DD8-EBDCAF5A8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Understanding the Fabric Cost Model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3FD5B8-76C1-FF8F-E206-D003D22C8B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442272"/>
              </p:ext>
            </p:extLst>
          </p:nvPr>
        </p:nvGraphicFramePr>
        <p:xfrm>
          <a:off x="1257300" y="2738438"/>
          <a:ext cx="15773400" cy="652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3696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1933-687C-7FE9-A6E5-EF848C56E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Cost Controls &amp; Automation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51C937-768A-9CEB-ADB3-20DC132880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9540245"/>
              </p:ext>
            </p:extLst>
          </p:nvPr>
        </p:nvGraphicFramePr>
        <p:xfrm>
          <a:off x="1257300" y="2036689"/>
          <a:ext cx="15773400" cy="652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3089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4D2605-2145-34AA-BE0C-73962859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Pillar 5: Performance Efficiency</a:t>
            </a:r>
          </a:p>
        </p:txBody>
      </p:sp>
      <p:pic>
        <p:nvPicPr>
          <p:cNvPr id="7" name="Picture 6" descr="Arrows going up">
            <a:extLst>
              <a:ext uri="{FF2B5EF4-FFF2-40B4-BE49-F238E27FC236}">
                <a16:creationId xmlns:a16="http://schemas.microsoft.com/office/drawing/2014/main" id="{82FDB405-EBBC-6C65-70B5-B2C9C5E0CD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162" r="1" b="14127"/>
          <a:stretch>
            <a:fillRect/>
          </a:stretch>
        </p:blipFill>
        <p:spPr>
          <a:xfrm>
            <a:off x="1257300" y="2738438"/>
            <a:ext cx="15773400" cy="6527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02835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1A4A0-99FB-C557-077E-65D3B2BF1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39730"/>
            <a:ext cx="15773400" cy="1988345"/>
          </a:xfrm>
        </p:spPr>
        <p:txBody>
          <a:bodyPr>
            <a:normAutofit/>
          </a:bodyPr>
          <a:lstStyle/>
          <a:p>
            <a:r>
              <a:rPr lang="en-US" b="1" dirty="0"/>
              <a:t>Workload Isolation = Performance Predictability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F4E811-DB71-0EB4-C064-889874231CD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28460340"/>
              </p:ext>
            </p:extLst>
          </p:nvPr>
        </p:nvGraphicFramePr>
        <p:xfrm>
          <a:off x="628649" y="2228075"/>
          <a:ext cx="17030701" cy="652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9336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1775-E6F8-CA07-35A2-2321FD8CA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Lakehouse &amp; Warehouse Design Patterns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4CE5516-F667-A882-E0A7-0CF974C8619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29173660"/>
              </p:ext>
            </p:extLst>
          </p:nvPr>
        </p:nvGraphicFramePr>
        <p:xfrm>
          <a:off x="1257300" y="2738438"/>
          <a:ext cx="7810500" cy="652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bstract architecture">
            <a:extLst>
              <a:ext uri="{FF2B5EF4-FFF2-40B4-BE49-F238E27FC236}">
                <a16:creationId xmlns:a16="http://schemas.microsoft.com/office/drawing/2014/main" id="{C671CC3A-1687-FA4D-E9E0-39104C5ECEA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493" r="13539" b="2"/>
          <a:stretch>
            <a:fillRect/>
          </a:stretch>
        </p:blipFill>
        <p:spPr>
          <a:xfrm>
            <a:off x="1257300" y="2738438"/>
            <a:ext cx="7810500" cy="6527800"/>
          </a:xfrm>
          <a:prstGeom prst="rect">
            <a:avLst/>
          </a:prstGeom>
          <a:noFill/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6B32C72-F202-2C86-6474-C4C622405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1606125"/>
              </p:ext>
            </p:extLst>
          </p:nvPr>
        </p:nvGraphicFramePr>
        <p:xfrm>
          <a:off x="9914021" y="2738438"/>
          <a:ext cx="7650080" cy="6247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023860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C329EA9-51E9-D039-7E0A-1DEDFBA2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Bringing It All Together</a:t>
            </a:r>
          </a:p>
        </p:txBody>
      </p:sp>
      <p:pic>
        <p:nvPicPr>
          <p:cNvPr id="8" name="Picture 7" descr="Hands holding each other's wrists and interlinked to form a circle">
            <a:extLst>
              <a:ext uri="{FF2B5EF4-FFF2-40B4-BE49-F238E27FC236}">
                <a16:creationId xmlns:a16="http://schemas.microsoft.com/office/drawing/2014/main" id="{B0280B4E-DF7B-D5F3-FA4B-1FAAB702E3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56" r="1" b="34045"/>
          <a:stretch>
            <a:fillRect/>
          </a:stretch>
        </p:blipFill>
        <p:spPr>
          <a:xfrm>
            <a:off x="1257300" y="2738438"/>
            <a:ext cx="15773400" cy="6527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375874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188F5F7-AEE8-0CDF-0C3F-43DDACBED2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4522" y="133684"/>
            <a:ext cx="16478956" cy="926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78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0084-83BF-236C-AA20-944E5419A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b="1" dirty="0"/>
              <a:t>What's Missing and What's Coming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D7FC4A-8B45-B3D3-8A29-8C462B11A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5057921"/>
              </p:ext>
            </p:extLst>
          </p:nvPr>
        </p:nvGraphicFramePr>
        <p:xfrm>
          <a:off x="7775575" y="1481138"/>
          <a:ext cx="9258300" cy="7310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27996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5F6D53-D0C8-F2C3-68FC-3A7A9345B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Takeaways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F9584FF0-4B00-1EE5-03A9-FB18664F3D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8804022"/>
              </p:ext>
            </p:extLst>
          </p:nvPr>
        </p:nvGraphicFramePr>
        <p:xfrm>
          <a:off x="1257300" y="2738438"/>
          <a:ext cx="15773400" cy="652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0029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EA40CC93-5E0F-0948-1809-0D6EA422E8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31" y="15"/>
            <a:ext cx="18287969" cy="10286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DD8A5F-BCB5-2D2A-6F64-B2FA6651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6152"/>
            <a:ext cx="11700990" cy="2281481"/>
          </a:xfrm>
        </p:spPr>
        <p:txBody>
          <a:bodyPr vert="horz" lIns="137160" tIns="68580" rIns="137160" bIns="6858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159138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89266-BF1F-5990-AC08-A45A4D5D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DECCD0-738A-FE43-EB4E-24A54374E3F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4024" y="1024801"/>
            <a:ext cx="154083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>
                <a:solidFill>
                  <a:srgbClr val="1D6050"/>
                </a:solidFill>
              </a:rPr>
              <a:t>Sound off. </a:t>
            </a:r>
          </a:p>
          <a:p>
            <a:r>
              <a:rPr lang="en-US" sz="6000">
                <a:solidFill>
                  <a:srgbClr val="1D6050"/>
                </a:solidFill>
              </a:rPr>
              <a:t>The mic is all yours.</a:t>
            </a:r>
          </a:p>
          <a:p>
            <a:r>
              <a:rPr lang="en-US" sz="6000">
                <a:solidFill>
                  <a:srgbClr val="1D6050"/>
                </a:solidFill>
              </a:rPr>
              <a:t>Influence the product roadmap.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A764E-0F2D-F62F-ACC8-032702569A8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2036" y="5023626"/>
            <a:ext cx="83729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1D6050"/>
                </a:solidFill>
              </a:rPr>
              <a:t>Join the Fabric User Panel </a:t>
            </a:r>
          </a:p>
          <a:p>
            <a:endParaRPr lang="en-US" sz="3600">
              <a:solidFill>
                <a:srgbClr val="1D6050"/>
              </a:solidFill>
            </a:endParaRPr>
          </a:p>
          <a:p>
            <a:r>
              <a:rPr lang="en-GB" sz="3600">
                <a:solidFill>
                  <a:srgbClr val="1D6050"/>
                </a:solidFill>
              </a:rPr>
              <a:t>Share your feedback directly with our Fabric product group and researchers. </a:t>
            </a:r>
          </a:p>
          <a:p>
            <a:endParaRPr lang="en-GB" sz="3600">
              <a:solidFill>
                <a:srgbClr val="1D6050"/>
              </a:solidFill>
            </a:endParaRPr>
          </a:p>
          <a:p>
            <a:r>
              <a:rPr lang="en-GB" sz="3600">
                <a:solidFill>
                  <a:srgbClr val="1D6050"/>
                </a:solidFill>
              </a:rPr>
              <a:t>https://aka.ms/JoinFabricUserPanel</a:t>
            </a:r>
            <a:endParaRPr lang="en-US" sz="3600">
              <a:solidFill>
                <a:srgbClr val="1D6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C83484-247F-38C8-9D9C-F5ED851247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144001" y="4875995"/>
            <a:ext cx="81067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3600">
                <a:solidFill>
                  <a:srgbClr val="0070C0"/>
                </a:solidFill>
                <a:cs typeface="Segoe UI Semibold"/>
              </a:rPr>
              <a:t>Join the SQL User Panel</a:t>
            </a:r>
          </a:p>
          <a:p>
            <a:pPr lvl="0">
              <a:defRPr/>
            </a:pPr>
            <a:endParaRPr lang="en-GB" sz="3600">
              <a:solidFill>
                <a:srgbClr val="0070C0"/>
              </a:solidFill>
              <a:cs typeface="Segoe UI Semibold"/>
            </a:endParaRPr>
          </a:p>
          <a:p>
            <a:pPr lvl="0">
              <a:defRPr/>
            </a:pPr>
            <a:r>
              <a:rPr lang="en-GB" sz="3600">
                <a:solidFill>
                  <a:srgbClr val="0070C0"/>
                </a:solidFill>
                <a:cs typeface="Segoe UI Semibold"/>
              </a:rPr>
              <a:t>Influence our SQL roadmap and ensure it meets your real-life needs</a:t>
            </a:r>
          </a:p>
          <a:p>
            <a:pPr lvl="0" algn="ctr">
              <a:defRPr/>
            </a:pPr>
            <a:endParaRPr lang="en-GB" sz="3600">
              <a:solidFill>
                <a:srgbClr val="0070C0"/>
              </a:solidFill>
              <a:cs typeface="Segoe UI Semibold" panose="020B0702040204020203" pitchFamily="34" charset="0"/>
            </a:endParaRPr>
          </a:p>
          <a:p>
            <a:pPr lvl="0">
              <a:defRPr/>
            </a:pPr>
            <a:r>
              <a:rPr lang="en-GB" sz="3600">
                <a:solidFill>
                  <a:srgbClr val="0070C0"/>
                </a:solidFill>
                <a:cs typeface="Segoe UI Semibold"/>
              </a:rPr>
              <a:t>https://aka.ms/JoinSQLUserPanel </a:t>
            </a:r>
            <a:endParaRPr lang="en-US" sz="3600">
              <a:solidFill>
                <a:srgbClr val="0070C0"/>
              </a:solidFill>
              <a:cs typeface="Segoe UI Semibold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25A97-E9B2-7D86-F655-E9A70E296EDB}"/>
              </a:ext>
            </a:extLst>
          </p:cNvPr>
          <p:cNvSpPr txBox="1"/>
          <p:nvPr/>
        </p:nvSpPr>
        <p:spPr>
          <a:xfrm>
            <a:off x="9580728" y="6960358"/>
            <a:ext cx="406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C10392-5936-9761-C9EC-6AB045FAA5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2337" y="3739949"/>
            <a:ext cx="2909073" cy="29090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BEE0B4-0133-3419-9723-8DC5B138D5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54" y="4244453"/>
            <a:ext cx="1723887" cy="172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309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4666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71B24-36FF-B3A9-2B82-7F7918556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3F4ADD-D8B1-4BF8-F938-2FE403EA7F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4024" y="535907"/>
            <a:ext cx="154083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>
                <a:solidFill>
                  <a:schemeClr val="bg1"/>
                </a:solidFill>
              </a:rPr>
              <a:t>Sound off. </a:t>
            </a:r>
          </a:p>
          <a:p>
            <a:r>
              <a:rPr lang="en-US" sz="6000">
                <a:solidFill>
                  <a:schemeClr val="bg1"/>
                </a:solidFill>
              </a:rPr>
              <a:t>The mic is all yours.</a:t>
            </a:r>
          </a:p>
          <a:p>
            <a:r>
              <a:rPr lang="en-US" sz="6000">
                <a:solidFill>
                  <a:schemeClr val="bg1"/>
                </a:solidFill>
              </a:rPr>
              <a:t>Influence the product roadmap.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307227-FE5D-A7AC-3759-18EDB6955C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324" y="4260793"/>
            <a:ext cx="1707548" cy="17075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938E10-EAF2-4AF1-1603-1A98539E7C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2337" y="3506625"/>
            <a:ext cx="3142397" cy="31423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6D4CF6-DB08-C62C-942F-1EF6E5E7B6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2036" y="4875995"/>
            <a:ext cx="83729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C0ECDD"/>
                </a:solidFill>
              </a:rPr>
              <a:t>Join the Fabric User Panel </a:t>
            </a:r>
          </a:p>
          <a:p>
            <a:endParaRPr lang="en-US" sz="3600">
              <a:solidFill>
                <a:srgbClr val="C0ECDD"/>
              </a:solidFill>
            </a:endParaRPr>
          </a:p>
          <a:p>
            <a:r>
              <a:rPr lang="en-GB" sz="3600">
                <a:solidFill>
                  <a:srgbClr val="C0ECDD"/>
                </a:solidFill>
              </a:rPr>
              <a:t>Share your feedback directly with our Fabric product group and researchers. </a:t>
            </a:r>
          </a:p>
          <a:p>
            <a:endParaRPr lang="en-GB" sz="3600">
              <a:solidFill>
                <a:srgbClr val="C0ECDD"/>
              </a:solidFill>
            </a:endParaRPr>
          </a:p>
          <a:p>
            <a:r>
              <a:rPr lang="en-GB" sz="3600">
                <a:solidFill>
                  <a:srgbClr val="C0ECDD"/>
                </a:solidFill>
              </a:rPr>
              <a:t>https://aka.ms/JoinFabricUserPanel</a:t>
            </a:r>
            <a:endParaRPr lang="en-US" sz="3600">
              <a:solidFill>
                <a:srgbClr val="C0ECD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3A2AD-585D-B13E-ECC3-3552787CDEB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144001" y="4875995"/>
            <a:ext cx="81067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3600">
                <a:solidFill>
                  <a:srgbClr val="EBF3FB"/>
                </a:solidFill>
                <a:cs typeface="Segoe UI Semibold"/>
              </a:rPr>
              <a:t>Join the SQL User Panel</a:t>
            </a:r>
          </a:p>
          <a:p>
            <a:pPr lvl="0">
              <a:defRPr/>
            </a:pPr>
            <a:endParaRPr lang="en-GB" sz="3600">
              <a:solidFill>
                <a:srgbClr val="EBF3FB"/>
              </a:solidFill>
              <a:cs typeface="Segoe UI Semibold"/>
            </a:endParaRPr>
          </a:p>
          <a:p>
            <a:pPr lvl="0">
              <a:defRPr/>
            </a:pPr>
            <a:r>
              <a:rPr lang="en-GB" sz="3600">
                <a:solidFill>
                  <a:srgbClr val="EBF3FB"/>
                </a:solidFill>
                <a:cs typeface="Segoe UI Semibold"/>
              </a:rPr>
              <a:t>Influence our SQL roadmap and ensure it meets your real-life needs</a:t>
            </a:r>
          </a:p>
          <a:p>
            <a:pPr lvl="0">
              <a:defRPr/>
            </a:pPr>
            <a:endParaRPr lang="en-GB" sz="3600">
              <a:solidFill>
                <a:srgbClr val="EBF3FB"/>
              </a:solidFill>
              <a:cs typeface="Segoe UI Semibold" panose="020B0702040204020203" pitchFamily="34" charset="0"/>
            </a:endParaRPr>
          </a:p>
          <a:p>
            <a:pPr lvl="0">
              <a:defRPr/>
            </a:pPr>
            <a:r>
              <a:rPr lang="en-GB" sz="3600">
                <a:solidFill>
                  <a:srgbClr val="EBF3FB"/>
                </a:solidFill>
                <a:cs typeface="Segoe UI Semibold"/>
              </a:rPr>
              <a:t>https://aka.ms/JoinSQLUserPanel</a:t>
            </a:r>
            <a:endParaRPr lang="en-US" sz="3600">
              <a:solidFill>
                <a:srgbClr val="EBF3FB"/>
              </a:solidFill>
              <a:cs typeface="Segoe UI Semibold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981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933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597329"/>
      </p:ext>
    </p:extLst>
  </p:cSld>
  <p:clrMapOvr>
    <a:masterClrMapping/>
  </p:clrMapOvr>
</p:sld>
</file>

<file path=ppt/theme/theme1.xml><?xml version="1.0" encoding="utf-8"?>
<a:theme xmlns:a="http://schemas.openxmlformats.org/drawingml/2006/main" name="FABCON SQLCON 202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BCON " id="{AF055E3C-FC98-9E41-BD14-B0A0C99E9E3F}" vid="{5AE33E19-F4BC-1D4B-94DA-6040A5FD252A}"/>
    </a:ext>
  </a:ext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0271A2C01A214481CDDEBCA7A6B353" ma:contentTypeVersion="3" ma:contentTypeDescription="Create a new document." ma:contentTypeScope="" ma:versionID="2ad0d9d5f680e51fa4d3ef15c4ac4dfb">
  <xsd:schema xmlns:xsd="http://www.w3.org/2001/XMLSchema" xmlns:xs="http://www.w3.org/2001/XMLSchema" xmlns:p="http://schemas.microsoft.com/office/2006/metadata/properties" xmlns:ns2="24e4fed7-6be7-4265-b47d-80c0b18342ea" targetNamespace="http://schemas.microsoft.com/office/2006/metadata/properties" ma:root="true" ma:fieldsID="abce3f49e0b3df3935955e796ac4f255" ns2:_="">
    <xsd:import namespace="24e4fed7-6be7-4265-b47d-80c0b18342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e4fed7-6be7-4265-b47d-80c0b18342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303CB1-F4DC-40CF-8CCA-E36D19F93D16}">
  <ds:schemaRefs>
    <ds:schemaRef ds:uri="24e4fed7-6be7-4265-b47d-80c0b18342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ADDC2E3-ECCB-431E-9B37-EC041D81B3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81B2A8-F4EB-407B-BAC7-15F6BB880C67}">
  <ds:schemaRefs>
    <ds:schemaRef ds:uri="24e4fed7-6be7-4265-b47d-80c0b18342e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FABCON </Template>
  <TotalTime>2721</TotalTime>
  <Words>1649</Words>
  <Application>Microsoft Macintosh PowerPoint</Application>
  <PresentationFormat>Custom</PresentationFormat>
  <Paragraphs>171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Montserrat Bold</vt:lpstr>
      <vt:lpstr>Arial</vt:lpstr>
      <vt:lpstr>Aptos Display</vt:lpstr>
      <vt:lpstr>Segoe UI Semibold</vt:lpstr>
      <vt:lpstr>Calibri</vt:lpstr>
      <vt:lpstr>Wingdings</vt:lpstr>
      <vt:lpstr>Montserrat</vt:lpstr>
      <vt:lpstr>FABCON SQLCON 2026</vt:lpstr>
      <vt:lpstr>3_Custom Design</vt:lpstr>
      <vt:lpstr>2_Custom Design</vt:lpstr>
      <vt:lpstr>Building the Well-Architected Framework for Microsoft Fabric</vt:lpstr>
      <vt:lpstr>Downloads</vt:lpstr>
      <vt:lpstr>Why This Talk?</vt:lpstr>
      <vt:lpstr>A Couple of Things to Note</vt:lpstr>
      <vt:lpstr>Is this Your Fabric  Environment? </vt:lpstr>
      <vt:lpstr> Azure Well-Architected Framework (WAF) Refresher: The Five Pillars</vt:lpstr>
      <vt:lpstr>Key Differences  Between Fabric and Azure</vt:lpstr>
      <vt:lpstr>Pillar 1: Operational Excellence </vt:lpstr>
      <vt:lpstr>Capacity as the New Subscription</vt:lpstr>
      <vt:lpstr>Why Capacity Segmentation Matters</vt:lpstr>
      <vt:lpstr>Naming Conventions</vt:lpstr>
      <vt:lpstr>Tagging</vt:lpstr>
      <vt:lpstr>Deploying Code</vt:lpstr>
      <vt:lpstr>The Governance Gap: No Azure Policy for Fabric   </vt:lpstr>
      <vt:lpstr>Pillar 2: Security</vt:lpstr>
      <vt:lpstr>RBAC: The Fabric Reality Check</vt:lpstr>
      <vt:lpstr>Identity and Access Patterns</vt:lpstr>
      <vt:lpstr>Private Networking &amp; Data Exfiltration</vt:lpstr>
      <vt:lpstr> Audit &amp; Compliance Shortfalls</vt:lpstr>
      <vt:lpstr>Security Recommendations</vt:lpstr>
      <vt:lpstr>Pillar 3: Reliability</vt:lpstr>
      <vt:lpstr> Capacity Reliability Considerations</vt:lpstr>
      <vt:lpstr> Disaster Recovery &amp; Business Continuity</vt:lpstr>
      <vt:lpstr>Pillar 4: Cost Optimization</vt:lpstr>
      <vt:lpstr>Understanding the Fabric Cost Model</vt:lpstr>
      <vt:lpstr> Cost Controls &amp; Automation</vt:lpstr>
      <vt:lpstr>Pillar 5: Performance Efficiency</vt:lpstr>
      <vt:lpstr>Workload Isolation = Performance Predictability</vt:lpstr>
      <vt:lpstr>Lakehouse &amp; Warehouse Design Patterns</vt:lpstr>
      <vt:lpstr>Bringing It All Together</vt:lpstr>
      <vt:lpstr>PowerPoint Presentation</vt:lpstr>
      <vt:lpstr>What's Missing and What's Coming</vt:lpstr>
      <vt:lpstr>Key Takeaways</vt:lpstr>
      <vt:lpstr>Q&amp;A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Kylie Parker</dc:creator>
  <cp:lastModifiedBy>Joey D'Antoni</cp:lastModifiedBy>
  <cp:revision>15</cp:revision>
  <dcterms:created xsi:type="dcterms:W3CDTF">2026-01-20T20:49:40Z</dcterms:created>
  <dcterms:modified xsi:type="dcterms:W3CDTF">2026-10-10T12:38:41Z</dcterms:modified>
  <dc:identifier>DAG--3bY3Fk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0x0101002C0271A2C01A214481CDDEBCA7A6B353</vt:lpwstr>
  </property>
</Properties>
</file>